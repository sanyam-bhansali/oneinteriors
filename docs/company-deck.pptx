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544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544E"/>
                </a:solidFill>
                <a:latin typeface="Arial"/>
              </a:rPr>
              <a:t>Projects closed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closed</c:v>
                </c:pt>
              </c:strCache>
            </c:strRef>
          </c:tx>
          <c:spPr>
            <a:solidFill>
              <a:srgbClr val="1A60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B847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16</c:v>
                </c:pt>
                <c:pt idx="4">
                  <c:v>23</c:v>
                </c:pt>
                <c:pt idx="5">
                  <c:v>30</c:v>
                </c:pt>
                <c:pt idx="6">
                  <c:v>42</c:v>
                </c:pt>
                <c:pt idx="7">
                  <c:v>52</c:v>
                </c:pt>
                <c:pt idx="8">
                  <c:v>66</c:v>
                </c:pt>
                <c:pt idx="9">
                  <c:v>78</c:v>
                </c:pt>
                <c:pt idx="10">
                  <c:v>96</c:v>
                </c:pt>
                <c:pt idx="11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B847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4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4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544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544E"/>
                </a:solidFill>
                <a:latin typeface="Arial"/>
              </a:rPr>
              <a:t>Gross revenue by line, ₹ crore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</c:v>
                </c:pt>
              </c:strCache>
            </c:strRef>
          </c:tx>
          <c:spPr>
            <a:solidFill>
              <a:srgbClr val="1A60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3.53</c:v>
                </c:pt>
                <c:pt idx="1">
                  <c:v>14.24</c:v>
                </c:pt>
                <c:pt idx="2">
                  <c:v>26.78</c:v>
                </c:pt>
                <c:pt idx="3">
                  <c:v>44.63</c:v>
                </c:pt>
                <c:pt idx="4">
                  <c:v>70.13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3E8E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0.84</c:v>
                </c:pt>
                <c:pt idx="1">
                  <c:v>3.49</c:v>
                </c:pt>
                <c:pt idx="2">
                  <c:v>11.81</c:v>
                </c:pt>
                <c:pt idx="3">
                  <c:v>16.54</c:v>
                </c:pt>
                <c:pt idx="4">
                  <c:v>23.63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Escrow</c:v>
                </c:pt>
              </c:strCache>
            </c:strRef>
          </c:tx>
          <c:spPr>
            <a:solidFill>
              <a:srgbClr val="BC64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2.81</c:v>
                </c:pt>
                <c:pt idx="2">
                  <c:v>5.62</c:v>
                </c:pt>
                <c:pt idx="3">
                  <c:v>9.37</c:v>
                </c:pt>
                <c:pt idx="4">
                  <c:v>14.73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CRM</c:v>
                </c:pt>
              </c:strCache>
            </c:strRef>
          </c:tx>
          <c:spPr>
            <a:solidFill>
              <a:srgbClr val="6E7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0.6</c:v>
                </c:pt>
                <c:pt idx="3">
                  <c:v>2.4</c:v>
                </c:pt>
                <c:pt idx="4">
                  <c:v>4.8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Product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8.4</c:v>
                </c:pt>
                <c:pt idx="3">
                  <c:v>14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84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4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4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sentence, not the numbers. Certainty, not taste.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cards out. Then land the line about execution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that the money is not being raised to build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moat slide. Everything else in the plan is replicable; the delivery data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to their own ad spend is the number that closes a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headline, then go to the month-by-month table for anyone who wants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four is the one to point at — the first month with two revenue lines running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two is where the model stops being a Pune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 is the argument. Without it the new streams read as a distraction.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prep pack is the unfair advantage here — we hold the demand signal before anyone else sees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totals row is the only comparison anyone will make. Let it sit for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shape: commission dominant throughout, which means the marketplace stays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each. This slide is about headroom, not about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Short. It exists so the cap table that follows reads as earned rather than 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Straightforward. Let the next slide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everyone came for. Take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date. It is the only thing in the deck that happens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Interiors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Certainty, not taste.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interior-design marketplace for Pune. Verified studios, a real price before anyone meets, and a neutral expert on the call — built, tested and ready to open.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 ·  September 2026  ·  ₹30 lakh at ₹1 crore post-money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not finding a designer.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Pune homeowner can find forty studios in an afternoon. What they cannot do is tell which one will still be answering the phone in month four.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7614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C6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Quotes that grew 40%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4564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contract was signed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260604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2736" y="27614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C6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months late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34564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committed handover 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260604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27614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C6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Laminate delivered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4564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veneer was quoted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24544" y="260604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25712" y="27614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C6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Advances not refunded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34564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job was abandoned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execution failures, not matching failures.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₹7–27 lakh a project — the largest discretionary purchase most Indian households make after the flat itself.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decade, irreversible, and the buyer has no basis for judging quality.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sell certainty. Every feature follows from that one sentence.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today — brief to introduction, with nothing left to a phone call that a page can do better.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questions,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three minutes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9736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2616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42616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42616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studios with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in words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9392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622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from each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studio’s own rates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81928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side, plus 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for the spouse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18704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01584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01584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moodboard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they wait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38360" y="228600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1240" y="2468880"/>
            <a:ext cx="384048" cy="384048"/>
          </a:xfrm>
          <a:prstGeom prst="ellipse">
            <a:avLst/>
          </a:prstGeom>
          <a:solidFill>
            <a:srgbClr val="1A606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9212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97180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call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3328416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route to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572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tables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row-level security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on every one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364992" y="4572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 tests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3364992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Passing. Money and matching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are unit-tested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089904" y="4572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6089904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Mumbai,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launch date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814816" y="4572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+ ops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8814816" y="5230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consoles built 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customer side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4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subscription buys volume.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buys position.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briefs a studio is shown for is something they pay us to increase. Where they appear inside a customer’s results comes from fit alone, and no amount of money moves it. That is the whole differentiation, and it is enforced in the code rather than in a policy.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46177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paid placement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50109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sponsored slots, no featured cards, no promoted results anywhere in the product.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44348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46177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published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50109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checks per studio, each with a date and a source. A dated checklist, not a badge.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8432" y="44348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46177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nobody can buy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501091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variance on every completed project — who finished on time, and by how much. It compounds from project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rupee comes from.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 by year five. Two live from day one, and three added as the roster grows.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every closed project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22860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723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07238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 / ₹50k / ₹1L a month per studio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0723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month 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5876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5876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1.75% customer-side on project value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385876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45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software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64515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 price, sold on and off the roster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464515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31536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3153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supply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543153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on product sold through the roster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54315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does not compare our fee to zero. It compares it to what a booked project costs through its own advertising today — and at target the blended rate lands between 5.7% and 6.0%.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pilot studios, subscriptions from month four, one city. Growth comes from the ramp per studio.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4028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24688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₹4.36 Cr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127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₹3.53 Cr fees · ₹83.8 L subs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24688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9784080" y="3127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closed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₹70.51 Cr of work placed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931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₹12.75 L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590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project value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 / 25 tier mix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3931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 L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9784080" y="4590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month-twelve run rate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projects that month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in Indian lakh and crore, gross of GST.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one, month by month.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in lakh. Three months of pilot at one project per studio, then the ramp.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365760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418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58223" y="1828800"/>
            <a:ext cx="1309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67278" y="1828800"/>
            <a:ext cx="1418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studio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785421" y="1828800"/>
            <a:ext cx="1418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03564" y="1828800"/>
            <a:ext cx="1745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48971" y="1828800"/>
            <a:ext cx="1745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94377" y="1828800"/>
            <a:ext cx="1854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212848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1284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pilot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058223" y="2212848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367278" y="221284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85421" y="221284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03564" y="221284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₹6.4 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48971" y="221284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94377" y="2212848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514600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51460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pilot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058223" y="2514600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67278" y="251460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85421" y="251460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03564" y="251460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₹6.4 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48971" y="251460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4377" y="2514600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2816352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81635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pilot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058223" y="2816352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367278" y="281635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85421" y="281635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03564" y="2816352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₹6.4 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948971" y="2816352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94377" y="2816352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118104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11810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058223" y="3118104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367278" y="311810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785421" y="311810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03564" y="3118104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₹10.2 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948971" y="3118104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694377" y="3118104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₹16.1 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3419856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341985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2058223" y="3419856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367278" y="341985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785421" y="341985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203564" y="3419856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₹14.7 L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948971" y="3419856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 L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694377" y="3419856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₹21.0 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3721608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372160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058223" y="3721608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367278" y="372160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785421" y="372160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203564" y="372160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₹19.1 L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948971" y="372160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 L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9694377" y="3721608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₹25.8 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" y="4023360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0080" y="402336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2058223" y="4023360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367278" y="402336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4785421" y="402336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203564" y="402336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₹26.8 L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7948971" y="402336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 L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9694377" y="4023360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₹34.4 L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40080" y="4325112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0080" y="432511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2058223" y="4325112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3367278" y="432511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85421" y="4325112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6203564" y="4325112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₹33.2 L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7948971" y="4325112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₹9.0 L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9694377" y="4325112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₹41.1 L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40080" y="4626864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40080" y="462686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2058223" y="4626864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3367278" y="462686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785421" y="4626864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203564" y="4626864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₹42.1 L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7948971" y="4626864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₹10.1 L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9694377" y="4626864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₹50.9 L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40080" y="4928616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40080" y="492861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2058223" y="4928616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3367278" y="492861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4785421" y="4928616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6203564" y="4928616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₹49.7 L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7948971" y="4928616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₹10.7 L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9694377" y="4928616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₹58.9 L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40080" y="5230368"/>
            <a:ext cx="10908792" cy="301752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523036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4" name="Text 92"/>
          <p:cNvSpPr txBox="1"/>
          <p:nvPr/>
        </p:nvSpPr>
        <p:spPr>
          <a:xfrm>
            <a:off x="2058223" y="5230368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3367278" y="523036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4785421" y="5230368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6203564" y="523036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₹61.2 L</a:t>
            </a:r>
            <a:endParaRPr lang="en-US" sz="1100" dirty="0"/>
          </a:p>
        </p:txBody>
      </p:sp>
      <p:sp>
        <p:nvSpPr>
          <p:cNvPr id="98" name="Text 96"/>
          <p:cNvSpPr txBox="1"/>
          <p:nvPr/>
        </p:nvSpPr>
        <p:spPr>
          <a:xfrm>
            <a:off x="7948971" y="5230368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₹11.8 L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9694377" y="5230368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₹71.1 L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0080" y="5532120"/>
            <a:ext cx="1090879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40080" y="553212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2" name="Text 100"/>
          <p:cNvSpPr txBox="1"/>
          <p:nvPr/>
        </p:nvSpPr>
        <p:spPr>
          <a:xfrm>
            <a:off x="2058223" y="5532120"/>
            <a:ext cx="13090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03" name="Text 101"/>
          <p:cNvSpPr txBox="1"/>
          <p:nvPr/>
        </p:nvSpPr>
        <p:spPr>
          <a:xfrm>
            <a:off x="3367278" y="553212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4785421" y="5532120"/>
            <a:ext cx="141814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105" name="Text 103"/>
          <p:cNvSpPr txBox="1"/>
          <p:nvPr/>
        </p:nvSpPr>
        <p:spPr>
          <a:xfrm>
            <a:off x="6203564" y="553212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₹76.5 L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7948971" y="5532120"/>
            <a:ext cx="17454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₹13.5 L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9694377" y="5532120"/>
            <a:ext cx="1854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₹87.6 L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0080" y="5888736"/>
            <a:ext cx="10908792" cy="384048"/>
          </a:xfrm>
          <a:prstGeom prst="rect">
            <a:avLst/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40080" y="5888736"/>
            <a:ext cx="14181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</a:t>
            </a:r>
            <a:endParaRPr lang="en-US" sz="1150" dirty="0"/>
          </a:p>
        </p:txBody>
      </p:sp>
      <p:sp>
        <p:nvSpPr>
          <p:cNvPr id="110" name="Text 108"/>
          <p:cNvSpPr txBox="1"/>
          <p:nvPr/>
        </p:nvSpPr>
        <p:spPr>
          <a:xfrm>
            <a:off x="2058223" y="5888736"/>
            <a:ext cx="1309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50" dirty="0"/>
          </a:p>
        </p:txBody>
      </p:sp>
      <p:sp>
        <p:nvSpPr>
          <p:cNvPr id="111" name="Text 109"/>
          <p:cNvSpPr txBox="1"/>
          <p:nvPr/>
        </p:nvSpPr>
        <p:spPr>
          <a:xfrm>
            <a:off x="3367278" y="5888736"/>
            <a:ext cx="14181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50" dirty="0"/>
          </a:p>
        </p:txBody>
      </p:sp>
      <p:sp>
        <p:nvSpPr>
          <p:cNvPr id="112" name="Text 110"/>
          <p:cNvSpPr txBox="1"/>
          <p:nvPr/>
        </p:nvSpPr>
        <p:spPr>
          <a:xfrm>
            <a:off x="4785421" y="5888736"/>
            <a:ext cx="14181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</a:t>
            </a:r>
            <a:endParaRPr lang="en-US" sz="1150" dirty="0"/>
          </a:p>
        </p:txBody>
      </p:sp>
      <p:sp>
        <p:nvSpPr>
          <p:cNvPr id="113" name="Text 111"/>
          <p:cNvSpPr txBox="1"/>
          <p:nvPr/>
        </p:nvSpPr>
        <p:spPr>
          <a:xfrm>
            <a:off x="6203564" y="5888736"/>
            <a:ext cx="1745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₹3.53 Cr</a:t>
            </a:r>
            <a:endParaRPr lang="en-US" sz="1150" dirty="0"/>
          </a:p>
        </p:txBody>
      </p:sp>
      <p:sp>
        <p:nvSpPr>
          <p:cNvPr id="114" name="Text 112"/>
          <p:cNvSpPr txBox="1"/>
          <p:nvPr/>
        </p:nvSpPr>
        <p:spPr>
          <a:xfrm>
            <a:off x="7948971" y="5888736"/>
            <a:ext cx="1745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₹83.8 L</a:t>
            </a:r>
            <a:endParaRPr lang="en-US" sz="1150" dirty="0"/>
          </a:p>
        </p:txBody>
      </p:sp>
      <p:sp>
        <p:nvSpPr>
          <p:cNvPr id="115" name="Text 113"/>
          <p:cNvSpPr txBox="1"/>
          <p:nvPr/>
        </p:nvSpPr>
        <p:spPr>
          <a:xfrm>
            <a:off x="9694377" y="5888736"/>
            <a:ext cx="1854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₹4.25 Cr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two: the second city.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runs toward its cap. Each new city repeats the same three-month pilot, then compounds.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₹20.54 Cr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44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across three cities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2,233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944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₹284.71 Cr placed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₹14.24 Cr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944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commission, the largest 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9443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live by the end of the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EEF3F0"/>
          </a:solidFill>
          <a:ln w="12700">
            <a:solidFill>
              <a:srgbClr val="C9D6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E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playbook repeats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55371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city-agnostic. Launching a new city is an ops hire and three months of verification before revenue — a known, repeatable cost with a known, repeatable return.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 two the model is proven in one city and running in three.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0488" y="393192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1A6068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asset starts paying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55371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year two we hold delivery variance on 2,233 completed projects — who finished on time, who did not, and by how much.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cannot be bought from a vendor or copied in a weekend, and it is what the two new revenue streams are built on top of.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4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 studios a city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ceiling worth having.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 is capped by design — a city holds about fifty studios worth verifying, and the scarcity is what makes the product worth anything. A roster anyone can join is a directory, and a directory is worth nothing.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growth past year two is more cities, or more revenue per studio. The two new streams are the second — and both are sold to people we already speak to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358384" cy="1417320"/>
          </a:xfrm>
          <a:prstGeom prst="roundRect">
            <a:avLst>
              <a:gd name="adj" fmla="val 5161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software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55961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to studios on AND off the roster. No cap — a studio does not have to be good enough to verify in order to buy software.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0488" y="5029200"/>
            <a:ext cx="5358384" cy="1417320"/>
          </a:xfrm>
          <a:prstGeom prst="roundRect">
            <a:avLst>
              <a:gd name="adj" fmla="val 5161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supply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55961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on product sold through studios we already have a relationship with. The factory route Hauspire brings.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new businesses, from the same relationships.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in year three, and both are built on software and supply we already have.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358384" cy="3657600"/>
          </a:xfrm>
          <a:prstGeom prst="roundRect">
            <a:avLst>
              <a:gd name="adj" fmla="val 2000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450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software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  ·  ₹5,000 a month  =  ₹60 lakh a year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375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planned — the studio dashboard, quotation engine and calendar already exist and are in use.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to the several thousand studios a curated roster will never admit.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rejection becomes a smaller sale rather than a dead end.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margin on top of a marketplace margin, from one conversation.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0488" y="2240280"/>
            <a:ext cx="5358384" cy="3657600"/>
          </a:xfrm>
          <a:prstGeom prst="roundRect">
            <a:avLst>
              <a:gd name="adj" fmla="val 2000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450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supply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lakh of product a project  ·  20% to us  =  ₹20,000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33375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buys shutters, hardware, lighting and furnishing.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project, the budget and the moodboard before the studio is even introduced.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Hauspire’s factory is the first supply route, and the relationship already exists.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 Cr in year three, on a fifth of projects taking 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years.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crore, by revenue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5272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67311" y="1828800"/>
            <a:ext cx="9817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49102" y="1828800"/>
            <a:ext cx="1090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239981" y="1828800"/>
            <a:ext cx="11999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39948" y="1828800"/>
            <a:ext cx="14181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91" y="1828800"/>
            <a:ext cx="11999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58059" y="1828800"/>
            <a:ext cx="1090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8938" y="1828800"/>
            <a:ext cx="1090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239817" y="1828800"/>
            <a:ext cx="1309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231136"/>
            <a:ext cx="10908792" cy="475488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231136"/>
            <a:ext cx="1527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167311" y="2231136"/>
            <a:ext cx="9817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149102" y="2231136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39981" y="2231136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39948" y="2231136"/>
            <a:ext cx="14181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91" y="2231136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58059" y="2231136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48938" y="2231136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239817" y="2231136"/>
            <a:ext cx="130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2706624"/>
            <a:ext cx="10908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706624"/>
            <a:ext cx="1527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167311" y="2706624"/>
            <a:ext cx="9817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149102" y="2706624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239981" y="2706624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2,233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39948" y="2706624"/>
            <a:ext cx="14181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₹14.24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858091" y="2706624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₹3.49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58059" y="2706624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₹2.81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148938" y="2706624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239817" y="2706624"/>
            <a:ext cx="130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3182112"/>
            <a:ext cx="10908792" cy="475488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182112"/>
            <a:ext cx="1527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167311" y="3182112"/>
            <a:ext cx="9817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149102" y="3182112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239981" y="3182112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39948" y="3182112"/>
            <a:ext cx="14181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₹26.78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91" y="3182112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₹11.81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058059" y="3182112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₹5.62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48938" y="3182112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0239817" y="3182112"/>
            <a:ext cx="130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3657600"/>
            <a:ext cx="10908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3657600"/>
            <a:ext cx="1527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2167311" y="3657600"/>
            <a:ext cx="9817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3149102" y="3657600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4239981" y="3657600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5439948" y="3657600"/>
            <a:ext cx="14181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₹44.63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858091" y="3657600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₹16.54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058059" y="3657600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₹9.37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9148938" y="3657600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0239817" y="3657600"/>
            <a:ext cx="130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₹14.00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40080" y="4133088"/>
            <a:ext cx="10908792" cy="475488"/>
          </a:xfrm>
          <a:prstGeom prst="rect">
            <a:avLst/>
          </a:prstGeom>
          <a:solidFill>
            <a:srgbClr val="FCFBF9"/>
          </a:solidFill>
          <a:ln w="12700">
            <a:solidFill>
              <a:srgbClr val="FCFBF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4133088"/>
            <a:ext cx="1527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2167311" y="4133088"/>
            <a:ext cx="9817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3149102" y="4133088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4239981" y="4133088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5439948" y="4133088"/>
            <a:ext cx="14181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₹70.13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6858091" y="4133088"/>
            <a:ext cx="11999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₹23.63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8058059" y="4133088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₹14.73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9148938" y="4133088"/>
            <a:ext cx="1090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₹4.80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10239817" y="4133088"/>
            <a:ext cx="13090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₹22.00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" y="4718304"/>
            <a:ext cx="10908792" cy="502920"/>
          </a:xfrm>
          <a:prstGeom prst="rect">
            <a:avLst/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4718304"/>
            <a:ext cx="32726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3912718" y="4718304"/>
            <a:ext cx="15272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₹4.37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5439948" y="4718304"/>
            <a:ext cx="15272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₹20.54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967179" y="4718304"/>
            <a:ext cx="15272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₹53.21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8494410" y="4718304"/>
            <a:ext cx="15272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₹86.94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021641" y="4718304"/>
            <a:ext cx="15272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₹135.29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at 1.75% on 60% take-up. CRM at ₹5,000 a seat. Product at ₹20,000 to us per project taking it. Gross of GST.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thing, drawn.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stays the largest line. By year five, three of the five are not marketplace fees.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₹4.4 Cr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624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Pune. Pilot, then subscriptions from month four.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₹20.5 Cr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493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cities. Escrow adds a third revenue line.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₹53.2 Cr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361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new streams start. CRM at 100 seats.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937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 ·  ₹86.9 Cr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5230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sells beyond our own roster.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5806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 ·  ₹135.3 Cr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6099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cities. Five lines, three of them not fees.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comes after.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because we already hold the relationship or the data. None of it is in the numbers above.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marketplace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87121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factory route — the long tail a studio orders every week, at platform terms.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21945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and EMI referral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7121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₹12 lakh project is financed more often than not, and we know the number before any lender does.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8432" y="21945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reports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87121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interiors actually cost, by locality and finish. The data exists as a by-product of quoting.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25196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for other cities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74573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the software to an operator who brings the ground game.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256" y="40690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25196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Verified-trades network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74573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verification applied to the contractors and vendors studios already 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28432" y="40690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425196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Post-handover service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74573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Snagging, maintenance, the second project. The relationship does not end at handover.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people, four different jobs.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here is a passenger, and nobody is doing two of these at once.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468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Yogesh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9260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29184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and the direction. Certainty over taste, volume never position, an expert call before any introduction — those three sentences are the company.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224028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2468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Sanyam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9260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29184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software, the studios, the customers, the calls. He built the entire product, and he runs the operation that turns it into a business.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224028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468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Hauspire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260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· Studio one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9184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lakh, the first rate card on the platform, 980 real quotation files that shaped the pricing engine, and the factory route.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24544" y="224028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FBF7F0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2288" y="2468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Swarupa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62288" y="29260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· Marketing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329184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lakh, and the demand side — the societies, the content, and the channels that bring the first two hundred briefs.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needs an expert and an ops person per city on top of this. That is what the reserved 10% is for.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lakh in, 30% sold, ₹70 lakh pre-money.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28600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2860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8600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the direction, the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CFBF9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5409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05409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0540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05409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studios, customers, operations. Salary from month four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82219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Hauspire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82219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2219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lakh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8221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Investor, pilot studio one, and the factory route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90288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CFBF9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5902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Swarupa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459028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59028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5902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Investor, and marketing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DC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35838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 pool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53583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8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53583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535838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experts and ops hires the plan needs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 pool is reserved, not held. Reserving it now is far cheaper than diluting everybody later.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4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of us gets out of it.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0136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Yogesh · 40%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2199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stake in a company he conceived, and the direction of what it becomes. By year two it holds delivery data on 2,233 projects that nobody can buy or copy.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90488" y="16002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80136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Sanyam · 20% + salary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22199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of the company, a salary from month four, and the operating record — a marketplace built and run from nothing in a year.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85876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Hauspire · 20%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7939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of the company for ₹20 lakh. The ₹1,00,000-a-month Luxury listing free forever — ₹12 lakh a year, more than half the cheque back in year one. Plus first access to premium clients, and first refusal on supplying product through the roster.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0488" y="36576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1A6068"/>
          </a:solidFill>
          <a:ln w="12700">
            <a:solidFill>
              <a:srgbClr val="2E7D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3858768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Swarupa · 10%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427939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tenth of the company for ₹10 lakh, and marketing owned outright — including a content position no competitor can copy without first building the pricing engine.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Sanyam’s salary starts in month four — the same month subscriptions do, so it begins when the recurring revenue that pays for it begins.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4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Built. Tested. Ready to open.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done — the funnel, the matching engine, the quotation engine, the studio dashboard and the ops console. ₹30 lakh takes it from a finished product to a working business: ten studios live, the first two hundred briefs, and the first expert hired.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₹4.36 Cr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4480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₹20.5 Cr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two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480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₹135 Cr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Waitlist opens 16 September.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Interiors</dc:title>
  <dc:subject>PptxGenJS Presentation</dc:subject>
  <dc:creator>One Interiors</dc:creator>
  <cp:lastModifiedBy>One Interiors</cp:lastModifiedBy>
  <cp:revision>1</cp:revision>
  <dcterms:created xsi:type="dcterms:W3CDTF">2026-09-13T15:16:48Z</dcterms:created>
  <dcterms:modified xsi:type="dcterms:W3CDTF">2026-09-13T15:16:48Z</dcterms:modified>
</cp:coreProperties>
</file>