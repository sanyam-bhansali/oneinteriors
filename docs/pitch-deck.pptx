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A544E"/>
                </a:solidFill>
                <a:latin typeface="Arial"/>
              </a:defRPr>
            </a:pPr>
            <a:r>
              <a:rPr sz="1300" b="0" i="0" u="none" strike="noStrike">
                <a:solidFill>
                  <a:srgbClr val="5A544E"/>
                </a:solidFill>
                <a:latin typeface="Arial"/>
              </a:rPr>
              <a:t>Projects closed per month</a:t>
            </a:r>
          </a:p>
        </c:rich>
      </c:tx>
      <c:layout/>
      <c:overlay val="0"/>
    </c:title>
    <c:autoTitleDeleted val="0"/>
    <c:plotArea>
      <c:layout/>
      <c:barChart>
        <c:barDir val="col"/>
        <c:grouping val="clustered"/>
        <c:varyColors val="0"/>
        <c:ser>
          <c:idx val="0"/>
          <c:order val="0"/>
          <c:tx>
            <c:strRef>
              <c:f>Sheet1!$B$1</c:f>
              <c:strCache>
                <c:ptCount val="1"/>
                <c:pt idx="0">
                  <c:v>Projects closed</c:v>
                </c:pt>
              </c:strCache>
            </c:strRef>
          </c:tx>
          <c:spPr>
            <a:solidFill>
              <a:srgbClr val="1A6068"/>
            </a:solidFill>
            <a:effectLst/>
          </c:spPr>
          <c:invertIfNegative val="0"/>
          <c:dLbls>
            <c:numFmt formatCode="#,##0" sourceLinked="0"/>
            <c:txPr>
              <a:bodyPr/>
              <a:lstStyle/>
              <a:p>
                <a:pPr>
                  <a:defRPr b="0" i="0" strike="noStrike" sz="900" u="none">
                    <a:solidFill>
                      <a:srgbClr val="8B847C"/>
                    </a:solidFill>
                    <a:latin typeface="Arial"/>
                  </a:defRPr>
                </a:pPr>
              </a:p>
            </c:txPr>
            <c:showLegendKey val="0"/>
            <c:showVal val="1"/>
            <c:showCatName val="0"/>
            <c:showSerName val="0"/>
            <c:showPercent val="0"/>
            <c:showBubbleSize val="0"/>
            <c:showLeaderLines val="0"/>
          </c:dLbls>
          <c:cat>
            <c:multiLvlStrRef>
              <c:f>Sheet1!$A$2:$A$13</c:f>
              <c:multiLvlStrCache>
                <c:ptCount val="12"/>
                <c:lvl>
                  <c:pt idx="0">
                    <c:v>M1</c:v>
                  </c:pt>
                  <c:pt idx="1">
                    <c:v>M2</c:v>
                  </c:pt>
                  <c:pt idx="2">
                    <c:v>M3</c:v>
                  </c:pt>
                  <c:pt idx="3">
                    <c:v>M4</c:v>
                  </c:pt>
                  <c:pt idx="4">
                    <c:v>M5</c:v>
                  </c:pt>
                  <c:pt idx="5">
                    <c:v>M6</c:v>
                  </c:pt>
                  <c:pt idx="6">
                    <c:v>M7</c:v>
                  </c:pt>
                  <c:pt idx="7">
                    <c:v>M8</c:v>
                  </c:pt>
                  <c:pt idx="8">
                    <c:v>M9</c:v>
                  </c:pt>
                  <c:pt idx="9">
                    <c:v>M10</c:v>
                  </c:pt>
                  <c:pt idx="10">
                    <c:v>M11</c:v>
                  </c:pt>
                  <c:pt idx="11">
                    <c:v>M12</c:v>
                  </c:pt>
                </c:lvl>
              </c:multiLvlStrCache>
            </c:multiLvlStrRef>
          </c:cat>
          <c:val>
            <c:numRef>
              <c:f>Sheet1!$B$2:$B$13</c:f>
              <c:numCache>
                <c:formatCode>General</c:formatCode>
                <c:ptCount val="12"/>
                <c:pt idx="0">
                  <c:v>10</c:v>
                </c:pt>
                <c:pt idx="1">
                  <c:v>10</c:v>
                </c:pt>
                <c:pt idx="2">
                  <c:v>10</c:v>
                </c:pt>
                <c:pt idx="3">
                  <c:v>16</c:v>
                </c:pt>
                <c:pt idx="4">
                  <c:v>23</c:v>
                </c:pt>
                <c:pt idx="5">
                  <c:v>30</c:v>
                </c:pt>
                <c:pt idx="6">
                  <c:v>42</c:v>
                </c:pt>
                <c:pt idx="7">
                  <c:v>52</c:v>
                </c:pt>
                <c:pt idx="8">
                  <c:v>66</c:v>
                </c:pt>
                <c:pt idx="9">
                  <c:v>78</c:v>
                </c:pt>
                <c:pt idx="10">
                  <c:v>96</c:v>
                </c:pt>
                <c:pt idx="11">
                  <c:v>120</c:v>
                </c:pt>
              </c:numCache>
            </c:numRef>
          </c:val>
        </c:ser>
        <c:dLbls>
          <c:numFmt formatCode="#,##0" sourceLinked="0"/>
          <c:txPr>
            <a:bodyPr/>
            <a:lstStyle/>
            <a:p>
              <a:pPr>
                <a:defRPr b="0" i="0" strike="noStrike" sz="900" u="none">
                  <a:solidFill>
                    <a:srgbClr val="8B847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B847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DC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847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round: 20 lakh, 1 crore post-money, 20 percent. Say the name is provisional before anyone asks — it is the one live blocker on the launch date and it is better volunteered than discovered.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complaint corpus for every competitor reads the same way. Read the four cards out. Then land the line: these are execution failures, not matching failures, which is why a prettier gallery does not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anyone find the Hauspire relationship in diligence. Say it here. The rule that protects it is real and enforced in code: studios load their own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the money is not being raised to build the product. It is being raised to find out what a customer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cost-bands point is the one that matters commercially: it is why a waitlist in September is worth joining even though quotes are six weeks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how we stop this becoming a pay-to-rank directory, this footnote is the answer, and slide 11 is the longer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hide the cannot-quote-yet point. Volunteering it is what makes the rest of the deck credible, and it is a twenty-minute fix rather than a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question: does the call not throttle growth? Answer yes, openly. It is the quality mechanism and the fee justification, and the ceiling is arithmetic we have already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Modsy raised seventy-three million dollars building the 3D planner and shut down. The cheaper insight is that calibration, not rendering, is what the customer actually needs before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“what stops this from degrading into a lead-generation business”. The answer is that the tools are built to make degradation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differentiation and it is the thing most likely to be quietly abandoned under revenue pressure. It is enforced in the build precisely so that abandoning it would take a deliberate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studio does not compare our fee to zero. It compares it to what a booked project costs through its own ads today. That is the comparison we have agency data for and competitors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headline, then go straight to the next slide. Do not let anyone sit with 4.36 crore unqualified — the credibility comes from being the one who raises the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earns the room. Nobody expects a founder to argue against their own model, and it makes every other number more believable, not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escrow turns out to be impossible, drag it to zero and the year still works — it is 14% of revenue, not the business. Say that before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140 is illustrative of the pitch, not a forecast. Channel totals are 110 to 220 briefs. Say that if anyone writes the number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 the completion number and the problem is the quiz, which is cheap. Miss the cost number and the problem is the channel, and the answer is owned demand rather than a bigger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slide slowly. The valuation is deliberately below what the model implies and the reason is stated rather than hidden — that is the whole argument. If someone pushes for a higher price, that is a good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rather than on a hockey stick. The pitch is not that this cannot fail — it is that we will know which way within a quarter, and for twenty lakh rather than two crore.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1965960"/>
            <a:ext cx="10908792"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One Interiors</a:t>
            </a:r>
            <a:endParaRPr lang="en-US" sz="5400" dirty="0"/>
          </a:p>
        </p:txBody>
      </p:sp>
      <p:sp>
        <p:nvSpPr>
          <p:cNvPr id="3" name="Text 1"/>
          <p:cNvSpPr txBox="1"/>
          <p:nvPr/>
        </p:nvSpPr>
        <p:spPr>
          <a:xfrm>
            <a:off x="640080" y="3017520"/>
            <a:ext cx="8686800" cy="548640"/>
          </a:xfrm>
          <a:prstGeom prst="rect">
            <a:avLst/>
          </a:prstGeom>
          <a:noFill/>
          <a:ln/>
        </p:spPr>
        <p:txBody>
          <a:bodyPr wrap="square" lIns="0" tIns="0" rIns="0" bIns="0" rtlCol="0" anchor="ctr"/>
          <a:lstStyle/>
          <a:p>
            <a:pPr indent="0" marL="0">
              <a:buNone/>
            </a:pPr>
            <a:r>
              <a:rPr lang="en-US" sz="2600" i="1" dirty="0">
                <a:solidFill>
                  <a:srgbClr val="C9922A"/>
                </a:solidFill>
                <a:latin typeface="Cambria" pitchFamily="34" charset="0"/>
                <a:ea typeface="Cambria" pitchFamily="34" charset="-122"/>
                <a:cs typeface="Cambria" pitchFamily="34" charset="-120"/>
              </a:rPr>
              <a:t>Certainty, not taste.</a:t>
            </a:r>
            <a:endParaRPr lang="en-US" sz="2600" dirty="0"/>
          </a:p>
        </p:txBody>
      </p:sp>
      <p:sp>
        <p:nvSpPr>
          <p:cNvPr id="4" name="Text 2"/>
          <p:cNvSpPr txBox="1"/>
          <p:nvPr/>
        </p:nvSpPr>
        <p:spPr>
          <a:xfrm>
            <a:off x="640080" y="3703320"/>
            <a:ext cx="7863840" cy="1005840"/>
          </a:xfrm>
          <a:prstGeom prst="rect">
            <a:avLst/>
          </a:prstGeom>
          <a:noFill/>
          <a:ln/>
        </p:spPr>
        <p:txBody>
          <a:bodyPr wrap="square" lIns="0" tIns="0" rIns="0" bIns="0" rtlCol="0" anchor="ctr"/>
          <a:lstStyle/>
          <a:p>
            <a:pPr indent="0" marL="0">
              <a:lnSpc>
                <a:spcPct val="130000"/>
              </a:lnSpc>
              <a:buNone/>
            </a:pPr>
            <a:r>
              <a:rPr lang="en-US" sz="1500" dirty="0">
                <a:solidFill>
                  <a:srgbClr val="CFE0E2"/>
                </a:solidFill>
                <a:latin typeface="Calibri" pitchFamily="34" charset="0"/>
                <a:ea typeface="Calibri" pitchFamily="34" charset="-122"/>
                <a:cs typeface="Calibri" pitchFamily="34" charset="-120"/>
              </a:rPr>
              <a:t>A curated interior-design marketplace for Pune. The homeowner gets a verified studio, a real price, and a neutral expert on the phone before anyone is introduced.</a:t>
            </a:r>
            <a:endParaRPr lang="en-US" sz="1500" dirty="0"/>
          </a:p>
        </p:txBody>
      </p:sp>
      <p:sp>
        <p:nvSpPr>
          <p:cNvPr id="5" name="Text 3"/>
          <p:cNvSpPr txBox="1"/>
          <p:nvPr/>
        </p:nvSpPr>
        <p:spPr>
          <a:xfrm>
            <a:off x="640080" y="5120640"/>
            <a:ext cx="82296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₹20 lakh  ·  ₹1 crore post-money  ·  September 2026</a:t>
            </a:r>
            <a:endParaRPr lang="en-US" sz="1500" dirty="0"/>
          </a:p>
        </p:txBody>
      </p:sp>
      <p:sp>
        <p:nvSpPr>
          <p:cNvPr id="6" name="Text 4"/>
          <p:cNvSpPr txBox="1"/>
          <p:nvPr/>
        </p:nvSpPr>
        <p:spPr>
          <a:xfrm>
            <a:off x="640080" y="5806440"/>
            <a:ext cx="9601200" cy="457200"/>
          </a:xfrm>
          <a:prstGeom prst="rect">
            <a:avLst/>
          </a:prstGeom>
          <a:noFill/>
          <a:ln/>
        </p:spPr>
        <p:txBody>
          <a:bodyPr wrap="square" lIns="0" tIns="0" rIns="0" bIns="0" rtlCol="0" anchor="ctr"/>
          <a:lstStyle/>
          <a:p>
            <a:pPr indent="0" marL="0">
              <a:buNone/>
            </a:pPr>
            <a:r>
              <a:rPr lang="en-US" sz="1100" i="1" dirty="0">
                <a:solidFill>
                  <a:srgbClr val="8FB3B6"/>
                </a:solidFill>
                <a:latin typeface="Calibri" pitchFamily="34" charset="0"/>
                <a:ea typeface="Calibri" pitchFamily="34" charset="-122"/>
                <a:cs typeface="Calibri" pitchFamily="34" charset="-120"/>
              </a:rPr>
              <a:t>"One Interiors" is the working name. The permanent name is being settled this week — nothing in the product hardcodes 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The problem is not finding a designer.</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A Pune homeowner can find forty studios in an afternoon. What they cannot do is tell which one will still be answering the phone in month four.</a:t>
            </a:r>
            <a:endParaRPr lang="en-US" sz="1700" dirty="0"/>
          </a:p>
        </p:txBody>
      </p:sp>
      <p:sp>
        <p:nvSpPr>
          <p:cNvPr id="4" name="Shape 2"/>
          <p:cNvSpPr/>
          <p:nvPr/>
        </p:nvSpPr>
        <p:spPr>
          <a:xfrm>
            <a:off x="640080" y="2606040"/>
            <a:ext cx="2542032" cy="1481328"/>
          </a:xfrm>
          <a:prstGeom prst="roundRect">
            <a:avLst>
              <a:gd name="adj" fmla="val 4938"/>
            </a:avLst>
          </a:prstGeom>
          <a:solidFill>
            <a:srgbClr val="FBF7F0"/>
          </a:solidFill>
          <a:ln w="12700">
            <a:solidFill>
              <a:srgbClr val="E3DCD2"/>
            </a:solidFill>
            <a:prstDash val="solid"/>
          </a:ln>
        </p:spPr>
      </p:sp>
      <p:sp>
        <p:nvSpPr>
          <p:cNvPr id="5" name="Text 3"/>
          <p:cNvSpPr txBox="1"/>
          <p:nvPr/>
        </p:nvSpPr>
        <p:spPr>
          <a:xfrm>
            <a:off x="841248" y="2761488"/>
            <a:ext cx="2139696" cy="658368"/>
          </a:xfrm>
          <a:prstGeom prst="rect">
            <a:avLst/>
          </a:prstGeom>
          <a:noFill/>
          <a:ln/>
        </p:spPr>
        <p:txBody>
          <a:bodyPr wrap="square" lIns="0" tIns="0" rIns="0" bIns="0" rtlCol="0" anchor="t"/>
          <a:lstStyle/>
          <a:p>
            <a:pPr indent="0" marL="0">
              <a:buNone/>
            </a:pPr>
            <a:r>
              <a:rPr lang="en-US" sz="1600" b="1" dirty="0">
                <a:solidFill>
                  <a:srgbClr val="BC6440"/>
                </a:solidFill>
                <a:latin typeface="Cambria" pitchFamily="34" charset="0"/>
                <a:ea typeface="Cambria" pitchFamily="34" charset="-122"/>
                <a:cs typeface="Cambria" pitchFamily="34" charset="-120"/>
              </a:rPr>
              <a:t>Quotes that grew 40%</a:t>
            </a:r>
            <a:endParaRPr lang="en-US" sz="1600" dirty="0"/>
          </a:p>
        </p:txBody>
      </p:sp>
      <p:sp>
        <p:nvSpPr>
          <p:cNvPr id="6" name="Text 4"/>
          <p:cNvSpPr txBox="1"/>
          <p:nvPr/>
        </p:nvSpPr>
        <p:spPr>
          <a:xfrm>
            <a:off x="841248" y="3456432"/>
            <a:ext cx="2139696" cy="548640"/>
          </a:xfrm>
          <a:prstGeom prst="rect">
            <a:avLst/>
          </a:prstGeom>
          <a:noFill/>
          <a:ln/>
        </p:spPr>
        <p:txBody>
          <a:bodyPr wrap="square" lIns="0" tIns="0" rIns="0" bIns="0" rtlCol="0" anchor="t"/>
          <a:lstStyle/>
          <a:p>
            <a:pPr indent="0" marL="0">
              <a:lnSpc>
                <a:spcPct val="115000"/>
              </a:lnSpc>
              <a:buNone/>
            </a:pPr>
            <a:r>
              <a:rPr lang="en-US" sz="1200" dirty="0">
                <a:solidFill>
                  <a:srgbClr val="5A544E"/>
                </a:solidFill>
                <a:latin typeface="Calibri" pitchFamily="34" charset="0"/>
                <a:ea typeface="Calibri" pitchFamily="34" charset="-122"/>
                <a:cs typeface="Calibri" pitchFamily="34" charset="-120"/>
              </a:rPr>
              <a:t>after the contract was signed</a:t>
            </a:r>
            <a:endParaRPr lang="en-US" sz="1200" dirty="0"/>
          </a:p>
        </p:txBody>
      </p:sp>
      <p:sp>
        <p:nvSpPr>
          <p:cNvPr id="7" name="Shape 5"/>
          <p:cNvSpPr/>
          <p:nvPr/>
        </p:nvSpPr>
        <p:spPr>
          <a:xfrm>
            <a:off x="3401568" y="2606040"/>
            <a:ext cx="2542032" cy="1481328"/>
          </a:xfrm>
          <a:prstGeom prst="roundRect">
            <a:avLst>
              <a:gd name="adj" fmla="val 4938"/>
            </a:avLst>
          </a:prstGeom>
          <a:solidFill>
            <a:srgbClr val="FBF7F0"/>
          </a:solidFill>
          <a:ln w="12700">
            <a:solidFill>
              <a:srgbClr val="E3DCD2"/>
            </a:solidFill>
            <a:prstDash val="solid"/>
          </a:ln>
        </p:spPr>
      </p:sp>
      <p:sp>
        <p:nvSpPr>
          <p:cNvPr id="8" name="Text 6"/>
          <p:cNvSpPr txBox="1"/>
          <p:nvPr/>
        </p:nvSpPr>
        <p:spPr>
          <a:xfrm>
            <a:off x="3602736" y="2761488"/>
            <a:ext cx="2139696" cy="658368"/>
          </a:xfrm>
          <a:prstGeom prst="rect">
            <a:avLst/>
          </a:prstGeom>
          <a:noFill/>
          <a:ln/>
        </p:spPr>
        <p:txBody>
          <a:bodyPr wrap="square" lIns="0" tIns="0" rIns="0" bIns="0" rtlCol="0" anchor="t"/>
          <a:lstStyle/>
          <a:p>
            <a:pPr indent="0" marL="0">
              <a:buNone/>
            </a:pPr>
            <a:r>
              <a:rPr lang="en-US" sz="1600" b="1" dirty="0">
                <a:solidFill>
                  <a:srgbClr val="BC6440"/>
                </a:solidFill>
                <a:latin typeface="Cambria" pitchFamily="34" charset="0"/>
                <a:ea typeface="Cambria" pitchFamily="34" charset="-122"/>
                <a:cs typeface="Cambria" pitchFamily="34" charset="-120"/>
              </a:rPr>
              <a:t>Four months late</a:t>
            </a:r>
            <a:endParaRPr lang="en-US" sz="1600" dirty="0"/>
          </a:p>
        </p:txBody>
      </p:sp>
      <p:sp>
        <p:nvSpPr>
          <p:cNvPr id="9" name="Text 7"/>
          <p:cNvSpPr txBox="1"/>
          <p:nvPr/>
        </p:nvSpPr>
        <p:spPr>
          <a:xfrm>
            <a:off x="3602736" y="3456432"/>
            <a:ext cx="2139696" cy="548640"/>
          </a:xfrm>
          <a:prstGeom prst="rect">
            <a:avLst/>
          </a:prstGeom>
          <a:noFill/>
          <a:ln/>
        </p:spPr>
        <p:txBody>
          <a:bodyPr wrap="square" lIns="0" tIns="0" rIns="0" bIns="0" rtlCol="0" anchor="t"/>
          <a:lstStyle/>
          <a:p>
            <a:pPr indent="0" marL="0">
              <a:lnSpc>
                <a:spcPct val="115000"/>
              </a:lnSpc>
              <a:buNone/>
            </a:pPr>
            <a:r>
              <a:rPr lang="en-US" sz="1200" dirty="0">
                <a:solidFill>
                  <a:srgbClr val="5A544E"/>
                </a:solidFill>
                <a:latin typeface="Calibri" pitchFamily="34" charset="0"/>
                <a:ea typeface="Calibri" pitchFamily="34" charset="-122"/>
                <a:cs typeface="Calibri" pitchFamily="34" charset="-120"/>
              </a:rPr>
              <a:t>on a committed handover date</a:t>
            </a:r>
            <a:endParaRPr lang="en-US" sz="1200" dirty="0"/>
          </a:p>
        </p:txBody>
      </p:sp>
      <p:sp>
        <p:nvSpPr>
          <p:cNvPr id="10" name="Shape 8"/>
          <p:cNvSpPr/>
          <p:nvPr/>
        </p:nvSpPr>
        <p:spPr>
          <a:xfrm>
            <a:off x="6163056" y="2606040"/>
            <a:ext cx="2542032" cy="1481328"/>
          </a:xfrm>
          <a:prstGeom prst="roundRect">
            <a:avLst>
              <a:gd name="adj" fmla="val 4938"/>
            </a:avLst>
          </a:prstGeom>
          <a:solidFill>
            <a:srgbClr val="FBF7F0"/>
          </a:solidFill>
          <a:ln w="12700">
            <a:solidFill>
              <a:srgbClr val="E3DCD2"/>
            </a:solidFill>
            <a:prstDash val="solid"/>
          </a:ln>
        </p:spPr>
      </p:sp>
      <p:sp>
        <p:nvSpPr>
          <p:cNvPr id="11" name="Text 9"/>
          <p:cNvSpPr txBox="1"/>
          <p:nvPr/>
        </p:nvSpPr>
        <p:spPr>
          <a:xfrm>
            <a:off x="6364224" y="2761488"/>
            <a:ext cx="2139696" cy="658368"/>
          </a:xfrm>
          <a:prstGeom prst="rect">
            <a:avLst/>
          </a:prstGeom>
          <a:noFill/>
          <a:ln/>
        </p:spPr>
        <p:txBody>
          <a:bodyPr wrap="square" lIns="0" tIns="0" rIns="0" bIns="0" rtlCol="0" anchor="t"/>
          <a:lstStyle/>
          <a:p>
            <a:pPr indent="0" marL="0">
              <a:buNone/>
            </a:pPr>
            <a:r>
              <a:rPr lang="en-US" sz="1600" b="1" dirty="0">
                <a:solidFill>
                  <a:srgbClr val="BC6440"/>
                </a:solidFill>
                <a:latin typeface="Cambria" pitchFamily="34" charset="0"/>
                <a:ea typeface="Cambria" pitchFamily="34" charset="-122"/>
                <a:cs typeface="Cambria" pitchFamily="34" charset="-120"/>
              </a:rPr>
              <a:t>Laminate delivered</a:t>
            </a:r>
            <a:endParaRPr lang="en-US" sz="1600" dirty="0"/>
          </a:p>
        </p:txBody>
      </p:sp>
      <p:sp>
        <p:nvSpPr>
          <p:cNvPr id="12" name="Text 10"/>
          <p:cNvSpPr txBox="1"/>
          <p:nvPr/>
        </p:nvSpPr>
        <p:spPr>
          <a:xfrm>
            <a:off x="6364224" y="3456432"/>
            <a:ext cx="2139696" cy="548640"/>
          </a:xfrm>
          <a:prstGeom prst="rect">
            <a:avLst/>
          </a:prstGeom>
          <a:noFill/>
          <a:ln/>
        </p:spPr>
        <p:txBody>
          <a:bodyPr wrap="square" lIns="0" tIns="0" rIns="0" bIns="0" rtlCol="0" anchor="t"/>
          <a:lstStyle/>
          <a:p>
            <a:pPr indent="0" marL="0">
              <a:lnSpc>
                <a:spcPct val="115000"/>
              </a:lnSpc>
              <a:buNone/>
            </a:pPr>
            <a:r>
              <a:rPr lang="en-US" sz="1200" dirty="0">
                <a:solidFill>
                  <a:srgbClr val="5A544E"/>
                </a:solidFill>
                <a:latin typeface="Calibri" pitchFamily="34" charset="0"/>
                <a:ea typeface="Calibri" pitchFamily="34" charset="-122"/>
                <a:cs typeface="Calibri" pitchFamily="34" charset="-120"/>
              </a:rPr>
              <a:t>where veneer was quoted</a:t>
            </a:r>
            <a:endParaRPr lang="en-US" sz="1200" dirty="0"/>
          </a:p>
        </p:txBody>
      </p:sp>
      <p:sp>
        <p:nvSpPr>
          <p:cNvPr id="13" name="Shape 11"/>
          <p:cNvSpPr/>
          <p:nvPr/>
        </p:nvSpPr>
        <p:spPr>
          <a:xfrm>
            <a:off x="8924544" y="2606040"/>
            <a:ext cx="2542032" cy="1481328"/>
          </a:xfrm>
          <a:prstGeom prst="roundRect">
            <a:avLst>
              <a:gd name="adj" fmla="val 4938"/>
            </a:avLst>
          </a:prstGeom>
          <a:solidFill>
            <a:srgbClr val="FBF7F0"/>
          </a:solidFill>
          <a:ln w="12700">
            <a:solidFill>
              <a:srgbClr val="E3DCD2"/>
            </a:solidFill>
            <a:prstDash val="solid"/>
          </a:ln>
        </p:spPr>
      </p:sp>
      <p:sp>
        <p:nvSpPr>
          <p:cNvPr id="14" name="Text 12"/>
          <p:cNvSpPr txBox="1"/>
          <p:nvPr/>
        </p:nvSpPr>
        <p:spPr>
          <a:xfrm>
            <a:off x="9125712" y="2761488"/>
            <a:ext cx="2139696" cy="658368"/>
          </a:xfrm>
          <a:prstGeom prst="rect">
            <a:avLst/>
          </a:prstGeom>
          <a:noFill/>
          <a:ln/>
        </p:spPr>
        <p:txBody>
          <a:bodyPr wrap="square" lIns="0" tIns="0" rIns="0" bIns="0" rtlCol="0" anchor="t"/>
          <a:lstStyle/>
          <a:p>
            <a:pPr indent="0" marL="0">
              <a:buNone/>
            </a:pPr>
            <a:r>
              <a:rPr lang="en-US" sz="1600" b="1" dirty="0">
                <a:solidFill>
                  <a:srgbClr val="BC6440"/>
                </a:solidFill>
                <a:latin typeface="Cambria" pitchFamily="34" charset="0"/>
                <a:ea typeface="Cambria" pitchFamily="34" charset="-122"/>
                <a:cs typeface="Cambria" pitchFamily="34" charset="-120"/>
              </a:rPr>
              <a:t>Advances not refunded</a:t>
            </a:r>
            <a:endParaRPr lang="en-US" sz="1600" dirty="0"/>
          </a:p>
        </p:txBody>
      </p:sp>
      <p:sp>
        <p:nvSpPr>
          <p:cNvPr id="15" name="Text 13"/>
          <p:cNvSpPr txBox="1"/>
          <p:nvPr/>
        </p:nvSpPr>
        <p:spPr>
          <a:xfrm>
            <a:off x="9125712" y="3456432"/>
            <a:ext cx="2139696" cy="548640"/>
          </a:xfrm>
          <a:prstGeom prst="rect">
            <a:avLst/>
          </a:prstGeom>
          <a:noFill/>
          <a:ln/>
        </p:spPr>
        <p:txBody>
          <a:bodyPr wrap="square" lIns="0" tIns="0" rIns="0" bIns="0" rtlCol="0" anchor="t"/>
          <a:lstStyle/>
          <a:p>
            <a:pPr indent="0" marL="0">
              <a:lnSpc>
                <a:spcPct val="115000"/>
              </a:lnSpc>
              <a:buNone/>
            </a:pPr>
            <a:r>
              <a:rPr lang="en-US" sz="1200" dirty="0">
                <a:solidFill>
                  <a:srgbClr val="5A544E"/>
                </a:solidFill>
                <a:latin typeface="Calibri" pitchFamily="34" charset="0"/>
                <a:ea typeface="Calibri" pitchFamily="34" charset="-122"/>
                <a:cs typeface="Calibri" pitchFamily="34" charset="-120"/>
              </a:rPr>
              <a:t>when the job was abandoned</a:t>
            </a:r>
            <a:endParaRPr lang="en-US" sz="1200" dirty="0"/>
          </a:p>
        </p:txBody>
      </p:sp>
      <p:sp>
        <p:nvSpPr>
          <p:cNvPr id="16" name="Text 14"/>
          <p:cNvSpPr txBox="1"/>
          <p:nvPr/>
        </p:nvSpPr>
        <p:spPr>
          <a:xfrm>
            <a:off x="640080" y="4434840"/>
            <a:ext cx="10424160" cy="457200"/>
          </a:xfrm>
          <a:prstGeom prst="rect">
            <a:avLst/>
          </a:prstGeom>
          <a:noFill/>
          <a:ln/>
        </p:spPr>
        <p:txBody>
          <a:bodyPr wrap="square" lIns="0" tIns="0" rIns="0" bIns="0" rtlCol="0" anchor="ctr"/>
          <a:lstStyle/>
          <a:p>
            <a:pPr indent="0" marL="0">
              <a:buNone/>
            </a:pPr>
            <a:r>
              <a:rPr lang="en-US" sz="2100" b="1" dirty="0">
                <a:solidFill>
                  <a:srgbClr val="2A2622"/>
                </a:solidFill>
                <a:latin typeface="Cambria" pitchFamily="34" charset="0"/>
                <a:ea typeface="Cambria" pitchFamily="34" charset="-122"/>
                <a:cs typeface="Cambria" pitchFamily="34" charset="-120"/>
              </a:rPr>
              <a:t>None of these are matching failures. They are execution failures.</a:t>
            </a:r>
            <a:endParaRPr lang="en-US" sz="2100" dirty="0"/>
          </a:p>
        </p:txBody>
      </p:sp>
      <p:sp>
        <p:nvSpPr>
          <p:cNvPr id="17" name="Text 15"/>
          <p:cNvSpPr txBox="1"/>
          <p:nvPr/>
        </p:nvSpPr>
        <p:spPr>
          <a:xfrm>
            <a:off x="640080" y="4983480"/>
            <a:ext cx="10424160" cy="1097280"/>
          </a:xfrm>
          <a:prstGeom prst="rect">
            <a:avLst/>
          </a:prstGeom>
          <a:noFill/>
          <a:ln/>
        </p:spPr>
        <p:txBody>
          <a:bodyPr wrap="square" lIns="0" tIns="0" rIns="0" bIns="0" rtlCol="0" anchor="t"/>
          <a:lstStyle/>
          <a:p>
            <a:pPr marL="342900" indent="-342900">
              <a:lnSpc>
                <a:spcPct val="120000"/>
              </a:lnSpc>
              <a:spcAft>
                <a:spcPts val="700"/>
              </a:spcAft>
              <a:buSzPct val="100000"/>
              <a:buChar char="•"/>
            </a:pPr>
            <a:r>
              <a:rPr lang="en-US" sz="1350" dirty="0">
                <a:solidFill>
                  <a:srgbClr val="5A544E"/>
                </a:solidFill>
                <a:latin typeface="Calibri" pitchFamily="34" charset="0"/>
                <a:ea typeface="Calibri" pitchFamily="34" charset="-122"/>
                <a:cs typeface="Calibri" pitchFamily="34" charset="-120"/>
              </a:rPr>
              <a:t>₹7–27 lakh per project — the largest discretionary purchase most Indian households make after the flat itself.</a:t>
            </a:r>
            <a:endParaRPr lang="en-US" sz="1350" dirty="0"/>
          </a:p>
          <a:p>
            <a:pPr marL="342900" indent="-342900">
              <a:lnSpc>
                <a:spcPct val="120000"/>
              </a:lnSpc>
              <a:spcAft>
                <a:spcPts val="700"/>
              </a:spcAft>
              <a:buSzPct val="100000"/>
              <a:buChar char="•"/>
            </a:pPr>
            <a:r>
              <a:rPr lang="en-US" sz="1350" dirty="0">
                <a:solidFill>
                  <a:srgbClr val="5A544E"/>
                </a:solidFill>
                <a:latin typeface="Calibri" pitchFamily="34" charset="0"/>
                <a:ea typeface="Calibri" pitchFamily="34" charset="-122"/>
                <a:cs typeface="Calibri" pitchFamily="34" charset="-120"/>
              </a:rPr>
              <a:t>Happens once a decade, is irreversible, and the buyer has no basis for judging quality.</a:t>
            </a:r>
            <a:endParaRPr lang="en-US" sz="1350" dirty="0"/>
          </a:p>
          <a:p>
            <a:pPr marL="342900" indent="-342900">
              <a:lnSpc>
                <a:spcPct val="120000"/>
              </a:lnSpc>
              <a:spcAft>
                <a:spcPts val="700"/>
              </a:spcAft>
              <a:buSzPct val="100000"/>
              <a:buChar char="•"/>
            </a:pPr>
            <a:r>
              <a:rPr lang="en-US" sz="1350" dirty="0">
                <a:solidFill>
                  <a:srgbClr val="5A544E"/>
                </a:solidFill>
                <a:latin typeface="Calibri" pitchFamily="34" charset="0"/>
                <a:ea typeface="Calibri" pitchFamily="34" charset="-122"/>
                <a:cs typeface="Calibri" pitchFamily="34" charset="-120"/>
              </a:rPr>
              <a:t>So the product sells certainty, not taste. Every feature follows from that one sentence.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Why we can start this from a standing start.</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Supply is the hard side of this marketplace, and we begin with an unfair position on it.</a:t>
            </a:r>
            <a:endParaRPr lang="en-US" sz="1700" dirty="0"/>
          </a:p>
        </p:txBody>
      </p:sp>
      <p:sp>
        <p:nvSpPr>
          <p:cNvPr id="4" name="Shape 2"/>
          <p:cNvSpPr/>
          <p:nvPr/>
        </p:nvSpPr>
        <p:spPr>
          <a:xfrm>
            <a:off x="640080" y="2551176"/>
            <a:ext cx="420624" cy="420624"/>
          </a:xfrm>
          <a:prstGeom prst="ellipse">
            <a:avLst/>
          </a:prstGeom>
          <a:solidFill>
            <a:srgbClr val="1A6068"/>
          </a:solidFill>
          <a:ln/>
        </p:spPr>
      </p:sp>
      <p:sp>
        <p:nvSpPr>
          <p:cNvPr id="5" name="Text 3"/>
          <p:cNvSpPr txBox="1"/>
          <p:nvPr/>
        </p:nvSpPr>
        <p:spPr>
          <a:xfrm>
            <a:off x="640080" y="25511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61872" y="2514600"/>
            <a:ext cx="431596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980 real quotation files</a:t>
            </a:r>
            <a:endParaRPr lang="en-US" sz="1500" dirty="0"/>
          </a:p>
        </p:txBody>
      </p:sp>
      <p:sp>
        <p:nvSpPr>
          <p:cNvPr id="7" name="Text 5"/>
          <p:cNvSpPr txBox="1"/>
          <p:nvPr/>
        </p:nvSpPr>
        <p:spPr>
          <a:xfrm>
            <a:off x="1261872" y="2843784"/>
            <a:ext cx="4315968" cy="713232"/>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Hauspire’s actual quotation archive — real rate structures for Pune, not guesses. The pricing engine is built against them.</a:t>
            </a:r>
            <a:endParaRPr lang="en-US" sz="1300" dirty="0"/>
          </a:p>
        </p:txBody>
      </p:sp>
      <p:sp>
        <p:nvSpPr>
          <p:cNvPr id="8" name="Shape 6"/>
          <p:cNvSpPr/>
          <p:nvPr/>
        </p:nvSpPr>
        <p:spPr>
          <a:xfrm>
            <a:off x="640080" y="3831336"/>
            <a:ext cx="420624" cy="420624"/>
          </a:xfrm>
          <a:prstGeom prst="ellipse">
            <a:avLst/>
          </a:prstGeom>
          <a:solidFill>
            <a:srgbClr val="1A6068"/>
          </a:solidFill>
          <a:ln/>
        </p:spPr>
      </p:sp>
      <p:sp>
        <p:nvSpPr>
          <p:cNvPr id="9" name="Text 7"/>
          <p:cNvSpPr txBox="1"/>
          <p:nvPr/>
        </p:nvSpPr>
        <p:spPr>
          <a:xfrm>
            <a:off x="640080" y="38313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261872" y="3794760"/>
            <a:ext cx="431596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Twenty designers already paying us</a:t>
            </a:r>
            <a:endParaRPr lang="en-US" sz="1500" dirty="0"/>
          </a:p>
        </p:txBody>
      </p:sp>
      <p:sp>
        <p:nvSpPr>
          <p:cNvPr id="11" name="Text 9"/>
          <p:cNvSpPr txBox="1"/>
          <p:nvPr/>
        </p:nvSpPr>
        <p:spPr>
          <a:xfrm>
            <a:off x="1261872" y="4123944"/>
            <a:ext cx="431596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They buy ads from our agency today. It is the warmest supply list in the city, and the conflict gets named in the first sentence of every conversation.</a:t>
            </a:r>
            <a:endParaRPr lang="en-US" sz="1300" dirty="0"/>
          </a:p>
        </p:txBody>
      </p:sp>
      <p:sp>
        <p:nvSpPr>
          <p:cNvPr id="12" name="Shape 10"/>
          <p:cNvSpPr/>
          <p:nvPr/>
        </p:nvSpPr>
        <p:spPr>
          <a:xfrm>
            <a:off x="6217920" y="2551176"/>
            <a:ext cx="420624" cy="420624"/>
          </a:xfrm>
          <a:prstGeom prst="ellipse">
            <a:avLst/>
          </a:prstGeom>
          <a:solidFill>
            <a:srgbClr val="1A6068"/>
          </a:solidFill>
          <a:ln/>
        </p:spPr>
      </p:sp>
      <p:sp>
        <p:nvSpPr>
          <p:cNvPr id="13" name="Text 11"/>
          <p:cNvSpPr txBox="1"/>
          <p:nvPr/>
        </p:nvSpPr>
        <p:spPr>
          <a:xfrm>
            <a:off x="6217920" y="25511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6839712" y="2514600"/>
            <a:ext cx="431596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Two studios already in the queue</a:t>
            </a:r>
            <a:endParaRPr lang="en-US" sz="1500" dirty="0"/>
          </a:p>
        </p:txBody>
      </p:sp>
      <p:sp>
        <p:nvSpPr>
          <p:cNvPr id="15" name="Text 13"/>
          <p:cNvSpPr txBox="1"/>
          <p:nvPr/>
        </p:nvSpPr>
        <p:spPr>
          <a:xfrm>
            <a:off x="6839712" y="2843784"/>
            <a:ext cx="4315968" cy="713232"/>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Hauspire and Urbanline are seeded and waiting on verification. Ten live studios is what month one needs.</a:t>
            </a:r>
            <a:endParaRPr lang="en-US" sz="1300" dirty="0"/>
          </a:p>
        </p:txBody>
      </p:sp>
      <p:sp>
        <p:nvSpPr>
          <p:cNvPr id="16" name="Shape 14"/>
          <p:cNvSpPr/>
          <p:nvPr/>
        </p:nvSpPr>
        <p:spPr>
          <a:xfrm>
            <a:off x="6217920" y="3831336"/>
            <a:ext cx="420624" cy="420624"/>
          </a:xfrm>
          <a:prstGeom prst="ellipse">
            <a:avLst/>
          </a:prstGeom>
          <a:solidFill>
            <a:srgbClr val="1A6068"/>
          </a:solidFill>
          <a:ln/>
        </p:spPr>
      </p:sp>
      <p:sp>
        <p:nvSpPr>
          <p:cNvPr id="17" name="Text 15"/>
          <p:cNvSpPr txBox="1"/>
          <p:nvPr/>
        </p:nvSpPr>
        <p:spPr>
          <a:xfrm>
            <a:off x="6217920" y="38313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6839712" y="3794760"/>
            <a:ext cx="431596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Agency baseline nobody else has</a:t>
            </a:r>
            <a:endParaRPr lang="en-US" sz="1500" dirty="0"/>
          </a:p>
        </p:txBody>
      </p:sp>
      <p:sp>
        <p:nvSpPr>
          <p:cNvPr id="19" name="Text 17"/>
          <p:cNvSpPr txBox="1"/>
          <p:nvPr/>
        </p:nvSpPr>
        <p:spPr>
          <a:xfrm>
            <a:off x="6839712" y="4123944"/>
            <a:ext cx="431596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We know what a booked project already costs a Pune designer. That turns our pricing pitch from an assertion into a calculation.</a:t>
            </a:r>
            <a:endParaRPr lang="en-US" sz="1300" dirty="0"/>
          </a:p>
        </p:txBody>
      </p:sp>
      <p:sp>
        <p:nvSpPr>
          <p:cNvPr id="20" name="Shape 18"/>
          <p:cNvSpPr/>
          <p:nvPr/>
        </p:nvSpPr>
        <p:spPr>
          <a:xfrm>
            <a:off x="640080" y="5074920"/>
            <a:ext cx="10908792" cy="914400"/>
          </a:xfrm>
          <a:prstGeom prst="roundRect">
            <a:avLst>
              <a:gd name="adj" fmla="val 8000"/>
            </a:avLst>
          </a:prstGeom>
          <a:solidFill>
            <a:srgbClr val="F7EFE2"/>
          </a:solidFill>
          <a:ln w="12700">
            <a:solidFill>
              <a:srgbClr val="E8D5B4"/>
            </a:solidFill>
            <a:prstDash val="solid"/>
          </a:ln>
        </p:spPr>
      </p:sp>
      <p:sp>
        <p:nvSpPr>
          <p:cNvPr id="21" name="Text 19"/>
          <p:cNvSpPr txBox="1"/>
          <p:nvPr/>
        </p:nvSpPr>
        <p:spPr>
          <a:xfrm>
            <a:off x="914400" y="5230368"/>
            <a:ext cx="10360152" cy="640080"/>
          </a:xfrm>
          <a:prstGeom prst="rect">
            <a:avLst/>
          </a:prstGeom>
          <a:noFill/>
          <a:ln/>
        </p:spPr>
        <p:txBody>
          <a:bodyPr wrap="square" lIns="0" tIns="0" rIns="0" bIns="0" rtlCol="0" anchor="t"/>
          <a:lstStyle/>
          <a:p>
            <a:pPr indent="0" marL="0">
              <a:lnSpc>
                <a:spcPct val="120000"/>
              </a:lnSpc>
              <a:buNone/>
            </a:pPr>
            <a:r>
              <a:rPr lang="en-US" sz="1250" dirty="0">
                <a:solidFill>
                  <a:srgbClr val="2A2622"/>
                </a:solidFill>
                <a:latin typeface="Calibri" pitchFamily="34" charset="0"/>
                <a:ea typeface="Calibri" pitchFamily="34" charset="-122"/>
                <a:cs typeface="Calibri" pitchFamily="34" charset="-120"/>
              </a:rPr>
              <a:t>Disclosed up front: Hauspire is a cofounder’s business. Its catalogue is used as structure only — every studio loads its own rates, and no Hauspire pricing ever sets a platform price. If that came out later it would cost us the roster, so it is on this slide.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The whole flow is built and deployed.</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Not a prototype and not a design file. This runs today, end to end, on real infrastructure.</a:t>
            </a:r>
            <a:endParaRPr lang="en-US" sz="1700" dirty="0"/>
          </a:p>
        </p:txBody>
      </p:sp>
      <p:sp>
        <p:nvSpPr>
          <p:cNvPr id="4" name="Shape 2"/>
          <p:cNvSpPr/>
          <p:nvPr/>
        </p:nvSpPr>
        <p:spPr>
          <a:xfrm>
            <a:off x="640080" y="2560320"/>
            <a:ext cx="1700784" cy="1828800"/>
          </a:xfrm>
          <a:prstGeom prst="roundRect">
            <a:avLst>
              <a:gd name="adj" fmla="val 4301"/>
            </a:avLst>
          </a:prstGeom>
          <a:solidFill>
            <a:srgbClr val="FBF7F0"/>
          </a:solidFill>
          <a:ln w="12700">
            <a:solidFill>
              <a:srgbClr val="E3DCD2"/>
            </a:solidFill>
            <a:prstDash val="solid"/>
          </a:ln>
        </p:spPr>
      </p:sp>
      <p:sp>
        <p:nvSpPr>
          <p:cNvPr id="5" name="Shape 3"/>
          <p:cNvSpPr/>
          <p:nvPr/>
        </p:nvSpPr>
        <p:spPr>
          <a:xfrm>
            <a:off x="822960" y="2743200"/>
            <a:ext cx="384048" cy="384048"/>
          </a:xfrm>
          <a:prstGeom prst="ellipse">
            <a:avLst/>
          </a:prstGeom>
          <a:solidFill>
            <a:srgbClr val="1A6068"/>
          </a:solidFill>
          <a:ln/>
        </p:spPr>
      </p:sp>
      <p:sp>
        <p:nvSpPr>
          <p:cNvPr id="6" name="Text 4"/>
          <p:cNvSpPr txBox="1"/>
          <p:nvPr/>
        </p:nvSpPr>
        <p:spPr>
          <a:xfrm>
            <a:off x="822960" y="2743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822960" y="3246120"/>
            <a:ext cx="1335024" cy="329184"/>
          </a:xfrm>
          <a:prstGeom prst="rect">
            <a:avLst/>
          </a:prstGeom>
          <a:noFill/>
          <a:ln/>
        </p:spPr>
        <p:txBody>
          <a:bodyPr wrap="square" lIns="0" tIns="0" rIns="0" bIns="0" rtlCol="0" anchor="t"/>
          <a:lstStyle/>
          <a:p>
            <a:pPr indent="0" marL="0">
              <a:buNone/>
            </a:pPr>
            <a:r>
              <a:rPr lang="en-US" sz="1500" b="1" dirty="0">
                <a:solidFill>
                  <a:srgbClr val="2A2622"/>
                </a:solidFill>
                <a:latin typeface="Cambria" pitchFamily="34" charset="0"/>
                <a:ea typeface="Cambria" pitchFamily="34" charset="-122"/>
                <a:cs typeface="Cambria" pitchFamily="34" charset="-120"/>
              </a:rPr>
              <a:t>Brief</a:t>
            </a:r>
            <a:endParaRPr lang="en-US" sz="1500" dirty="0"/>
          </a:p>
        </p:txBody>
      </p:sp>
      <p:sp>
        <p:nvSpPr>
          <p:cNvPr id="8" name="Text 6"/>
          <p:cNvSpPr txBox="1"/>
          <p:nvPr/>
        </p:nvSpPr>
        <p:spPr>
          <a:xfrm>
            <a:off x="822960" y="3602736"/>
            <a:ext cx="1335024" cy="713232"/>
          </a:xfrm>
          <a:prstGeom prst="rect">
            <a:avLst/>
          </a:prstGeom>
          <a:noFill/>
          <a:ln/>
        </p:spPr>
        <p:txBody>
          <a:bodyPr wrap="square" lIns="0" tIns="0" rIns="0" bIns="0" rtlCol="0" anchor="t"/>
          <a:lstStyle/>
          <a:p>
            <a:pPr indent="0" marL="0">
              <a:lnSpc>
                <a:spcPct val="115000"/>
              </a:lnSpc>
              <a:buNone/>
            </a:pPr>
            <a:r>
              <a:rPr lang="en-US" sz="1100" dirty="0">
                <a:solidFill>
                  <a:srgbClr val="5A544E"/>
                </a:solidFill>
                <a:latin typeface="Calibri" pitchFamily="34" charset="0"/>
                <a:ea typeface="Calibri" pitchFamily="34" charset="-122"/>
                <a:cs typeface="Calibri" pitchFamily="34" charset="-120"/>
              </a:rPr>
              <a:t>Nine questions,</a:t>
            </a:r>
            <a:endParaRPr lang="en-US" sz="1100" dirty="0"/>
          </a:p>
          <a:p>
            <a:pPr indent="0" marL="0">
              <a:lnSpc>
                <a:spcPct val="115000"/>
              </a:lnSpc>
              <a:buNone/>
            </a:pPr>
            <a:r>
              <a:rPr lang="en-US" sz="1100" dirty="0">
                <a:solidFill>
                  <a:srgbClr val="5A544E"/>
                </a:solidFill>
                <a:latin typeface="Calibri" pitchFamily="34" charset="0"/>
                <a:ea typeface="Calibri" pitchFamily="34" charset="-122"/>
                <a:cs typeface="Calibri" pitchFamily="34" charset="-120"/>
              </a:rPr>
              <a:t>about three minutes</a:t>
            </a:r>
            <a:endParaRPr lang="en-US" sz="1100" dirty="0"/>
          </a:p>
        </p:txBody>
      </p:sp>
      <p:sp>
        <p:nvSpPr>
          <p:cNvPr id="9" name="Shape 7"/>
          <p:cNvSpPr/>
          <p:nvPr/>
        </p:nvSpPr>
        <p:spPr>
          <a:xfrm>
            <a:off x="2459736" y="2560320"/>
            <a:ext cx="1700784" cy="1828800"/>
          </a:xfrm>
          <a:prstGeom prst="roundRect">
            <a:avLst>
              <a:gd name="adj" fmla="val 4301"/>
            </a:avLst>
          </a:prstGeom>
          <a:solidFill>
            <a:srgbClr val="FBF7F0"/>
          </a:solidFill>
          <a:ln w="12700">
            <a:solidFill>
              <a:srgbClr val="E3DCD2"/>
            </a:solidFill>
            <a:prstDash val="solid"/>
          </a:ln>
        </p:spPr>
      </p:sp>
      <p:sp>
        <p:nvSpPr>
          <p:cNvPr id="10" name="Shape 8"/>
          <p:cNvSpPr/>
          <p:nvPr/>
        </p:nvSpPr>
        <p:spPr>
          <a:xfrm>
            <a:off x="2642616" y="2743200"/>
            <a:ext cx="384048" cy="384048"/>
          </a:xfrm>
          <a:prstGeom prst="ellipse">
            <a:avLst/>
          </a:prstGeom>
          <a:solidFill>
            <a:srgbClr val="1A6068"/>
          </a:solidFill>
          <a:ln/>
        </p:spPr>
      </p:sp>
      <p:sp>
        <p:nvSpPr>
          <p:cNvPr id="11" name="Text 9"/>
          <p:cNvSpPr txBox="1"/>
          <p:nvPr/>
        </p:nvSpPr>
        <p:spPr>
          <a:xfrm>
            <a:off x="2642616" y="2743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2642616" y="3246120"/>
            <a:ext cx="1335024" cy="329184"/>
          </a:xfrm>
          <a:prstGeom prst="rect">
            <a:avLst/>
          </a:prstGeom>
          <a:noFill/>
          <a:ln/>
        </p:spPr>
        <p:txBody>
          <a:bodyPr wrap="square" lIns="0" tIns="0" rIns="0" bIns="0" rtlCol="0" anchor="t"/>
          <a:lstStyle/>
          <a:p>
            <a:pPr indent="0" marL="0">
              <a:buNone/>
            </a:pPr>
            <a:r>
              <a:rPr lang="en-US" sz="1500" b="1" dirty="0">
                <a:solidFill>
                  <a:srgbClr val="2A2622"/>
                </a:solidFill>
                <a:latin typeface="Cambria" pitchFamily="34" charset="0"/>
                <a:ea typeface="Cambria" pitchFamily="34" charset="-122"/>
                <a:cs typeface="Cambria" pitchFamily="34" charset="-120"/>
              </a:rPr>
              <a:t>Match</a:t>
            </a:r>
            <a:endParaRPr lang="en-US" sz="1500" dirty="0"/>
          </a:p>
        </p:txBody>
      </p:sp>
      <p:sp>
        <p:nvSpPr>
          <p:cNvPr id="13" name="Text 11"/>
          <p:cNvSpPr txBox="1"/>
          <p:nvPr/>
        </p:nvSpPr>
        <p:spPr>
          <a:xfrm>
            <a:off x="2642616" y="3602736"/>
            <a:ext cx="1335024" cy="713232"/>
          </a:xfrm>
          <a:prstGeom prst="rect">
            <a:avLst/>
          </a:prstGeom>
          <a:noFill/>
          <a:ln/>
        </p:spPr>
        <p:txBody>
          <a:bodyPr wrap="square" lIns="0" tIns="0" rIns="0" bIns="0" rtlCol="0" anchor="t"/>
          <a:lstStyle/>
          <a:p>
            <a:pPr indent="0" marL="0">
              <a:lnSpc>
                <a:spcPct val="115000"/>
              </a:lnSpc>
              <a:buNone/>
            </a:pPr>
            <a:r>
              <a:rPr lang="en-US" sz="1100" dirty="0">
                <a:solidFill>
                  <a:srgbClr val="5A544E"/>
                </a:solidFill>
                <a:latin typeface="Calibri" pitchFamily="34" charset="0"/>
                <a:ea typeface="Calibri" pitchFamily="34" charset="-122"/>
                <a:cs typeface="Calibri" pitchFamily="34" charset="-120"/>
              </a:rPr>
              <a:t>Ranked studios with</a:t>
            </a:r>
            <a:endParaRPr lang="en-US" sz="1100" dirty="0"/>
          </a:p>
          <a:p>
            <a:pPr indent="0" marL="0">
              <a:lnSpc>
                <a:spcPct val="115000"/>
              </a:lnSpc>
              <a:buNone/>
            </a:pPr>
            <a:r>
              <a:rPr lang="en-US" sz="1100" dirty="0">
                <a:solidFill>
                  <a:srgbClr val="5A544E"/>
                </a:solidFill>
                <a:latin typeface="Calibri" pitchFamily="34" charset="0"/>
                <a:ea typeface="Calibri" pitchFamily="34" charset="-122"/>
                <a:cs typeface="Calibri" pitchFamily="34" charset="-120"/>
              </a:rPr>
              <a:t>the reason in words</a:t>
            </a:r>
            <a:endParaRPr lang="en-US" sz="1100" dirty="0"/>
          </a:p>
        </p:txBody>
      </p:sp>
      <p:sp>
        <p:nvSpPr>
          <p:cNvPr id="14" name="Shape 12"/>
          <p:cNvSpPr/>
          <p:nvPr/>
        </p:nvSpPr>
        <p:spPr>
          <a:xfrm>
            <a:off x="4279392" y="2560320"/>
            <a:ext cx="1700784" cy="1828800"/>
          </a:xfrm>
          <a:prstGeom prst="roundRect">
            <a:avLst>
              <a:gd name="adj" fmla="val 4301"/>
            </a:avLst>
          </a:prstGeom>
          <a:solidFill>
            <a:srgbClr val="FBF7F0"/>
          </a:solidFill>
          <a:ln w="12700">
            <a:solidFill>
              <a:srgbClr val="E3DCD2"/>
            </a:solidFill>
            <a:prstDash val="solid"/>
          </a:ln>
        </p:spPr>
      </p:sp>
      <p:sp>
        <p:nvSpPr>
          <p:cNvPr id="15" name="Shape 13"/>
          <p:cNvSpPr/>
          <p:nvPr/>
        </p:nvSpPr>
        <p:spPr>
          <a:xfrm>
            <a:off x="4462272" y="2743200"/>
            <a:ext cx="384048" cy="384048"/>
          </a:xfrm>
          <a:prstGeom prst="ellipse">
            <a:avLst/>
          </a:prstGeom>
          <a:solidFill>
            <a:srgbClr val="1A6068"/>
          </a:solidFill>
          <a:ln/>
        </p:spPr>
      </p:sp>
      <p:sp>
        <p:nvSpPr>
          <p:cNvPr id="16" name="Text 14"/>
          <p:cNvSpPr txBox="1"/>
          <p:nvPr/>
        </p:nvSpPr>
        <p:spPr>
          <a:xfrm>
            <a:off x="4462272" y="2743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4462272" y="3246120"/>
            <a:ext cx="1335024" cy="329184"/>
          </a:xfrm>
          <a:prstGeom prst="rect">
            <a:avLst/>
          </a:prstGeom>
          <a:noFill/>
          <a:ln/>
        </p:spPr>
        <p:txBody>
          <a:bodyPr wrap="square" lIns="0" tIns="0" rIns="0" bIns="0" rtlCol="0" anchor="t"/>
          <a:lstStyle/>
          <a:p>
            <a:pPr indent="0" marL="0">
              <a:buNone/>
            </a:pPr>
            <a:r>
              <a:rPr lang="en-US" sz="1500" b="1" dirty="0">
                <a:solidFill>
                  <a:srgbClr val="2A2622"/>
                </a:solidFill>
                <a:latin typeface="Cambria" pitchFamily="34" charset="0"/>
                <a:ea typeface="Cambria" pitchFamily="34" charset="-122"/>
                <a:cs typeface="Cambria" pitchFamily="34" charset="-120"/>
              </a:rPr>
              <a:t>Quote</a:t>
            </a:r>
            <a:endParaRPr lang="en-US" sz="1500" dirty="0"/>
          </a:p>
        </p:txBody>
      </p:sp>
      <p:sp>
        <p:nvSpPr>
          <p:cNvPr id="18" name="Text 16"/>
          <p:cNvSpPr txBox="1"/>
          <p:nvPr/>
        </p:nvSpPr>
        <p:spPr>
          <a:xfrm>
            <a:off x="4462272" y="3602736"/>
            <a:ext cx="1335024" cy="713232"/>
          </a:xfrm>
          <a:prstGeom prst="rect">
            <a:avLst/>
          </a:prstGeom>
          <a:noFill/>
          <a:ln/>
        </p:spPr>
        <p:txBody>
          <a:bodyPr wrap="square" lIns="0" tIns="0" rIns="0" bIns="0" rtlCol="0" anchor="t"/>
          <a:lstStyle/>
          <a:p>
            <a:pPr indent="0" marL="0">
              <a:lnSpc>
                <a:spcPct val="115000"/>
              </a:lnSpc>
              <a:buNone/>
            </a:pPr>
            <a:r>
              <a:rPr lang="en-US" sz="1100" dirty="0">
                <a:solidFill>
                  <a:srgbClr val="5A544E"/>
                </a:solidFill>
                <a:latin typeface="Calibri" pitchFamily="34" charset="0"/>
                <a:ea typeface="Calibri" pitchFamily="34" charset="-122"/>
                <a:cs typeface="Calibri" pitchFamily="34" charset="-120"/>
              </a:rPr>
              <a:t>Priced from each</a:t>
            </a:r>
            <a:endParaRPr lang="en-US" sz="1100" dirty="0"/>
          </a:p>
          <a:p>
            <a:pPr indent="0" marL="0">
              <a:lnSpc>
                <a:spcPct val="115000"/>
              </a:lnSpc>
              <a:buNone/>
            </a:pPr>
            <a:r>
              <a:rPr lang="en-US" sz="1100" dirty="0">
                <a:solidFill>
                  <a:srgbClr val="5A544E"/>
                </a:solidFill>
                <a:latin typeface="Calibri" pitchFamily="34" charset="0"/>
                <a:ea typeface="Calibri" pitchFamily="34" charset="-122"/>
                <a:cs typeface="Calibri" pitchFamily="34" charset="-120"/>
              </a:rPr>
              <a:t>studio’s own rates</a:t>
            </a:r>
            <a:endParaRPr lang="en-US" sz="1100" dirty="0"/>
          </a:p>
        </p:txBody>
      </p:sp>
      <p:sp>
        <p:nvSpPr>
          <p:cNvPr id="19" name="Shape 17"/>
          <p:cNvSpPr/>
          <p:nvPr/>
        </p:nvSpPr>
        <p:spPr>
          <a:xfrm>
            <a:off x="6099048" y="2560320"/>
            <a:ext cx="1700784" cy="1828800"/>
          </a:xfrm>
          <a:prstGeom prst="roundRect">
            <a:avLst>
              <a:gd name="adj" fmla="val 4301"/>
            </a:avLst>
          </a:prstGeom>
          <a:solidFill>
            <a:srgbClr val="FBF7F0"/>
          </a:solidFill>
          <a:ln w="12700">
            <a:solidFill>
              <a:srgbClr val="E3DCD2"/>
            </a:solidFill>
            <a:prstDash val="solid"/>
          </a:ln>
        </p:spPr>
      </p:sp>
      <p:sp>
        <p:nvSpPr>
          <p:cNvPr id="20" name="Shape 18"/>
          <p:cNvSpPr/>
          <p:nvPr/>
        </p:nvSpPr>
        <p:spPr>
          <a:xfrm>
            <a:off x="6281928" y="2743200"/>
            <a:ext cx="384048" cy="384048"/>
          </a:xfrm>
          <a:prstGeom prst="ellipse">
            <a:avLst/>
          </a:prstGeom>
          <a:solidFill>
            <a:srgbClr val="1A6068"/>
          </a:solidFill>
          <a:ln/>
        </p:spPr>
      </p:sp>
      <p:sp>
        <p:nvSpPr>
          <p:cNvPr id="21" name="Text 19"/>
          <p:cNvSpPr txBox="1"/>
          <p:nvPr/>
        </p:nvSpPr>
        <p:spPr>
          <a:xfrm>
            <a:off x="6281928" y="2743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6281928" y="3246120"/>
            <a:ext cx="1335024" cy="329184"/>
          </a:xfrm>
          <a:prstGeom prst="rect">
            <a:avLst/>
          </a:prstGeom>
          <a:noFill/>
          <a:ln/>
        </p:spPr>
        <p:txBody>
          <a:bodyPr wrap="square" lIns="0" tIns="0" rIns="0" bIns="0" rtlCol="0" anchor="t"/>
          <a:lstStyle/>
          <a:p>
            <a:pPr indent="0" marL="0">
              <a:buNone/>
            </a:pPr>
            <a:r>
              <a:rPr lang="en-US" sz="1500" b="1" dirty="0">
                <a:solidFill>
                  <a:srgbClr val="2A2622"/>
                </a:solidFill>
                <a:latin typeface="Cambria" pitchFamily="34" charset="0"/>
                <a:ea typeface="Cambria" pitchFamily="34" charset="-122"/>
                <a:cs typeface="Cambria" pitchFamily="34" charset="-120"/>
              </a:rPr>
              <a:t>Compare</a:t>
            </a:r>
            <a:endParaRPr lang="en-US" sz="1500" dirty="0"/>
          </a:p>
        </p:txBody>
      </p:sp>
      <p:sp>
        <p:nvSpPr>
          <p:cNvPr id="23" name="Text 21"/>
          <p:cNvSpPr txBox="1"/>
          <p:nvPr/>
        </p:nvSpPr>
        <p:spPr>
          <a:xfrm>
            <a:off x="6281928" y="3602736"/>
            <a:ext cx="1335024" cy="713232"/>
          </a:xfrm>
          <a:prstGeom prst="rect">
            <a:avLst/>
          </a:prstGeom>
          <a:noFill/>
          <a:ln/>
        </p:spPr>
        <p:txBody>
          <a:bodyPr wrap="square" lIns="0" tIns="0" rIns="0" bIns="0" rtlCol="0" anchor="t"/>
          <a:lstStyle/>
          <a:p>
            <a:pPr indent="0" marL="0">
              <a:lnSpc>
                <a:spcPct val="115000"/>
              </a:lnSpc>
              <a:buNone/>
            </a:pPr>
            <a:r>
              <a:rPr lang="en-US" sz="1100" dirty="0">
                <a:solidFill>
                  <a:srgbClr val="5A544E"/>
                </a:solidFill>
                <a:latin typeface="Calibri" pitchFamily="34" charset="0"/>
                <a:ea typeface="Calibri" pitchFamily="34" charset="-122"/>
                <a:cs typeface="Calibri" pitchFamily="34" charset="-120"/>
              </a:rPr>
              <a:t>Side by side, plus a</a:t>
            </a:r>
            <a:endParaRPr lang="en-US" sz="1100" dirty="0"/>
          </a:p>
          <a:p>
            <a:pPr indent="0" marL="0">
              <a:lnSpc>
                <a:spcPct val="115000"/>
              </a:lnSpc>
              <a:buNone/>
            </a:pPr>
            <a:r>
              <a:rPr lang="en-US" sz="1100" dirty="0">
                <a:solidFill>
                  <a:srgbClr val="5A544E"/>
                </a:solidFill>
                <a:latin typeface="Calibri" pitchFamily="34" charset="0"/>
                <a:ea typeface="Calibri" pitchFamily="34" charset="-122"/>
                <a:cs typeface="Calibri" pitchFamily="34" charset="-120"/>
              </a:rPr>
              <a:t>link for the spouse</a:t>
            </a:r>
            <a:endParaRPr lang="en-US" sz="1100" dirty="0"/>
          </a:p>
        </p:txBody>
      </p:sp>
      <p:sp>
        <p:nvSpPr>
          <p:cNvPr id="24" name="Shape 22"/>
          <p:cNvSpPr/>
          <p:nvPr/>
        </p:nvSpPr>
        <p:spPr>
          <a:xfrm>
            <a:off x="7918704" y="2560320"/>
            <a:ext cx="1700784" cy="1828800"/>
          </a:xfrm>
          <a:prstGeom prst="roundRect">
            <a:avLst>
              <a:gd name="adj" fmla="val 4301"/>
            </a:avLst>
          </a:prstGeom>
          <a:solidFill>
            <a:srgbClr val="FBF7F0"/>
          </a:solidFill>
          <a:ln w="12700">
            <a:solidFill>
              <a:srgbClr val="E3DCD2"/>
            </a:solidFill>
            <a:prstDash val="solid"/>
          </a:ln>
        </p:spPr>
      </p:sp>
      <p:sp>
        <p:nvSpPr>
          <p:cNvPr id="25" name="Shape 23"/>
          <p:cNvSpPr/>
          <p:nvPr/>
        </p:nvSpPr>
        <p:spPr>
          <a:xfrm>
            <a:off x="8101584" y="2743200"/>
            <a:ext cx="384048" cy="384048"/>
          </a:xfrm>
          <a:prstGeom prst="ellipse">
            <a:avLst/>
          </a:prstGeom>
          <a:solidFill>
            <a:srgbClr val="1A6068"/>
          </a:solidFill>
          <a:ln/>
        </p:spPr>
      </p:sp>
      <p:sp>
        <p:nvSpPr>
          <p:cNvPr id="26" name="Text 24"/>
          <p:cNvSpPr txBox="1"/>
          <p:nvPr/>
        </p:nvSpPr>
        <p:spPr>
          <a:xfrm>
            <a:off x="8101584" y="2743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8101584" y="3246120"/>
            <a:ext cx="1335024" cy="329184"/>
          </a:xfrm>
          <a:prstGeom prst="rect">
            <a:avLst/>
          </a:prstGeom>
          <a:noFill/>
          <a:ln/>
        </p:spPr>
        <p:txBody>
          <a:bodyPr wrap="square" lIns="0" tIns="0" rIns="0" bIns="0" rtlCol="0" anchor="t"/>
          <a:lstStyle/>
          <a:p>
            <a:pPr indent="0" marL="0">
              <a:buNone/>
            </a:pPr>
            <a:r>
              <a:rPr lang="en-US" sz="1500" b="1" dirty="0">
                <a:solidFill>
                  <a:srgbClr val="2A2622"/>
                </a:solidFill>
                <a:latin typeface="Cambria" pitchFamily="34" charset="0"/>
                <a:ea typeface="Cambria" pitchFamily="34" charset="-122"/>
                <a:cs typeface="Cambria" pitchFamily="34" charset="-120"/>
              </a:rPr>
              <a:t>Prepare</a:t>
            </a:r>
            <a:endParaRPr lang="en-US" sz="1500" dirty="0"/>
          </a:p>
        </p:txBody>
      </p:sp>
      <p:sp>
        <p:nvSpPr>
          <p:cNvPr id="28" name="Text 26"/>
          <p:cNvSpPr txBox="1"/>
          <p:nvPr/>
        </p:nvSpPr>
        <p:spPr>
          <a:xfrm>
            <a:off x="8101584" y="3602736"/>
            <a:ext cx="1335024" cy="713232"/>
          </a:xfrm>
          <a:prstGeom prst="rect">
            <a:avLst/>
          </a:prstGeom>
          <a:noFill/>
          <a:ln/>
        </p:spPr>
        <p:txBody>
          <a:bodyPr wrap="square" lIns="0" tIns="0" rIns="0" bIns="0" rtlCol="0" anchor="t"/>
          <a:lstStyle/>
          <a:p>
            <a:pPr indent="0" marL="0">
              <a:lnSpc>
                <a:spcPct val="115000"/>
              </a:lnSpc>
              <a:buNone/>
            </a:pPr>
            <a:r>
              <a:rPr lang="en-US" sz="1100" dirty="0">
                <a:solidFill>
                  <a:srgbClr val="5A544E"/>
                </a:solidFill>
                <a:latin typeface="Calibri" pitchFamily="34" charset="0"/>
                <a:ea typeface="Calibri" pitchFamily="34" charset="-122"/>
                <a:cs typeface="Calibri" pitchFamily="34" charset="-120"/>
              </a:rPr>
              <a:t>Their own board</a:t>
            </a:r>
            <a:endParaRPr lang="en-US" sz="1100" dirty="0"/>
          </a:p>
          <a:p>
            <a:pPr indent="0" marL="0">
              <a:lnSpc>
                <a:spcPct val="115000"/>
              </a:lnSpc>
              <a:buNone/>
            </a:pPr>
            <a:r>
              <a:rPr lang="en-US" sz="1100" dirty="0">
                <a:solidFill>
                  <a:srgbClr val="5A544E"/>
                </a:solidFill>
                <a:latin typeface="Calibri" pitchFamily="34" charset="0"/>
                <a:ea typeface="Calibri" pitchFamily="34" charset="-122"/>
                <a:cs typeface="Calibri" pitchFamily="34" charset="-120"/>
              </a:rPr>
              <a:t>while they wait</a:t>
            </a:r>
            <a:endParaRPr lang="en-US" sz="1100" dirty="0"/>
          </a:p>
        </p:txBody>
      </p:sp>
      <p:sp>
        <p:nvSpPr>
          <p:cNvPr id="29" name="Shape 27"/>
          <p:cNvSpPr/>
          <p:nvPr/>
        </p:nvSpPr>
        <p:spPr>
          <a:xfrm>
            <a:off x="9738360" y="2560320"/>
            <a:ext cx="1700784" cy="1828800"/>
          </a:xfrm>
          <a:prstGeom prst="roundRect">
            <a:avLst>
              <a:gd name="adj" fmla="val 4301"/>
            </a:avLst>
          </a:prstGeom>
          <a:solidFill>
            <a:srgbClr val="FBF7F0"/>
          </a:solidFill>
          <a:ln w="12700">
            <a:solidFill>
              <a:srgbClr val="E3DCD2"/>
            </a:solidFill>
            <a:prstDash val="solid"/>
          </a:ln>
        </p:spPr>
      </p:sp>
      <p:sp>
        <p:nvSpPr>
          <p:cNvPr id="30" name="Shape 28"/>
          <p:cNvSpPr/>
          <p:nvPr/>
        </p:nvSpPr>
        <p:spPr>
          <a:xfrm>
            <a:off x="9921240" y="2743200"/>
            <a:ext cx="384048" cy="384048"/>
          </a:xfrm>
          <a:prstGeom prst="ellipse">
            <a:avLst/>
          </a:prstGeom>
          <a:solidFill>
            <a:srgbClr val="1A6068"/>
          </a:solidFill>
          <a:ln/>
        </p:spPr>
      </p:sp>
      <p:sp>
        <p:nvSpPr>
          <p:cNvPr id="31" name="Text 29"/>
          <p:cNvSpPr txBox="1"/>
          <p:nvPr/>
        </p:nvSpPr>
        <p:spPr>
          <a:xfrm>
            <a:off x="9921240" y="2743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9921240" y="3246120"/>
            <a:ext cx="1335024" cy="329184"/>
          </a:xfrm>
          <a:prstGeom prst="rect">
            <a:avLst/>
          </a:prstGeom>
          <a:noFill/>
          <a:ln/>
        </p:spPr>
        <p:txBody>
          <a:bodyPr wrap="square" lIns="0" tIns="0" rIns="0" bIns="0" rtlCol="0" anchor="t"/>
          <a:lstStyle/>
          <a:p>
            <a:pPr indent="0" marL="0">
              <a:buNone/>
            </a:pPr>
            <a:r>
              <a:rPr lang="en-US" sz="1500" b="1" dirty="0">
                <a:solidFill>
                  <a:srgbClr val="2A2622"/>
                </a:solidFill>
                <a:latin typeface="Cambria" pitchFamily="34" charset="0"/>
                <a:ea typeface="Cambria" pitchFamily="34" charset="-122"/>
                <a:cs typeface="Cambria" pitchFamily="34" charset="-120"/>
              </a:rPr>
              <a:t>Expert call</a:t>
            </a:r>
            <a:endParaRPr lang="en-US" sz="1500" dirty="0"/>
          </a:p>
        </p:txBody>
      </p:sp>
      <p:sp>
        <p:nvSpPr>
          <p:cNvPr id="33" name="Text 31"/>
          <p:cNvSpPr txBox="1"/>
          <p:nvPr/>
        </p:nvSpPr>
        <p:spPr>
          <a:xfrm>
            <a:off x="9921240" y="3602736"/>
            <a:ext cx="1335024" cy="713232"/>
          </a:xfrm>
          <a:prstGeom prst="rect">
            <a:avLst/>
          </a:prstGeom>
          <a:noFill/>
          <a:ln/>
        </p:spPr>
        <p:txBody>
          <a:bodyPr wrap="square" lIns="0" tIns="0" rIns="0" bIns="0" rtlCol="0" anchor="t"/>
          <a:lstStyle/>
          <a:p>
            <a:pPr indent="0" marL="0">
              <a:lnSpc>
                <a:spcPct val="115000"/>
              </a:lnSpc>
              <a:buNone/>
            </a:pPr>
            <a:r>
              <a:rPr lang="en-US" sz="1100" dirty="0">
                <a:solidFill>
                  <a:srgbClr val="5A544E"/>
                </a:solidFill>
                <a:latin typeface="Calibri" pitchFamily="34" charset="0"/>
                <a:ea typeface="Calibri" pitchFamily="34" charset="-122"/>
                <a:cs typeface="Calibri" pitchFamily="34" charset="-120"/>
              </a:rPr>
              <a:t>The only route to</a:t>
            </a:r>
            <a:endParaRPr lang="en-US" sz="1100" dirty="0"/>
          </a:p>
          <a:p>
            <a:pPr indent="0" marL="0">
              <a:lnSpc>
                <a:spcPct val="115000"/>
              </a:lnSpc>
              <a:buNone/>
            </a:pPr>
            <a:r>
              <a:rPr lang="en-US" sz="1100" dirty="0">
                <a:solidFill>
                  <a:srgbClr val="5A544E"/>
                </a:solidFill>
                <a:latin typeface="Calibri" pitchFamily="34" charset="0"/>
                <a:ea typeface="Calibri" pitchFamily="34" charset="-122"/>
                <a:cs typeface="Calibri" pitchFamily="34" charset="-120"/>
              </a:rPr>
              <a:t>an introduction</a:t>
            </a:r>
            <a:endParaRPr lang="en-US" sz="1100" dirty="0"/>
          </a:p>
        </p:txBody>
      </p:sp>
      <p:sp>
        <p:nvSpPr>
          <p:cNvPr id="34" name="Text 32"/>
          <p:cNvSpPr txBox="1"/>
          <p:nvPr/>
        </p:nvSpPr>
        <p:spPr>
          <a:xfrm>
            <a:off x="640080" y="4709160"/>
            <a:ext cx="2651760" cy="658368"/>
          </a:xfrm>
          <a:prstGeom prst="rect">
            <a:avLst/>
          </a:prstGeom>
          <a:noFill/>
          <a:ln/>
        </p:spPr>
        <p:txBody>
          <a:bodyPr wrap="square" lIns="0" tIns="0" rIns="0" bIns="0" rtlCol="0" anchor="ctr"/>
          <a:lstStyle/>
          <a:p>
            <a:pPr algn="l" indent="0" marL="0">
              <a:buNone/>
            </a:pPr>
            <a:r>
              <a:rPr lang="en-US" sz="3200" b="1" dirty="0">
                <a:solidFill>
                  <a:srgbClr val="1A6068"/>
                </a:solidFill>
                <a:latin typeface="Cambria" pitchFamily="34" charset="0"/>
                <a:ea typeface="Cambria" pitchFamily="34" charset="-122"/>
                <a:cs typeface="Cambria" pitchFamily="34" charset="-120"/>
              </a:rPr>
              <a:t>25 tables</a:t>
            </a:r>
            <a:endParaRPr lang="en-US" sz="3200" dirty="0"/>
          </a:p>
        </p:txBody>
      </p:sp>
      <p:sp>
        <p:nvSpPr>
          <p:cNvPr id="35" name="Text 33"/>
          <p:cNvSpPr txBox="1"/>
          <p:nvPr/>
        </p:nvSpPr>
        <p:spPr>
          <a:xfrm>
            <a:off x="640080" y="5349240"/>
            <a:ext cx="2651760" cy="566928"/>
          </a:xfrm>
          <a:prstGeom prst="rect">
            <a:avLst/>
          </a:prstGeom>
          <a:noFill/>
          <a:ln/>
        </p:spPr>
        <p:txBody>
          <a:bodyPr wrap="square" lIns="0" tIns="0" rIns="0" bIns="0" rtlCol="0" anchor="t"/>
          <a:lstStyle/>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Postgres, row-level security</a:t>
            </a:r>
            <a:endParaRPr lang="en-US" sz="1150" dirty="0"/>
          </a:p>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forced on every one</a:t>
            </a:r>
            <a:endParaRPr lang="en-US" sz="1150" dirty="0"/>
          </a:p>
        </p:txBody>
      </p:sp>
      <p:sp>
        <p:nvSpPr>
          <p:cNvPr id="36" name="Text 34"/>
          <p:cNvSpPr txBox="1"/>
          <p:nvPr/>
        </p:nvSpPr>
        <p:spPr>
          <a:xfrm>
            <a:off x="3364992" y="4709160"/>
            <a:ext cx="2651760" cy="658368"/>
          </a:xfrm>
          <a:prstGeom prst="rect">
            <a:avLst/>
          </a:prstGeom>
          <a:noFill/>
          <a:ln/>
        </p:spPr>
        <p:txBody>
          <a:bodyPr wrap="square" lIns="0" tIns="0" rIns="0" bIns="0" rtlCol="0" anchor="ctr"/>
          <a:lstStyle/>
          <a:p>
            <a:pPr algn="l" indent="0" marL="0">
              <a:buNone/>
            </a:pPr>
            <a:r>
              <a:rPr lang="en-US" sz="3200" b="1" dirty="0">
                <a:solidFill>
                  <a:srgbClr val="1A6068"/>
                </a:solidFill>
                <a:latin typeface="Cambria" pitchFamily="34" charset="0"/>
                <a:ea typeface="Cambria" pitchFamily="34" charset="-122"/>
                <a:cs typeface="Cambria" pitchFamily="34" charset="-120"/>
              </a:rPr>
              <a:t>354 tests</a:t>
            </a:r>
            <a:endParaRPr lang="en-US" sz="3200" dirty="0"/>
          </a:p>
        </p:txBody>
      </p:sp>
      <p:sp>
        <p:nvSpPr>
          <p:cNvPr id="37" name="Text 35"/>
          <p:cNvSpPr txBox="1"/>
          <p:nvPr/>
        </p:nvSpPr>
        <p:spPr>
          <a:xfrm>
            <a:off x="3364992" y="5349240"/>
            <a:ext cx="2651760" cy="566928"/>
          </a:xfrm>
          <a:prstGeom prst="rect">
            <a:avLst/>
          </a:prstGeom>
          <a:noFill/>
          <a:ln/>
        </p:spPr>
        <p:txBody>
          <a:bodyPr wrap="square" lIns="0" tIns="0" rIns="0" bIns="0" rtlCol="0" anchor="t"/>
          <a:lstStyle/>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Passing. Money and matching</a:t>
            </a:r>
            <a:endParaRPr lang="en-US" sz="1150" dirty="0"/>
          </a:p>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logic are unit-tested</a:t>
            </a:r>
            <a:endParaRPr lang="en-US" sz="1150" dirty="0"/>
          </a:p>
        </p:txBody>
      </p:sp>
      <p:sp>
        <p:nvSpPr>
          <p:cNvPr id="38" name="Text 36"/>
          <p:cNvSpPr txBox="1"/>
          <p:nvPr/>
        </p:nvSpPr>
        <p:spPr>
          <a:xfrm>
            <a:off x="6089904" y="4709160"/>
            <a:ext cx="2651760" cy="658368"/>
          </a:xfrm>
          <a:prstGeom prst="rect">
            <a:avLst/>
          </a:prstGeom>
          <a:noFill/>
          <a:ln/>
        </p:spPr>
        <p:txBody>
          <a:bodyPr wrap="square" lIns="0" tIns="0" rIns="0" bIns="0" rtlCol="0" anchor="ctr"/>
          <a:lstStyle/>
          <a:p>
            <a:pPr algn="l" indent="0" marL="0">
              <a:buNone/>
            </a:pPr>
            <a:r>
              <a:rPr lang="en-US" sz="3200" b="1" dirty="0">
                <a:solidFill>
                  <a:srgbClr val="1A6068"/>
                </a:solidFill>
                <a:latin typeface="Cambria" pitchFamily="34" charset="0"/>
                <a:ea typeface="Cambria" pitchFamily="34" charset="-122"/>
                <a:cs typeface="Cambria" pitchFamily="34" charset="-120"/>
              </a:rPr>
              <a:t>0 fabricated</a:t>
            </a:r>
            <a:endParaRPr lang="en-US" sz="3200" dirty="0"/>
          </a:p>
        </p:txBody>
      </p:sp>
      <p:sp>
        <p:nvSpPr>
          <p:cNvPr id="39" name="Text 37"/>
          <p:cNvSpPr txBox="1"/>
          <p:nvPr/>
        </p:nvSpPr>
        <p:spPr>
          <a:xfrm>
            <a:off x="6089904" y="5349240"/>
            <a:ext cx="2651760" cy="566928"/>
          </a:xfrm>
          <a:prstGeom prst="rect">
            <a:avLst/>
          </a:prstGeom>
          <a:noFill/>
          <a:ln/>
        </p:spPr>
        <p:txBody>
          <a:bodyPr wrap="square" lIns="0" tIns="0" rIns="0" bIns="0" rtlCol="0" anchor="t"/>
          <a:lstStyle/>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No fake reviews, no stars,</a:t>
            </a:r>
            <a:endParaRPr lang="en-US" sz="1150" dirty="0"/>
          </a:p>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no invented studios</a:t>
            </a:r>
            <a:endParaRPr lang="en-US" sz="1150" dirty="0"/>
          </a:p>
        </p:txBody>
      </p:sp>
      <p:sp>
        <p:nvSpPr>
          <p:cNvPr id="40" name="Text 38"/>
          <p:cNvSpPr txBox="1"/>
          <p:nvPr/>
        </p:nvSpPr>
        <p:spPr>
          <a:xfrm>
            <a:off x="8814816" y="4709160"/>
            <a:ext cx="2651760" cy="658368"/>
          </a:xfrm>
          <a:prstGeom prst="rect">
            <a:avLst/>
          </a:prstGeom>
          <a:noFill/>
          <a:ln/>
        </p:spPr>
        <p:txBody>
          <a:bodyPr wrap="square" lIns="0" tIns="0" rIns="0" bIns="0" rtlCol="0" anchor="ctr"/>
          <a:lstStyle/>
          <a:p>
            <a:pPr algn="l" indent="0" marL="0">
              <a:buNone/>
            </a:pPr>
            <a:r>
              <a:rPr lang="en-US" sz="3200" b="1" dirty="0">
                <a:solidFill>
                  <a:srgbClr val="1A6068"/>
                </a:solidFill>
                <a:latin typeface="Cambria" pitchFamily="34" charset="0"/>
                <a:ea typeface="Cambria" pitchFamily="34" charset="-122"/>
                <a:cs typeface="Cambria" pitchFamily="34" charset="-120"/>
              </a:rPr>
              <a:t>Live</a:t>
            </a:r>
            <a:endParaRPr lang="en-US" sz="3200" dirty="0"/>
          </a:p>
        </p:txBody>
      </p:sp>
      <p:sp>
        <p:nvSpPr>
          <p:cNvPr id="41" name="Text 39"/>
          <p:cNvSpPr txBox="1"/>
          <p:nvPr/>
        </p:nvSpPr>
        <p:spPr>
          <a:xfrm>
            <a:off x="8814816" y="5349240"/>
            <a:ext cx="2651760" cy="566928"/>
          </a:xfrm>
          <a:prstGeom prst="rect">
            <a:avLst/>
          </a:prstGeom>
          <a:noFill/>
          <a:ln/>
        </p:spPr>
        <p:txBody>
          <a:bodyPr wrap="square" lIns="0" tIns="0" rIns="0" bIns="0" rtlCol="0" anchor="t"/>
          <a:lstStyle/>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Deployed on Vercel in</a:t>
            </a:r>
            <a:endParaRPr lang="en-US" sz="1150" dirty="0"/>
          </a:p>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Mumbai, noindex until named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Feature 1 — The brief teaches the vocabulary.</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A first-time buyer cannot tell you what they want, because they do not know the words. So the questions do the teaching.</a:t>
            </a:r>
            <a:endParaRPr lang="en-US" sz="1700" dirty="0"/>
          </a:p>
        </p:txBody>
      </p:sp>
      <p:sp>
        <p:nvSpPr>
          <p:cNvPr id="4" name="Text 2"/>
          <p:cNvSpPr txBox="1"/>
          <p:nvPr/>
        </p:nvSpPr>
        <p:spPr>
          <a:xfrm>
            <a:off x="640080" y="2514600"/>
            <a:ext cx="5577840" cy="283464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450" dirty="0">
                <a:solidFill>
                  <a:srgbClr val="5A544E"/>
                </a:solidFill>
                <a:latin typeface="Calibri" pitchFamily="34" charset="0"/>
                <a:ea typeface="Calibri" pitchFamily="34" charset="-122"/>
                <a:cs typeface="Calibri" pitchFamily="34" charset="-120"/>
              </a:rPr>
              <a:t>Nine questions, one per screen, about three minutes.</a:t>
            </a:r>
            <a:endParaRPr lang="en-US" sz="1450" dirty="0"/>
          </a:p>
          <a:p>
            <a:pPr marL="342900" indent="-342900">
              <a:lnSpc>
                <a:spcPct val="120000"/>
              </a:lnSpc>
              <a:spcAft>
                <a:spcPts val="1000"/>
              </a:spcAft>
              <a:buSzPct val="100000"/>
              <a:buChar char="•"/>
            </a:pPr>
            <a:r>
              <a:rPr lang="en-US" sz="1450" dirty="0">
                <a:solidFill>
                  <a:srgbClr val="5A544E"/>
                </a:solidFill>
                <a:latin typeface="Calibri" pitchFamily="34" charset="0"/>
                <a:ea typeface="Calibri" pitchFamily="34" charset="-122"/>
                <a:cs typeface="Calibri" pitchFamily="34" charset="-120"/>
              </a:rPr>
              <a:t>Budget is not a text box. It is three bands priced for their own flat — they learn what their money buys before they name a number.</a:t>
            </a:r>
            <a:endParaRPr lang="en-US" sz="1450" dirty="0"/>
          </a:p>
          <a:p>
            <a:pPr marL="342900" indent="-342900">
              <a:lnSpc>
                <a:spcPct val="120000"/>
              </a:lnSpc>
              <a:spcAft>
                <a:spcPts val="1000"/>
              </a:spcAft>
              <a:buSzPct val="100000"/>
              <a:buChar char="•"/>
            </a:pPr>
            <a:r>
              <a:rPr lang="en-US" sz="1450" dirty="0">
                <a:solidFill>
                  <a:srgbClr val="5A544E"/>
                </a:solidFill>
                <a:latin typeface="Calibri" pitchFamily="34" charset="0"/>
                <a:ea typeface="Calibri" pitchFamily="34" charset="-122"/>
                <a:cs typeface="Calibri" pitchFamily="34" charset="-120"/>
              </a:rPr>
              <a:t>Styles are chosen as images. The style name is revealed only after they pick, which is how the vocabulary gets taught.</a:t>
            </a:r>
            <a:endParaRPr lang="en-US" sz="1450" dirty="0"/>
          </a:p>
          <a:p>
            <a:pPr marL="342900" indent="-342900">
              <a:lnSpc>
                <a:spcPct val="120000"/>
              </a:lnSpc>
              <a:spcAft>
                <a:spcPts val="1000"/>
              </a:spcAft>
              <a:buSzPct val="100000"/>
              <a:buChar char="•"/>
            </a:pPr>
            <a:r>
              <a:rPr lang="en-US" sz="1450" dirty="0">
                <a:solidFill>
                  <a:srgbClr val="5A544E"/>
                </a:solidFill>
                <a:latin typeface="Calibri" pitchFamily="34" charset="0"/>
                <a:ea typeface="Calibri" pitchFamily="34" charset="-122"/>
                <a:cs typeface="Calibri" pitchFamily="34" charset="-120"/>
              </a:rPr>
              <a:t>Question five asks what they would never want. That answer is a hard filter, not a weight — a studio matching it is removed outright.</a:t>
            </a:r>
            <a:endParaRPr lang="en-US" sz="1450" dirty="0"/>
          </a:p>
        </p:txBody>
      </p:sp>
      <p:sp>
        <p:nvSpPr>
          <p:cNvPr id="5" name="Shape 3"/>
          <p:cNvSpPr/>
          <p:nvPr/>
        </p:nvSpPr>
        <p:spPr>
          <a:xfrm>
            <a:off x="6583680" y="2514600"/>
            <a:ext cx="4965192" cy="2834640"/>
          </a:xfrm>
          <a:prstGeom prst="roundRect">
            <a:avLst>
              <a:gd name="adj" fmla="val 2581"/>
            </a:avLst>
          </a:prstGeom>
          <a:solidFill>
            <a:srgbClr val="1A6068"/>
          </a:solidFill>
          <a:ln w="12700">
            <a:solidFill>
              <a:srgbClr val="E3DCD2"/>
            </a:solidFill>
            <a:prstDash val="solid"/>
          </a:ln>
        </p:spPr>
      </p:sp>
      <p:sp>
        <p:nvSpPr>
          <p:cNvPr id="6" name="Text 4"/>
          <p:cNvSpPr txBox="1"/>
          <p:nvPr/>
        </p:nvSpPr>
        <p:spPr>
          <a:xfrm>
            <a:off x="6903720" y="2788920"/>
            <a:ext cx="4325112" cy="45720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Works today with zero studios</a:t>
            </a:r>
            <a:endParaRPr lang="en-US" sz="1900" dirty="0"/>
          </a:p>
        </p:txBody>
      </p:sp>
      <p:sp>
        <p:nvSpPr>
          <p:cNvPr id="7" name="Text 5"/>
          <p:cNvSpPr txBox="1"/>
          <p:nvPr/>
        </p:nvSpPr>
        <p:spPr>
          <a:xfrm>
            <a:off x="6903720" y="3337560"/>
            <a:ext cx="4325112" cy="1783080"/>
          </a:xfrm>
          <a:prstGeom prst="rect">
            <a:avLst/>
          </a:prstGeom>
          <a:noFill/>
          <a:ln/>
        </p:spPr>
        <p:txBody>
          <a:bodyPr wrap="square" lIns="0" tIns="0" rIns="0" bIns="0" rtlCol="0" anchor="t"/>
          <a:lstStyle/>
          <a:p>
            <a:pPr indent="0" marL="0">
              <a:lnSpc>
                <a:spcPct val="125000"/>
              </a:lnSpc>
              <a:buNone/>
            </a:pPr>
            <a:r>
              <a:rPr lang="en-US" sz="1300" dirty="0">
                <a:solidFill>
                  <a:srgbClr val="DCEAEB"/>
                </a:solidFill>
                <a:latin typeface="Calibri" pitchFamily="34" charset="0"/>
                <a:ea typeface="Calibri" pitchFamily="34" charset="-122"/>
                <a:cs typeface="Calibri" pitchFamily="34" charset="-120"/>
              </a:rPr>
              <a:t>The cost bands are ours, not any studio’s. So on day one — before a single studio is live — a homeowner still gets a real answer to the question they arrived with: what does my flat actually cost at three levels of finish.</a:t>
            </a:r>
            <a:endParaRPr lang="en-US" sz="1300" dirty="0"/>
          </a:p>
          <a:p>
            <a:pPr indent="0" marL="0">
              <a:lnSpc>
                <a:spcPct val="125000"/>
              </a:lnSpc>
              <a:buNone/>
            </a:pPr>
            <a:endParaRPr lang="en-US" sz="1300" dirty="0"/>
          </a:p>
          <a:p>
            <a:pPr indent="0" marL="0">
              <a:lnSpc>
                <a:spcPct val="125000"/>
              </a:lnSpc>
              <a:buNone/>
            </a:pPr>
            <a:r>
              <a:rPr lang="en-US" sz="1300" dirty="0">
                <a:solidFill>
                  <a:srgbClr val="DCEAEB"/>
                </a:solidFill>
                <a:latin typeface="Calibri" pitchFamily="34" charset="0"/>
                <a:ea typeface="Calibri" pitchFamily="34" charset="-122"/>
                <a:cs typeface="Calibri" pitchFamily="34" charset="-120"/>
              </a:rPr>
              <a:t>Nobody else in Pune publishes that number.</a:t>
            </a:r>
            <a:endParaRPr lang="en-US" sz="1300" dirty="0"/>
          </a:p>
        </p:txBody>
      </p:sp>
      <p:sp>
        <p:nvSpPr>
          <p:cNvPr id="8" name="Text 6"/>
          <p:cNvSpPr txBox="1"/>
          <p:nvPr/>
        </p:nvSpPr>
        <p:spPr>
          <a:xfrm>
            <a:off x="640080" y="6108192"/>
            <a:ext cx="10908792" cy="411480"/>
          </a:xfrm>
          <a:prstGeom prst="rect">
            <a:avLst/>
          </a:prstGeom>
          <a:noFill/>
          <a:ln/>
        </p:spPr>
        <p:txBody>
          <a:bodyPr wrap="square" lIns="0" tIns="0" rIns="0" bIns="0" rtlCol="0" anchor="t"/>
          <a:lstStyle/>
          <a:p>
            <a:pPr indent="0" marL="0">
              <a:buNone/>
            </a:pPr>
            <a:r>
              <a:rPr lang="en-US" sz="1050" i="1" dirty="0">
                <a:solidFill>
                  <a:srgbClr val="8B847C"/>
                </a:solidFill>
                <a:latin typeface="Calibri" pitchFamily="34" charset="0"/>
                <a:ea typeface="Calibri" pitchFamily="34" charset="-122"/>
                <a:cs typeface="Calibri" pitchFamily="34" charset="-120"/>
              </a:rPr>
              <a:t>Completion rate is one of the four numbers the first month exists to measure. Below 40% the problem is the quiz, not the market — and the funnel view names the exact question losing people.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Feature 2 — Matches that explain themselves.</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A percentage with no reasoning is a slot machine. Every match is shown with the sentence behind it.</a:t>
            </a:r>
            <a:endParaRPr lang="en-US" sz="1700" dirty="0"/>
          </a:p>
        </p:txBody>
      </p:sp>
      <p:sp>
        <p:nvSpPr>
          <p:cNvPr id="4" name="Shape 2"/>
          <p:cNvSpPr/>
          <p:nvPr/>
        </p:nvSpPr>
        <p:spPr>
          <a:xfrm>
            <a:off x="640080" y="2468880"/>
            <a:ext cx="10908792" cy="1234440"/>
          </a:xfrm>
          <a:prstGeom prst="roundRect">
            <a:avLst>
              <a:gd name="adj" fmla="val 5926"/>
            </a:avLst>
          </a:prstGeom>
          <a:solidFill>
            <a:srgbClr val="FBF7F0"/>
          </a:solidFill>
          <a:ln w="12700">
            <a:solidFill>
              <a:srgbClr val="E3DCD2"/>
            </a:solidFill>
            <a:prstDash val="solid"/>
          </a:ln>
        </p:spPr>
      </p:sp>
      <p:sp>
        <p:nvSpPr>
          <p:cNvPr id="5" name="Text 3"/>
          <p:cNvSpPr txBox="1"/>
          <p:nvPr/>
        </p:nvSpPr>
        <p:spPr>
          <a:xfrm>
            <a:off x="932688" y="2651760"/>
            <a:ext cx="10323576" cy="868680"/>
          </a:xfrm>
          <a:prstGeom prst="rect">
            <a:avLst/>
          </a:prstGeom>
          <a:noFill/>
          <a:ln/>
        </p:spPr>
        <p:txBody>
          <a:bodyPr wrap="square" lIns="0" tIns="0" rIns="0" bIns="0" rtlCol="0" anchor="t"/>
          <a:lstStyle/>
          <a:p>
            <a:pPr indent="0" marL="0">
              <a:lnSpc>
                <a:spcPct val="125000"/>
              </a:lnSpc>
              <a:buNone/>
            </a:pPr>
            <a:r>
              <a:rPr lang="en-US" sz="1600" i="1" dirty="0">
                <a:solidFill>
                  <a:srgbClr val="2A2622"/>
                </a:solidFill>
                <a:latin typeface="Cambria" pitchFamily="34" charset="0"/>
                <a:ea typeface="Cambria" pitchFamily="34" charset="-122"/>
                <a:cs typeface="Cambria" pitchFamily="34" charset="-120"/>
              </a:rPr>
              <a:t>“88% match — because you leaned toward Warm Minimalist and most of their work sits there; the projects they have actually delivered land in your range; they have finished two homes in Baner.”</a:t>
            </a:r>
            <a:endParaRPr lang="en-US" sz="1600" dirty="0"/>
          </a:p>
        </p:txBody>
      </p:sp>
      <p:sp>
        <p:nvSpPr>
          <p:cNvPr id="6" name="Shape 4"/>
          <p:cNvSpPr/>
          <p:nvPr/>
        </p:nvSpPr>
        <p:spPr>
          <a:xfrm>
            <a:off x="640080" y="3968496"/>
            <a:ext cx="420624" cy="420624"/>
          </a:xfrm>
          <a:prstGeom prst="ellipse">
            <a:avLst/>
          </a:prstGeom>
          <a:solidFill>
            <a:srgbClr val="1A6068"/>
          </a:solidFill>
          <a:ln/>
        </p:spPr>
      </p:sp>
      <p:sp>
        <p:nvSpPr>
          <p:cNvPr id="7" name="Text 5"/>
          <p:cNvSpPr txBox="1"/>
          <p:nvPr/>
        </p:nvSpPr>
        <p:spPr>
          <a:xfrm>
            <a:off x="640080" y="39684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261872" y="3931920"/>
            <a:ext cx="449884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It admits what it could not measure</a:t>
            </a:r>
            <a:endParaRPr lang="en-US" sz="1500" dirty="0"/>
          </a:p>
        </p:txBody>
      </p:sp>
      <p:sp>
        <p:nvSpPr>
          <p:cNvPr id="9" name="Text 7"/>
          <p:cNvSpPr txBox="1"/>
          <p:nvPr/>
        </p:nvSpPr>
        <p:spPr>
          <a:xfrm>
            <a:off x="1261872" y="4261104"/>
            <a:ext cx="4498848" cy="86868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Each card says “4 of 6 factors measured”. A studio with no delivery record must never look like one with a terrible record.</a:t>
            </a:r>
            <a:endParaRPr lang="en-US" sz="1300" dirty="0"/>
          </a:p>
        </p:txBody>
      </p:sp>
      <p:sp>
        <p:nvSpPr>
          <p:cNvPr id="10" name="Shape 8"/>
          <p:cNvSpPr/>
          <p:nvPr/>
        </p:nvSpPr>
        <p:spPr>
          <a:xfrm>
            <a:off x="6428232" y="3968496"/>
            <a:ext cx="420624" cy="420624"/>
          </a:xfrm>
          <a:prstGeom prst="ellipse">
            <a:avLst/>
          </a:prstGeom>
          <a:solidFill>
            <a:srgbClr val="1A6068"/>
          </a:solidFill>
          <a:ln/>
        </p:spPr>
      </p:sp>
      <p:sp>
        <p:nvSpPr>
          <p:cNvPr id="11" name="Text 9"/>
          <p:cNvSpPr txBox="1"/>
          <p:nvPr/>
        </p:nvSpPr>
        <p:spPr>
          <a:xfrm>
            <a:off x="6428232" y="39684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2" name="Text 10"/>
          <p:cNvSpPr txBox="1"/>
          <p:nvPr/>
        </p:nvSpPr>
        <p:spPr>
          <a:xfrm>
            <a:off x="7050024" y="3931920"/>
            <a:ext cx="449884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Absent data renders as the reason</a:t>
            </a:r>
            <a:endParaRPr lang="en-US" sz="1500" dirty="0"/>
          </a:p>
        </p:txBody>
      </p:sp>
      <p:sp>
        <p:nvSpPr>
          <p:cNvPr id="13" name="Text 11"/>
          <p:cNvSpPr txBox="1"/>
          <p:nvPr/>
        </p:nvSpPr>
        <p:spPr>
          <a:xfrm>
            <a:off x="7050024" y="4261104"/>
            <a:ext cx="4498848" cy="86868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“Not enough data yet” — never 0%. That single rule is most of what stops a new roster from looking like a failing one.</a:t>
            </a:r>
            <a:endParaRPr lang="en-US" sz="1300" dirty="0"/>
          </a:p>
        </p:txBody>
      </p:sp>
      <p:sp>
        <p:nvSpPr>
          <p:cNvPr id="14" name="Text 12"/>
          <p:cNvSpPr txBox="1"/>
          <p:nvPr/>
        </p:nvSpPr>
        <p:spPr>
          <a:xfrm>
            <a:off x="640080" y="6108192"/>
            <a:ext cx="10908792" cy="411480"/>
          </a:xfrm>
          <a:prstGeom prst="rect">
            <a:avLst/>
          </a:prstGeom>
          <a:noFill/>
          <a:ln/>
        </p:spPr>
        <p:txBody>
          <a:bodyPr wrap="square" lIns="0" tIns="0" rIns="0" bIns="0" rtlCol="0" anchor="t"/>
          <a:lstStyle/>
          <a:p>
            <a:pPr indent="0" marL="0">
              <a:buNone/>
            </a:pPr>
            <a:r>
              <a:rPr lang="en-US" sz="1050" i="1" dirty="0">
                <a:solidFill>
                  <a:srgbClr val="8B847C"/>
                </a:solidFill>
                <a:latin typeface="Calibri" pitchFamily="34" charset="0"/>
                <a:ea typeface="Calibri" pitchFamily="34" charset="-122"/>
                <a:cs typeface="Calibri" pitchFamily="34" charset="-120"/>
              </a:rPr>
              <a:t>The matching engine reads exactly one commercial field about a studio, and that field can only ever remove them from results. A test fails the build if the engine so much as mentions the words sponsored, featured, promoted or boost.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Feature 3 — A real price, from a real rate card.</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Every quote is built room by room from that studio’s own rates, with the modular and non-modular split, and every assumption stated.</a:t>
            </a:r>
            <a:endParaRPr lang="en-US" sz="1700" dirty="0"/>
          </a:p>
        </p:txBody>
      </p:sp>
      <p:sp>
        <p:nvSpPr>
          <p:cNvPr id="4" name="Text 2"/>
          <p:cNvSpPr txBox="1"/>
          <p:nvPr/>
        </p:nvSpPr>
        <p:spPr>
          <a:xfrm>
            <a:off x="640080" y="2560320"/>
            <a:ext cx="5577840" cy="228600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450" dirty="0">
                <a:solidFill>
                  <a:srgbClr val="5A544E"/>
                </a:solidFill>
                <a:latin typeface="Calibri" pitchFamily="34" charset="0"/>
                <a:ea typeface="Calibri" pitchFamily="34" charset="-122"/>
                <a:cs typeface="Calibri" pitchFamily="34" charset="-120"/>
              </a:rPr>
              <a:t>Always a range, never a single number — nobody has visited the flat.</a:t>
            </a:r>
            <a:endParaRPr lang="en-US" sz="1450" dirty="0"/>
          </a:p>
          <a:p>
            <a:pPr marL="342900" indent="-342900">
              <a:lnSpc>
                <a:spcPct val="120000"/>
              </a:lnSpc>
              <a:spcAft>
                <a:spcPts val="1000"/>
              </a:spcAft>
              <a:buSzPct val="100000"/>
              <a:buChar char="•"/>
            </a:pPr>
            <a:r>
              <a:rPr lang="en-US" sz="1450" dirty="0">
                <a:solidFill>
                  <a:srgbClr val="5A544E"/>
                </a:solidFill>
                <a:latin typeface="Calibri" pitchFamily="34" charset="0"/>
                <a:ea typeface="Calibri" pitchFamily="34" charset="-122"/>
                <a:cs typeface="Calibri" pitchFamily="34" charset="-120"/>
              </a:rPr>
              <a:t>The range states its own spread, and names the one thing that would narrow it most.</a:t>
            </a:r>
            <a:endParaRPr lang="en-US" sz="1450" dirty="0"/>
          </a:p>
          <a:p>
            <a:pPr marL="342900" indent="-342900">
              <a:lnSpc>
                <a:spcPct val="120000"/>
              </a:lnSpc>
              <a:spcAft>
                <a:spcPts val="1000"/>
              </a:spcAft>
              <a:buSzPct val="100000"/>
              <a:buChar char="•"/>
            </a:pPr>
            <a:r>
              <a:rPr lang="en-US" sz="1450" dirty="0">
                <a:solidFill>
                  <a:srgbClr val="5A544E"/>
                </a:solidFill>
                <a:latin typeface="Calibri" pitchFamily="34" charset="0"/>
                <a:ea typeface="Calibri" pitchFamily="34" charset="-122"/>
                <a:cs typeface="Calibri" pitchFamily="34" charset="-120"/>
              </a:rPr>
              <a:t>Uploading a floor plan and a real carpet area is worth a genuine, computed improvement — not a marketing claim.</a:t>
            </a:r>
            <a:endParaRPr lang="en-US" sz="1450" dirty="0"/>
          </a:p>
        </p:txBody>
      </p:sp>
      <p:sp>
        <p:nvSpPr>
          <p:cNvPr id="5" name="Shape 3"/>
          <p:cNvSpPr/>
          <p:nvPr/>
        </p:nvSpPr>
        <p:spPr>
          <a:xfrm>
            <a:off x="6583680" y="2560320"/>
            <a:ext cx="4965192" cy="2286000"/>
          </a:xfrm>
          <a:prstGeom prst="roundRect">
            <a:avLst>
              <a:gd name="adj" fmla="val 3200"/>
            </a:avLst>
          </a:prstGeom>
          <a:solidFill>
            <a:srgbClr val="FAEDE6"/>
          </a:solidFill>
          <a:ln w="12700">
            <a:solidFill>
              <a:srgbClr val="E8C9B8"/>
            </a:solidFill>
            <a:prstDash val="solid"/>
          </a:ln>
        </p:spPr>
      </p:sp>
      <p:sp>
        <p:nvSpPr>
          <p:cNvPr id="6" name="Text 4"/>
          <p:cNvSpPr txBox="1"/>
          <p:nvPr/>
        </p:nvSpPr>
        <p:spPr>
          <a:xfrm>
            <a:off x="6903720" y="2788920"/>
            <a:ext cx="4325112" cy="384048"/>
          </a:xfrm>
          <a:prstGeom prst="rect">
            <a:avLst/>
          </a:prstGeom>
          <a:noFill/>
          <a:ln/>
        </p:spPr>
        <p:txBody>
          <a:bodyPr wrap="square" lIns="0" tIns="0" rIns="0" bIns="0" rtlCol="0" anchor="t"/>
          <a:lstStyle/>
          <a:p>
            <a:pPr indent="0" marL="0">
              <a:buNone/>
            </a:pPr>
            <a:r>
              <a:rPr lang="en-US" sz="1700" b="1" dirty="0">
                <a:solidFill>
                  <a:srgbClr val="BC6440"/>
                </a:solidFill>
                <a:latin typeface="Cambria" pitchFamily="34" charset="0"/>
                <a:ea typeface="Cambria" pitchFamily="34" charset="-122"/>
                <a:cs typeface="Cambria" pitchFamily="34" charset="-120"/>
              </a:rPr>
              <a:t>What the product refuses to do</a:t>
            </a:r>
            <a:endParaRPr lang="en-US" sz="1700" dirty="0"/>
          </a:p>
        </p:txBody>
      </p:sp>
      <p:sp>
        <p:nvSpPr>
          <p:cNvPr id="7" name="Text 5"/>
          <p:cNvSpPr txBox="1"/>
          <p:nvPr/>
        </p:nvSpPr>
        <p:spPr>
          <a:xfrm>
            <a:off x="6903720" y="3246120"/>
            <a:ext cx="4325112" cy="1463040"/>
          </a:xfrm>
          <a:prstGeom prst="rect">
            <a:avLst/>
          </a:prstGeom>
          <a:noFill/>
          <a:ln/>
        </p:spPr>
        <p:txBody>
          <a:bodyPr wrap="square" lIns="0" tIns="0" rIns="0" bIns="0" rtlCol="0" anchor="t"/>
          <a:lstStyle/>
          <a:p>
            <a:pPr indent="0" marL="0">
              <a:lnSpc>
                <a:spcPct val="122000"/>
              </a:lnSpc>
              <a:buNone/>
            </a:pPr>
            <a:r>
              <a:rPr lang="en-US" sz="1250" dirty="0">
                <a:solidFill>
                  <a:srgbClr val="2A2622"/>
                </a:solidFill>
                <a:latin typeface="Calibri" pitchFamily="34" charset="0"/>
                <a:ea typeface="Calibri" pitchFamily="34" charset="-122"/>
                <a:cs typeface="Calibri" pitchFamily="34" charset="-120"/>
              </a:rPr>
              <a:t>On 16 September this product cannot produce a quote. Not because of a bug — because no studio has entered a rate card, and the pricing code refuses to invent one.</a:t>
            </a:r>
            <a:endParaRPr lang="en-US" sz="1250" dirty="0"/>
          </a:p>
          <a:p>
            <a:pPr indent="0" marL="0">
              <a:lnSpc>
                <a:spcPct val="122000"/>
              </a:lnSpc>
              <a:buNone/>
            </a:pPr>
            <a:endParaRPr lang="en-US" sz="1250" dirty="0"/>
          </a:p>
          <a:p>
            <a:pPr indent="0" marL="0">
              <a:lnSpc>
                <a:spcPct val="122000"/>
              </a:lnSpc>
              <a:buNone/>
            </a:pPr>
            <a:r>
              <a:rPr lang="en-US" sz="1250" dirty="0">
                <a:solidFill>
                  <a:srgbClr val="2A2622"/>
                </a:solidFill>
                <a:latin typeface="Calibri" pitchFamily="34" charset="0"/>
                <a:ea typeface="Calibri" pitchFamily="34" charset="-122"/>
                <a:cs typeface="Calibri" pitchFamily="34" charset="-120"/>
              </a:rPr>
              <a:t>That refusal is the entire trust proposition. It is also why the headline promise is six weeks away rather than available on launch day.</a:t>
            </a:r>
            <a:endParaRPr lang="en-US" sz="1250" dirty="0"/>
          </a:p>
        </p:txBody>
      </p:sp>
      <p:sp>
        <p:nvSpPr>
          <p:cNvPr id="8" name="Text 6"/>
          <p:cNvSpPr txBox="1"/>
          <p:nvPr/>
        </p:nvSpPr>
        <p:spPr>
          <a:xfrm>
            <a:off x="640080" y="5074920"/>
            <a:ext cx="10908792" cy="502920"/>
          </a:xfrm>
          <a:prstGeom prst="rect">
            <a:avLst/>
          </a:prstGeom>
          <a:noFill/>
          <a:ln/>
        </p:spPr>
        <p:txBody>
          <a:bodyPr wrap="square" lIns="0" tIns="0" rIns="0" bIns="0" rtlCol="0" anchor="t"/>
          <a:lstStyle/>
          <a:p>
            <a:pPr indent="0" marL="0">
              <a:buNone/>
            </a:pPr>
            <a:r>
              <a:rPr lang="en-US" sz="1900" b="1" dirty="0">
                <a:solidFill>
                  <a:srgbClr val="2A2622"/>
                </a:solidFill>
                <a:latin typeface="Cambria" pitchFamily="34" charset="0"/>
                <a:ea typeface="Cambria" pitchFamily="34" charset="-122"/>
                <a:cs typeface="Cambria" pitchFamily="34" charset="-120"/>
              </a:rPr>
              <a:t>Twenty minutes with one studio unblocks it. That is the single highest-leverage action in the whole plan.</a:t>
            </a:r>
            <a:endParaRPr lang="en-US" sz="1900" dirty="0"/>
          </a:p>
        </p:txBody>
      </p:sp>
      <p:sp>
        <p:nvSpPr>
          <p:cNvPr id="9" name="Text 7"/>
          <p:cNvSpPr txBox="1"/>
          <p:nvPr/>
        </p:nvSpPr>
        <p:spPr>
          <a:xfrm>
            <a:off x="640080" y="6108192"/>
            <a:ext cx="10908792" cy="411480"/>
          </a:xfrm>
          <a:prstGeom prst="rect">
            <a:avLst/>
          </a:prstGeom>
          <a:noFill/>
          <a:ln/>
        </p:spPr>
        <p:txBody>
          <a:bodyPr wrap="square" lIns="0" tIns="0" rIns="0" bIns="0" rtlCol="0" anchor="t"/>
          <a:lstStyle/>
          <a:p>
            <a:pPr indent="0" marL="0">
              <a:buNone/>
            </a:pPr>
            <a:r>
              <a:rPr lang="en-US" sz="1050" i="1" dirty="0">
                <a:solidFill>
                  <a:srgbClr val="8B847C"/>
                </a:solidFill>
                <a:latin typeface="Calibri" pitchFamily="34" charset="0"/>
                <a:ea typeface="Calibri" pitchFamily="34" charset="-122"/>
                <a:cs typeface="Calibri" pitchFamily="34" charset="-120"/>
              </a:rPr>
              <a:t>Publishing the unflattering numbers — days past committed date, disputes upheld — is the same principle applied to studios rather than to prices.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Feature 4 — There is no “contact this studio” button.</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Anywhere. Every introduction in the product runs through a call with our own expert first. That is the quality control, and it is what the fee is for.</a:t>
            </a:r>
            <a:endParaRPr lang="en-US" sz="1700" dirty="0"/>
          </a:p>
        </p:txBody>
      </p:sp>
      <p:sp>
        <p:nvSpPr>
          <p:cNvPr id="4" name="Shape 2"/>
          <p:cNvSpPr/>
          <p:nvPr/>
        </p:nvSpPr>
        <p:spPr>
          <a:xfrm>
            <a:off x="640080" y="2642616"/>
            <a:ext cx="420624" cy="420624"/>
          </a:xfrm>
          <a:prstGeom prst="ellipse">
            <a:avLst/>
          </a:prstGeom>
          <a:solidFill>
            <a:srgbClr val="1A6068"/>
          </a:solidFill>
          <a:ln/>
        </p:spPr>
      </p:sp>
      <p:sp>
        <p:nvSpPr>
          <p:cNvPr id="5" name="Text 3"/>
          <p:cNvSpPr txBox="1"/>
          <p:nvPr/>
        </p:nvSpPr>
        <p:spPr>
          <a:xfrm>
            <a:off x="640080" y="26426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61872" y="2606040"/>
            <a:ext cx="449884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The expert arrives briefed</a:t>
            </a:r>
            <a:endParaRPr lang="en-US" sz="1500" dirty="0"/>
          </a:p>
        </p:txBody>
      </p:sp>
      <p:sp>
        <p:nvSpPr>
          <p:cNvPr id="7" name="Text 5"/>
          <p:cNvSpPr txBox="1"/>
          <p:nvPr/>
        </p:nvSpPr>
        <p:spPr>
          <a:xfrm>
            <a:off x="1261872" y="2935224"/>
            <a:ext cx="449884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They have read the brief, the floor plan, every quote on the comparison and the board the customer built. The customer never explains their flat twice.</a:t>
            </a:r>
            <a:endParaRPr lang="en-US" sz="1300" dirty="0"/>
          </a:p>
        </p:txBody>
      </p:sp>
      <p:sp>
        <p:nvSpPr>
          <p:cNvPr id="8" name="Shape 6"/>
          <p:cNvSpPr/>
          <p:nvPr/>
        </p:nvSpPr>
        <p:spPr>
          <a:xfrm>
            <a:off x="640080" y="3922776"/>
            <a:ext cx="420624" cy="420624"/>
          </a:xfrm>
          <a:prstGeom prst="ellipse">
            <a:avLst/>
          </a:prstGeom>
          <a:solidFill>
            <a:srgbClr val="1A6068"/>
          </a:solidFill>
          <a:ln/>
        </p:spPr>
      </p:sp>
      <p:sp>
        <p:nvSpPr>
          <p:cNvPr id="9" name="Text 7"/>
          <p:cNvSpPr txBox="1"/>
          <p:nvPr/>
        </p:nvSpPr>
        <p:spPr>
          <a:xfrm>
            <a:off x="640080" y="39227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261872" y="3886200"/>
            <a:ext cx="449884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We are paid by the studio</a:t>
            </a:r>
            <a:endParaRPr lang="en-US" sz="1500" dirty="0"/>
          </a:p>
        </p:txBody>
      </p:sp>
      <p:sp>
        <p:nvSpPr>
          <p:cNvPr id="11" name="Text 9"/>
          <p:cNvSpPr txBox="1"/>
          <p:nvPr/>
        </p:nvSpPr>
        <p:spPr>
          <a:xfrm>
            <a:off x="1261872" y="4215384"/>
            <a:ext cx="449884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Which is exactly why the expert will say none of these fit, and go back to the roster, when that is the honest read.</a:t>
            </a:r>
            <a:endParaRPr lang="en-US" sz="1300" dirty="0"/>
          </a:p>
        </p:txBody>
      </p:sp>
      <p:sp>
        <p:nvSpPr>
          <p:cNvPr id="12" name="Shape 10"/>
          <p:cNvSpPr/>
          <p:nvPr/>
        </p:nvSpPr>
        <p:spPr>
          <a:xfrm>
            <a:off x="6428232" y="2642616"/>
            <a:ext cx="420624" cy="420624"/>
          </a:xfrm>
          <a:prstGeom prst="ellipse">
            <a:avLst/>
          </a:prstGeom>
          <a:solidFill>
            <a:srgbClr val="1A6068"/>
          </a:solidFill>
          <a:ln/>
        </p:spPr>
      </p:sp>
      <p:sp>
        <p:nvSpPr>
          <p:cNvPr id="13" name="Text 11"/>
          <p:cNvSpPr txBox="1"/>
          <p:nvPr/>
        </p:nvSpPr>
        <p:spPr>
          <a:xfrm>
            <a:off x="6428232" y="264261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7050024" y="2606040"/>
            <a:ext cx="449884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It is also the ceiling</a:t>
            </a:r>
            <a:endParaRPr lang="en-US" sz="1500" dirty="0"/>
          </a:p>
        </p:txBody>
      </p:sp>
      <p:sp>
        <p:nvSpPr>
          <p:cNvPr id="15" name="Text 13"/>
          <p:cNvSpPr txBox="1"/>
          <p:nvPr/>
        </p:nvSpPr>
        <p:spPr>
          <a:xfrm>
            <a:off x="7050024" y="2935224"/>
            <a:ext cx="449884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About 0.9 full-time experts in year one, 3.5 in year two. We cannot close more projects than experts can hold calls for.</a:t>
            </a:r>
            <a:endParaRPr lang="en-US" sz="1300" dirty="0"/>
          </a:p>
        </p:txBody>
      </p:sp>
      <p:sp>
        <p:nvSpPr>
          <p:cNvPr id="16" name="Shape 14"/>
          <p:cNvSpPr/>
          <p:nvPr/>
        </p:nvSpPr>
        <p:spPr>
          <a:xfrm>
            <a:off x="6428232" y="3922776"/>
            <a:ext cx="420624" cy="420624"/>
          </a:xfrm>
          <a:prstGeom prst="ellipse">
            <a:avLst/>
          </a:prstGeom>
          <a:solidFill>
            <a:srgbClr val="1A6068"/>
          </a:solidFill>
          <a:ln/>
        </p:spPr>
      </p:sp>
      <p:sp>
        <p:nvSpPr>
          <p:cNvPr id="17" name="Text 15"/>
          <p:cNvSpPr txBox="1"/>
          <p:nvPr/>
        </p:nvSpPr>
        <p:spPr>
          <a:xfrm>
            <a:off x="6428232" y="39227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7050024" y="3886200"/>
            <a:ext cx="4498848" cy="310896"/>
          </a:xfrm>
          <a:prstGeom prst="rect">
            <a:avLst/>
          </a:prstGeom>
          <a:noFill/>
          <a:ln/>
        </p:spPr>
        <p:txBody>
          <a:bodyPr wrap="square" lIns="0" tIns="0" rIns="0" bIns="0" rtlCol="0" anchor="t"/>
          <a:lstStyle/>
          <a:p>
            <a:pPr indent="0" marL="0">
              <a:buNone/>
            </a:pPr>
            <a:r>
              <a:rPr lang="en-US" sz="1500" b="1" dirty="0">
                <a:solidFill>
                  <a:srgbClr val="2A2622"/>
                </a:solidFill>
                <a:latin typeface="Calibri" pitchFamily="34" charset="0"/>
                <a:ea typeface="Calibri" pitchFamily="34" charset="-122"/>
                <a:cs typeface="Calibri" pitchFamily="34" charset="-120"/>
              </a:rPr>
              <a:t>And it is not yet priced</a:t>
            </a:r>
            <a:endParaRPr lang="en-US" sz="1500" dirty="0"/>
          </a:p>
        </p:txBody>
      </p:sp>
      <p:sp>
        <p:nvSpPr>
          <p:cNvPr id="19" name="Text 17"/>
          <p:cNvSpPr txBox="1"/>
          <p:nvPr/>
        </p:nvSpPr>
        <p:spPr>
          <a:xfrm>
            <a:off x="7050024" y="4215384"/>
            <a:ext cx="4498848" cy="91440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Roughly ₹6.2 lakh in year one. It does not appear in the revenue model, and slide 14 puts it back in.</a:t>
            </a:r>
            <a:endParaRPr lang="en-US" sz="1300" dirty="0"/>
          </a:p>
        </p:txBody>
      </p:sp>
      <p:sp>
        <p:nvSpPr>
          <p:cNvPr id="20" name="Text 18"/>
          <p:cNvSpPr txBox="1"/>
          <p:nvPr/>
        </p:nvSpPr>
        <p:spPr>
          <a:xfrm>
            <a:off x="640080" y="6108192"/>
            <a:ext cx="10908792" cy="411480"/>
          </a:xfrm>
          <a:prstGeom prst="rect">
            <a:avLst/>
          </a:prstGeom>
          <a:noFill/>
          <a:ln/>
        </p:spPr>
        <p:txBody>
          <a:bodyPr wrap="square" lIns="0" tIns="0" rIns="0" bIns="0" rtlCol="0" anchor="t"/>
          <a:lstStyle/>
          <a:p>
            <a:pPr indent="0" marL="0">
              <a:buNone/>
            </a:pPr>
            <a:r>
              <a:rPr lang="en-US" sz="1050" i="1" dirty="0">
                <a:solidFill>
                  <a:srgbClr val="8B847C"/>
                </a:solidFill>
                <a:latin typeface="Calibri" pitchFamily="34" charset="0"/>
                <a:ea typeface="Calibri" pitchFamily="34" charset="-122"/>
                <a:cs typeface="Calibri" pitchFamily="34" charset="-120"/>
              </a:rPr>
              <a:t>A throughput ceiling set by hiring rather than by demand is a real constraint on how fast this can grow. It is on the risk slide for that reason.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Feature 5 — They design their own board while they wait.</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The call is a working day away. A confirmation screen that says “we’ll call you” and stops is a dead end at the highest-intent moment we ever get.</a:t>
            </a:r>
            <a:endParaRPr lang="en-US" sz="1700" dirty="0"/>
          </a:p>
        </p:txBody>
      </p:sp>
      <p:sp>
        <p:nvSpPr>
          <p:cNvPr id="4" name="Text 2"/>
          <p:cNvSpPr txBox="1"/>
          <p:nvPr/>
        </p:nvSpPr>
        <p:spPr>
          <a:xfrm>
            <a:off x="640080" y="2560320"/>
            <a:ext cx="5577840" cy="237744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450" dirty="0">
                <a:solidFill>
                  <a:srgbClr val="5A544E"/>
                </a:solidFill>
                <a:latin typeface="Calibri" pitchFamily="34" charset="0"/>
                <a:ea typeface="Calibri" pitchFamily="34" charset="-122"/>
                <a:cs typeface="Calibri" pitchFamily="34" charset="-120"/>
              </a:rPr>
              <a:t>Their home, room by room, with each room’s share of the budget attached from the first screen.</a:t>
            </a:r>
            <a:endParaRPr lang="en-US" sz="1450" dirty="0"/>
          </a:p>
          <a:p>
            <a:pPr marL="342900" indent="-342900">
              <a:lnSpc>
                <a:spcPct val="120000"/>
              </a:lnSpc>
              <a:spcAft>
                <a:spcPts val="1000"/>
              </a:spcAft>
              <a:buSzPct val="100000"/>
              <a:buChar char="•"/>
            </a:pPr>
            <a:r>
              <a:rPr lang="en-US" sz="1450" dirty="0">
                <a:solidFill>
                  <a:srgbClr val="5A544E"/>
                </a:solidFill>
                <a:latin typeface="Calibri" pitchFamily="34" charset="0"/>
                <a:ea typeface="Calibri" pitchFamily="34" charset="-122"/>
                <a:cs typeface="Calibri" pitchFamily="34" charset="-120"/>
              </a:rPr>
              <a:t>A curated library of 46 elements — floors, shutters, furniture, lighting, fabric, walls — written for Pune, not for a European fit-out.</a:t>
            </a:r>
            <a:endParaRPr lang="en-US" sz="1450" dirty="0"/>
          </a:p>
          <a:p>
            <a:pPr marL="342900" indent="-342900">
              <a:lnSpc>
                <a:spcPct val="120000"/>
              </a:lnSpc>
              <a:spcAft>
                <a:spcPts val="1000"/>
              </a:spcAft>
              <a:buSzPct val="100000"/>
              <a:buChar char="•"/>
            </a:pPr>
            <a:r>
              <a:rPr lang="en-US" sz="1450" dirty="0">
                <a:solidFill>
                  <a:srgbClr val="5A544E"/>
                </a:solidFill>
                <a:latin typeface="Calibri" pitchFamily="34" charset="0"/>
                <a:ea typeface="Calibri" pitchFamily="34" charset="-122"/>
                <a:cs typeface="Calibri" pitchFamily="34" charset="-120"/>
              </a:rPr>
              <a:t>The board starts pre-filled, never blank, then they change whatever they like.</a:t>
            </a:r>
            <a:endParaRPr lang="en-US" sz="1450" dirty="0"/>
          </a:p>
          <a:p>
            <a:pPr marL="342900" indent="-342900">
              <a:lnSpc>
                <a:spcPct val="120000"/>
              </a:lnSpc>
              <a:spcAft>
                <a:spcPts val="1000"/>
              </a:spcAft>
              <a:buSzPct val="100000"/>
              <a:buChar char="•"/>
            </a:pPr>
            <a:r>
              <a:rPr lang="en-US" sz="1450" dirty="0">
                <a:solidFill>
                  <a:srgbClr val="5A544E"/>
                </a:solidFill>
                <a:latin typeface="Calibri" pitchFamily="34" charset="0"/>
                <a:ea typeface="Calibri" pitchFamily="34" charset="-122"/>
                <a:cs typeface="Calibri" pitchFamily="34" charset="-120"/>
              </a:rPr>
              <a:t>The expert reads all of it before dialling.</a:t>
            </a:r>
            <a:endParaRPr lang="en-US" sz="1450" dirty="0"/>
          </a:p>
        </p:txBody>
      </p:sp>
      <p:sp>
        <p:nvSpPr>
          <p:cNvPr id="5" name="Shape 3"/>
          <p:cNvSpPr/>
          <p:nvPr/>
        </p:nvSpPr>
        <p:spPr>
          <a:xfrm>
            <a:off x="6583680" y="2560320"/>
            <a:ext cx="4965192" cy="2377440"/>
          </a:xfrm>
          <a:prstGeom prst="roundRect">
            <a:avLst>
              <a:gd name="adj" fmla="val 3077"/>
            </a:avLst>
          </a:prstGeom>
          <a:solidFill>
            <a:srgbClr val="1A6068"/>
          </a:solidFill>
          <a:ln w="12700">
            <a:solidFill>
              <a:srgbClr val="E3DCD2"/>
            </a:solidFill>
            <a:prstDash val="solid"/>
          </a:ln>
        </p:spPr>
      </p:sp>
      <p:sp>
        <p:nvSpPr>
          <p:cNvPr id="6" name="Text 4"/>
          <p:cNvSpPr txBox="1"/>
          <p:nvPr/>
        </p:nvSpPr>
        <p:spPr>
          <a:xfrm>
            <a:off x="6903720" y="2788920"/>
            <a:ext cx="4325112" cy="41148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What Pinterest cannot do</a:t>
            </a:r>
            <a:endParaRPr lang="en-US" sz="1900" dirty="0"/>
          </a:p>
        </p:txBody>
      </p:sp>
      <p:sp>
        <p:nvSpPr>
          <p:cNvPr id="7" name="Text 5"/>
          <p:cNvSpPr txBox="1"/>
          <p:nvPr/>
        </p:nvSpPr>
        <p:spPr>
          <a:xfrm>
            <a:off x="6903720" y="3273552"/>
            <a:ext cx="4325112" cy="1508760"/>
          </a:xfrm>
          <a:prstGeom prst="rect">
            <a:avLst/>
          </a:prstGeom>
          <a:noFill/>
          <a:ln/>
        </p:spPr>
        <p:txBody>
          <a:bodyPr wrap="square" lIns="0" tIns="0" rIns="0" bIns="0" rtlCol="0" anchor="t"/>
          <a:lstStyle/>
          <a:p>
            <a:pPr indent="0" marL="0">
              <a:lnSpc>
                <a:spcPct val="122000"/>
              </a:lnSpc>
              <a:buNone/>
            </a:pPr>
            <a:r>
              <a:rPr lang="en-US" sz="1250" dirty="0">
                <a:solidFill>
                  <a:srgbClr val="DCEAEB"/>
                </a:solidFill>
                <a:latin typeface="Calibri" pitchFamily="34" charset="0"/>
                <a:ea typeface="Calibri" pitchFamily="34" charset="-122"/>
                <a:cs typeface="Calibri" pitchFamily="34" charset="-120"/>
              </a:rPr>
              <a:t>Tell you what the board costs. Every element carries a budget band, so when a board drifts above what the customer chose, the page says so — once, plainly.</a:t>
            </a:r>
            <a:endParaRPr lang="en-US" sz="1250" dirty="0"/>
          </a:p>
          <a:p>
            <a:pPr indent="0" marL="0">
              <a:lnSpc>
                <a:spcPct val="122000"/>
              </a:lnSpc>
              <a:buNone/>
            </a:pPr>
            <a:endParaRPr lang="en-US" sz="1250" dirty="0"/>
          </a:p>
          <a:p>
            <a:pPr indent="0" marL="0">
              <a:lnSpc>
                <a:spcPct val="122000"/>
              </a:lnSpc>
              <a:buNone/>
            </a:pPr>
            <a:r>
              <a:rPr lang="en-US" sz="1250" dirty="0">
                <a:solidFill>
                  <a:srgbClr val="DCEAEB"/>
                </a:solidFill>
                <a:latin typeface="Calibri" pitchFamily="34" charset="0"/>
                <a:ea typeface="Calibri" pitchFamily="34" charset="-122"/>
                <a:cs typeface="Calibri" pitchFamily="34" charset="-120"/>
              </a:rPr>
              <a:t>They can still have the marble. They just cannot have it by accident, and discover the cost in month two.</a:t>
            </a:r>
            <a:endParaRPr lang="en-US" sz="1250" dirty="0"/>
          </a:p>
        </p:txBody>
      </p:sp>
      <p:sp>
        <p:nvSpPr>
          <p:cNvPr id="8" name="Text 6"/>
          <p:cNvSpPr txBox="1"/>
          <p:nvPr/>
        </p:nvSpPr>
        <p:spPr>
          <a:xfrm>
            <a:off x="640080" y="5138928"/>
            <a:ext cx="10908792" cy="685800"/>
          </a:xfrm>
          <a:prstGeom prst="rect">
            <a:avLst/>
          </a:prstGeom>
          <a:noFill/>
          <a:ln/>
        </p:spPr>
        <p:txBody>
          <a:bodyPr wrap="square" lIns="0" tIns="0" rIns="0" bIns="0" rtlCol="0" anchor="t"/>
          <a:lstStyle/>
          <a:p>
            <a:pPr indent="0" marL="0">
              <a:lnSpc>
                <a:spcPct val="120000"/>
              </a:lnSpc>
              <a:buNone/>
            </a:pPr>
            <a:r>
              <a:rPr lang="en-US" sz="1350" i="1" dirty="0">
                <a:solidFill>
                  <a:srgbClr val="5A544E"/>
                </a:solidFill>
                <a:latin typeface="Calibri" pitchFamily="34" charset="0"/>
                <a:ea typeface="Calibri" pitchFamily="34" charset="-122"/>
                <a:cs typeface="Calibri" pitchFamily="34" charset="-120"/>
              </a:rPr>
              <a:t>We deliberately did not build a 3D planner. An open canvas produces a home the budget cannot buy — every hour spent on it makes the first ten minutes of the expert call worse.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Feature 6 — The console that keeps the promise.</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The trust claims are only worth what the operating tools behind them enforce.</a:t>
            </a:r>
            <a:endParaRPr lang="en-US" sz="1700" dirty="0"/>
          </a:p>
        </p:txBody>
      </p:sp>
      <p:sp>
        <p:nvSpPr>
          <p:cNvPr id="4" name="Shape 2"/>
          <p:cNvSpPr/>
          <p:nvPr/>
        </p:nvSpPr>
        <p:spPr>
          <a:xfrm>
            <a:off x="640080" y="2560320"/>
            <a:ext cx="2615184" cy="2331720"/>
          </a:xfrm>
          <a:prstGeom prst="roundRect">
            <a:avLst>
              <a:gd name="adj" fmla="val 3137"/>
            </a:avLst>
          </a:prstGeom>
          <a:solidFill>
            <a:srgbClr val="FBF7F0"/>
          </a:solidFill>
          <a:ln w="12700">
            <a:solidFill>
              <a:srgbClr val="E3DCD2"/>
            </a:solidFill>
            <a:prstDash val="solid"/>
          </a:ln>
        </p:spPr>
      </p:sp>
      <p:sp>
        <p:nvSpPr>
          <p:cNvPr id="5" name="Text 3"/>
          <p:cNvSpPr txBox="1"/>
          <p:nvPr/>
        </p:nvSpPr>
        <p:spPr>
          <a:xfrm>
            <a:off x="859536" y="2761488"/>
            <a:ext cx="2176272" cy="658368"/>
          </a:xfrm>
          <a:prstGeom prst="rect">
            <a:avLst/>
          </a:prstGeom>
          <a:noFill/>
          <a:ln/>
        </p:spPr>
        <p:txBody>
          <a:bodyPr wrap="square" lIns="0" tIns="0" rIns="0" bIns="0" rtlCol="0" anchor="t"/>
          <a:lstStyle/>
          <a:p>
            <a:pPr indent="0" marL="0">
              <a:buNone/>
            </a:pPr>
            <a:r>
              <a:rPr lang="en-US" sz="1550" b="1" dirty="0">
                <a:solidFill>
                  <a:srgbClr val="1A6068"/>
                </a:solidFill>
                <a:latin typeface="Cambria" pitchFamily="34" charset="0"/>
                <a:ea typeface="Cambria" pitchFamily="34" charset="-122"/>
                <a:cs typeface="Cambria" pitchFamily="34" charset="-120"/>
              </a:rPr>
              <a:t>Verification queue</a:t>
            </a:r>
            <a:endParaRPr lang="en-US" sz="1550" dirty="0"/>
          </a:p>
        </p:txBody>
      </p:sp>
      <p:sp>
        <p:nvSpPr>
          <p:cNvPr id="6" name="Text 4"/>
          <p:cNvSpPr txBox="1"/>
          <p:nvPr/>
        </p:nvSpPr>
        <p:spPr>
          <a:xfrm>
            <a:off x="859536" y="3456432"/>
            <a:ext cx="2176272" cy="128016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Twelve checks per studio, each with a date and a source. A badge is not evidence; a dated checklist is.</a:t>
            </a:r>
            <a:endParaRPr lang="en-US" sz="1200" dirty="0"/>
          </a:p>
        </p:txBody>
      </p:sp>
      <p:sp>
        <p:nvSpPr>
          <p:cNvPr id="7" name="Shape 5"/>
          <p:cNvSpPr/>
          <p:nvPr/>
        </p:nvSpPr>
        <p:spPr>
          <a:xfrm>
            <a:off x="3401568" y="2560320"/>
            <a:ext cx="2615184" cy="2331720"/>
          </a:xfrm>
          <a:prstGeom prst="roundRect">
            <a:avLst>
              <a:gd name="adj" fmla="val 3137"/>
            </a:avLst>
          </a:prstGeom>
          <a:solidFill>
            <a:srgbClr val="FBF7F0"/>
          </a:solidFill>
          <a:ln w="12700">
            <a:solidFill>
              <a:srgbClr val="E3DCD2"/>
            </a:solidFill>
            <a:prstDash val="solid"/>
          </a:ln>
        </p:spPr>
      </p:sp>
      <p:sp>
        <p:nvSpPr>
          <p:cNvPr id="8" name="Text 6"/>
          <p:cNvSpPr txBox="1"/>
          <p:nvPr/>
        </p:nvSpPr>
        <p:spPr>
          <a:xfrm>
            <a:off x="3621024" y="2761488"/>
            <a:ext cx="2176272" cy="658368"/>
          </a:xfrm>
          <a:prstGeom prst="rect">
            <a:avLst/>
          </a:prstGeom>
          <a:noFill/>
          <a:ln/>
        </p:spPr>
        <p:txBody>
          <a:bodyPr wrap="square" lIns="0" tIns="0" rIns="0" bIns="0" rtlCol="0" anchor="t"/>
          <a:lstStyle/>
          <a:p>
            <a:pPr indent="0" marL="0">
              <a:buNone/>
            </a:pPr>
            <a:r>
              <a:rPr lang="en-US" sz="1550" b="1" dirty="0">
                <a:solidFill>
                  <a:srgbClr val="1A6068"/>
                </a:solidFill>
                <a:latin typeface="Cambria" pitchFamily="34" charset="0"/>
                <a:ea typeface="Cambria" pitchFamily="34" charset="-122"/>
                <a:cs typeface="Cambria" pitchFamily="34" charset="-120"/>
              </a:rPr>
              <a:t>Allocation, not ranking</a:t>
            </a:r>
            <a:endParaRPr lang="en-US" sz="1550" dirty="0"/>
          </a:p>
        </p:txBody>
      </p:sp>
      <p:sp>
        <p:nvSpPr>
          <p:cNvPr id="9" name="Text 7"/>
          <p:cNvSpPr txBox="1"/>
          <p:nvPr/>
        </p:nvSpPr>
        <p:spPr>
          <a:xfrm>
            <a:off x="3621024" y="3456432"/>
            <a:ext cx="2176272" cy="128016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We control how often a studio is shown. We never control where it appears in a customer’s results.</a:t>
            </a:r>
            <a:endParaRPr lang="en-US" sz="1200" dirty="0"/>
          </a:p>
        </p:txBody>
      </p:sp>
      <p:sp>
        <p:nvSpPr>
          <p:cNvPr id="10" name="Shape 8"/>
          <p:cNvSpPr/>
          <p:nvPr/>
        </p:nvSpPr>
        <p:spPr>
          <a:xfrm>
            <a:off x="6163056" y="2560320"/>
            <a:ext cx="2615184" cy="2331720"/>
          </a:xfrm>
          <a:prstGeom prst="roundRect">
            <a:avLst>
              <a:gd name="adj" fmla="val 3137"/>
            </a:avLst>
          </a:prstGeom>
          <a:solidFill>
            <a:srgbClr val="FBF7F0"/>
          </a:solidFill>
          <a:ln w="12700">
            <a:solidFill>
              <a:srgbClr val="E3DCD2"/>
            </a:solidFill>
            <a:prstDash val="solid"/>
          </a:ln>
        </p:spPr>
      </p:sp>
      <p:sp>
        <p:nvSpPr>
          <p:cNvPr id="11" name="Text 9"/>
          <p:cNvSpPr txBox="1"/>
          <p:nvPr/>
        </p:nvSpPr>
        <p:spPr>
          <a:xfrm>
            <a:off x="6382512" y="2761488"/>
            <a:ext cx="2176272" cy="658368"/>
          </a:xfrm>
          <a:prstGeom prst="rect">
            <a:avLst/>
          </a:prstGeom>
          <a:noFill/>
          <a:ln/>
        </p:spPr>
        <p:txBody>
          <a:bodyPr wrap="square" lIns="0" tIns="0" rIns="0" bIns="0" rtlCol="0" anchor="t"/>
          <a:lstStyle/>
          <a:p>
            <a:pPr indent="0" marL="0">
              <a:buNone/>
            </a:pPr>
            <a:r>
              <a:rPr lang="en-US" sz="1550" b="1" dirty="0">
                <a:solidFill>
                  <a:srgbClr val="1A6068"/>
                </a:solidFill>
                <a:latin typeface="Cambria" pitchFamily="34" charset="0"/>
                <a:ea typeface="Cambria" pitchFamily="34" charset="-122"/>
                <a:cs typeface="Cambria" pitchFamily="34" charset="-120"/>
              </a:rPr>
              <a:t>Pause a studio</a:t>
            </a:r>
            <a:endParaRPr lang="en-US" sz="1550" dirty="0"/>
          </a:p>
        </p:txBody>
      </p:sp>
      <p:sp>
        <p:nvSpPr>
          <p:cNvPr id="12" name="Text 10"/>
          <p:cNvSpPr txBox="1"/>
          <p:nvPr/>
        </p:nvSpPr>
        <p:spPr>
          <a:xfrm>
            <a:off x="6382512" y="3456432"/>
            <a:ext cx="2176272" cy="128016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At capacity, on payment default, or by hand. A studio that cannot serve is removed from matching rather than left to disappoint.</a:t>
            </a:r>
            <a:endParaRPr lang="en-US" sz="1200" dirty="0"/>
          </a:p>
        </p:txBody>
      </p:sp>
      <p:sp>
        <p:nvSpPr>
          <p:cNvPr id="13" name="Shape 11"/>
          <p:cNvSpPr/>
          <p:nvPr/>
        </p:nvSpPr>
        <p:spPr>
          <a:xfrm>
            <a:off x="8924544" y="2560320"/>
            <a:ext cx="2615184" cy="2331720"/>
          </a:xfrm>
          <a:prstGeom prst="roundRect">
            <a:avLst>
              <a:gd name="adj" fmla="val 3137"/>
            </a:avLst>
          </a:prstGeom>
          <a:solidFill>
            <a:srgbClr val="FBF7F0"/>
          </a:solidFill>
          <a:ln w="12700">
            <a:solidFill>
              <a:srgbClr val="E3DCD2"/>
            </a:solidFill>
            <a:prstDash val="solid"/>
          </a:ln>
        </p:spPr>
      </p:sp>
      <p:sp>
        <p:nvSpPr>
          <p:cNvPr id="14" name="Text 12"/>
          <p:cNvSpPr txBox="1"/>
          <p:nvPr/>
        </p:nvSpPr>
        <p:spPr>
          <a:xfrm>
            <a:off x="9144000" y="2761488"/>
            <a:ext cx="2176272" cy="658368"/>
          </a:xfrm>
          <a:prstGeom prst="rect">
            <a:avLst/>
          </a:prstGeom>
          <a:noFill/>
          <a:ln/>
        </p:spPr>
        <p:txBody>
          <a:bodyPr wrap="square" lIns="0" tIns="0" rIns="0" bIns="0" rtlCol="0" anchor="t"/>
          <a:lstStyle/>
          <a:p>
            <a:pPr indent="0" marL="0">
              <a:buNone/>
            </a:pPr>
            <a:r>
              <a:rPr lang="en-US" sz="1550" b="1" dirty="0">
                <a:solidFill>
                  <a:srgbClr val="1A6068"/>
                </a:solidFill>
                <a:latin typeface="Cambria" pitchFamily="34" charset="0"/>
                <a:ea typeface="Cambria" pitchFamily="34" charset="-122"/>
                <a:cs typeface="Cambria" pitchFamily="34" charset="-120"/>
              </a:rPr>
              <a:t>Funnel analytics</a:t>
            </a:r>
            <a:endParaRPr lang="en-US" sz="1550" dirty="0"/>
          </a:p>
        </p:txBody>
      </p:sp>
      <p:sp>
        <p:nvSpPr>
          <p:cNvPr id="15" name="Text 13"/>
          <p:cNvSpPr txBox="1"/>
          <p:nvPr/>
        </p:nvSpPr>
        <p:spPr>
          <a:xfrm>
            <a:off x="9144000" y="3456432"/>
            <a:ext cx="2176272" cy="1280160"/>
          </a:xfrm>
          <a:prstGeom prst="rect">
            <a:avLst/>
          </a:prstGeom>
          <a:noFill/>
          <a:ln/>
        </p:spPr>
        <p:txBody>
          <a:bodyPr wrap="square" lIns="0" tIns="0" rIns="0" bIns="0" rtlCol="0" anchor="t"/>
          <a:lstStyle/>
          <a:p>
            <a:pPr indent="0" marL="0">
              <a:lnSpc>
                <a:spcPct val="120000"/>
              </a:lnSpc>
              <a:buNone/>
            </a:pPr>
            <a:r>
              <a:rPr lang="en-US" sz="1200" dirty="0">
                <a:solidFill>
                  <a:srgbClr val="5A544E"/>
                </a:solidFill>
                <a:latin typeface="Calibri" pitchFamily="34" charset="0"/>
                <a:ea typeface="Calibri" pitchFamily="34" charset="-122"/>
                <a:cs typeface="Calibri" pitchFamily="34" charset="-120"/>
              </a:rPr>
              <a:t>Which question loses people, from our own tables, with no third-party script on the site.</a:t>
            </a:r>
            <a:endParaRPr lang="en-US" sz="1200" dirty="0"/>
          </a:p>
        </p:txBody>
      </p:sp>
      <p:sp>
        <p:nvSpPr>
          <p:cNvPr id="16" name="Text 14"/>
          <p:cNvSpPr txBox="1"/>
          <p:nvPr/>
        </p:nvSpPr>
        <p:spPr>
          <a:xfrm>
            <a:off x="640080" y="6108192"/>
            <a:ext cx="10908792" cy="411480"/>
          </a:xfrm>
          <a:prstGeom prst="rect">
            <a:avLst/>
          </a:prstGeom>
          <a:noFill/>
          <a:ln/>
        </p:spPr>
        <p:txBody>
          <a:bodyPr wrap="square" lIns="0" tIns="0" rIns="0" bIns="0" rtlCol="0" anchor="t"/>
          <a:lstStyle/>
          <a:p>
            <a:pPr indent="0" marL="0">
              <a:buNone/>
            </a:pPr>
            <a:r>
              <a:rPr lang="en-US" sz="1050" i="1" dirty="0">
                <a:solidFill>
                  <a:srgbClr val="8B847C"/>
                </a:solidFill>
                <a:latin typeface="Calibri" pitchFamily="34" charset="0"/>
                <a:ea typeface="Calibri" pitchFamily="34" charset="-122"/>
                <a:cs typeface="Calibri" pitchFamily="34" charset="-120"/>
              </a:rPr>
              <a:t>Every status change requires a written reason and records who made it. That machinery exists today — the dispute and removal policy it will enforce still has to be written, and it is on the open-questions slide.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1371600"/>
            <a:ext cx="10515600" cy="1737360"/>
          </a:xfrm>
          <a:prstGeom prst="rect">
            <a:avLst/>
          </a:prstGeom>
          <a:noFill/>
          <a:ln/>
        </p:spPr>
        <p:txBody>
          <a:bodyPr wrap="square" lIns="0" tIns="0" rIns="0" bIns="0" rtlCol="0" anchor="ctr"/>
          <a:lstStyle/>
          <a:p>
            <a:pPr indent="0" marL="0">
              <a:lnSpc>
                <a:spcPct val="110000"/>
              </a:lnSpc>
              <a:buNone/>
            </a:pPr>
            <a:r>
              <a:rPr lang="en-US" sz="4000" b="1" dirty="0">
                <a:solidFill>
                  <a:srgbClr val="FFFFFF"/>
                </a:solidFill>
                <a:latin typeface="Cambria" pitchFamily="34" charset="0"/>
                <a:ea typeface="Cambria" pitchFamily="34" charset="-122"/>
                <a:cs typeface="Cambria" pitchFamily="34" charset="-120"/>
              </a:rPr>
              <a:t>The subscription buys volume.</a:t>
            </a:r>
            <a:endParaRPr lang="en-US" sz="4000" dirty="0"/>
          </a:p>
          <a:p>
            <a:pPr indent="0" marL="0">
              <a:lnSpc>
                <a:spcPct val="110000"/>
              </a:lnSpc>
              <a:buNone/>
            </a:pPr>
            <a:r>
              <a:rPr lang="en-US" sz="4000" b="1" dirty="0">
                <a:solidFill>
                  <a:srgbClr val="FFFFFF"/>
                </a:solidFill>
                <a:latin typeface="Cambria" pitchFamily="34" charset="0"/>
                <a:ea typeface="Cambria" pitchFamily="34" charset="-122"/>
                <a:cs typeface="Cambria" pitchFamily="34" charset="-120"/>
              </a:rPr>
              <a:t>It never buys position.</a:t>
            </a:r>
            <a:endParaRPr lang="en-US" sz="4000" dirty="0"/>
          </a:p>
        </p:txBody>
      </p:sp>
      <p:sp>
        <p:nvSpPr>
          <p:cNvPr id="3" name="Text 1"/>
          <p:cNvSpPr txBox="1"/>
          <p:nvPr/>
        </p:nvSpPr>
        <p:spPr>
          <a:xfrm>
            <a:off x="640080" y="3246120"/>
            <a:ext cx="9509760" cy="868680"/>
          </a:xfrm>
          <a:prstGeom prst="rect">
            <a:avLst/>
          </a:prstGeom>
          <a:noFill/>
          <a:ln/>
        </p:spPr>
        <p:txBody>
          <a:bodyPr wrap="square" lIns="0" tIns="0" rIns="0" bIns="0" rtlCol="0" anchor="ctr"/>
          <a:lstStyle/>
          <a:p>
            <a:pPr indent="0" marL="0">
              <a:lnSpc>
                <a:spcPct val="130000"/>
              </a:lnSpc>
              <a:buNone/>
            </a:pPr>
            <a:r>
              <a:rPr lang="en-US" sz="1650" dirty="0">
                <a:solidFill>
                  <a:srgbClr val="CFE0E2"/>
                </a:solidFill>
                <a:latin typeface="Calibri" pitchFamily="34" charset="0"/>
                <a:ea typeface="Calibri" pitchFamily="34" charset="-122"/>
                <a:cs typeface="Calibri" pitchFamily="34" charset="-120"/>
              </a:rPr>
              <a:t>How many briefs a studio is shown for is something they pay us to increase. Where they appear inside a customer’s results comes from fit alone, and no amount of money moves it.</a:t>
            </a:r>
            <a:endParaRPr lang="en-US" sz="1650" dirty="0"/>
          </a:p>
        </p:txBody>
      </p:sp>
      <p:sp>
        <p:nvSpPr>
          <p:cNvPr id="4" name="Shape 2"/>
          <p:cNvSpPr/>
          <p:nvPr/>
        </p:nvSpPr>
        <p:spPr>
          <a:xfrm>
            <a:off x="640080" y="4434840"/>
            <a:ext cx="3511296" cy="1508760"/>
          </a:xfrm>
          <a:prstGeom prst="roundRect">
            <a:avLst>
              <a:gd name="adj" fmla="val 4848"/>
            </a:avLst>
          </a:prstGeom>
          <a:solidFill>
            <a:srgbClr val="1A6068"/>
          </a:solidFill>
          <a:ln w="12700">
            <a:solidFill>
              <a:srgbClr val="2E7D85"/>
            </a:solidFill>
            <a:prstDash val="solid"/>
          </a:ln>
        </p:spPr>
      </p:sp>
      <p:sp>
        <p:nvSpPr>
          <p:cNvPr id="5" name="Text 3"/>
          <p:cNvSpPr txBox="1"/>
          <p:nvPr/>
        </p:nvSpPr>
        <p:spPr>
          <a:xfrm>
            <a:off x="877824" y="4617720"/>
            <a:ext cx="3035808" cy="347472"/>
          </a:xfrm>
          <a:prstGeom prst="rect">
            <a:avLst/>
          </a:prstGeom>
          <a:noFill/>
          <a:ln/>
        </p:spPr>
        <p:txBody>
          <a:bodyPr wrap="square" lIns="0" tIns="0" rIns="0" bIns="0" rtlCol="0" anchor="t"/>
          <a:lstStyle/>
          <a:p>
            <a:pPr indent="0" marL="0">
              <a:buNone/>
            </a:pPr>
            <a:r>
              <a:rPr lang="en-US" sz="1500" b="1" dirty="0">
                <a:solidFill>
                  <a:srgbClr val="C9922A"/>
                </a:solidFill>
                <a:latin typeface="Cambria" pitchFamily="34" charset="0"/>
                <a:ea typeface="Cambria" pitchFamily="34" charset="-122"/>
                <a:cs typeface="Cambria" pitchFamily="34" charset="-120"/>
              </a:rPr>
              <a:t>No sponsored slots</a:t>
            </a:r>
            <a:endParaRPr lang="en-US" sz="1500" dirty="0"/>
          </a:p>
        </p:txBody>
      </p:sp>
      <p:sp>
        <p:nvSpPr>
          <p:cNvPr id="6" name="Text 4"/>
          <p:cNvSpPr txBox="1"/>
          <p:nvPr/>
        </p:nvSpPr>
        <p:spPr>
          <a:xfrm>
            <a:off x="877824" y="4992624"/>
            <a:ext cx="3035808" cy="841248"/>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Nowhere in the product. No featured cards, no promoted results, no paid placement of any kind.</a:t>
            </a:r>
            <a:endParaRPr lang="en-US" sz="1200" dirty="0"/>
          </a:p>
        </p:txBody>
      </p:sp>
      <p:sp>
        <p:nvSpPr>
          <p:cNvPr id="7" name="Shape 5"/>
          <p:cNvSpPr/>
          <p:nvPr/>
        </p:nvSpPr>
        <p:spPr>
          <a:xfrm>
            <a:off x="4334256" y="4434840"/>
            <a:ext cx="3511296" cy="1508760"/>
          </a:xfrm>
          <a:prstGeom prst="roundRect">
            <a:avLst>
              <a:gd name="adj" fmla="val 4848"/>
            </a:avLst>
          </a:prstGeom>
          <a:solidFill>
            <a:srgbClr val="1A6068"/>
          </a:solidFill>
          <a:ln w="12700">
            <a:solidFill>
              <a:srgbClr val="2E7D85"/>
            </a:solidFill>
            <a:prstDash val="solid"/>
          </a:ln>
        </p:spPr>
      </p:sp>
      <p:sp>
        <p:nvSpPr>
          <p:cNvPr id="8" name="Text 6"/>
          <p:cNvSpPr txBox="1"/>
          <p:nvPr/>
        </p:nvSpPr>
        <p:spPr>
          <a:xfrm>
            <a:off x="4572000" y="4617720"/>
            <a:ext cx="3035808" cy="347472"/>
          </a:xfrm>
          <a:prstGeom prst="rect">
            <a:avLst/>
          </a:prstGeom>
          <a:noFill/>
          <a:ln/>
        </p:spPr>
        <p:txBody>
          <a:bodyPr wrap="square" lIns="0" tIns="0" rIns="0" bIns="0" rtlCol="0" anchor="t"/>
          <a:lstStyle/>
          <a:p>
            <a:pPr indent="0" marL="0">
              <a:buNone/>
            </a:pPr>
            <a:r>
              <a:rPr lang="en-US" sz="1500" b="1" dirty="0">
                <a:solidFill>
                  <a:srgbClr val="C9922A"/>
                </a:solidFill>
                <a:latin typeface="Cambria" pitchFamily="34" charset="0"/>
                <a:ea typeface="Cambria" pitchFamily="34" charset="-122"/>
                <a:cs typeface="Cambria" pitchFamily="34" charset="-120"/>
              </a:rPr>
              <a:t>One field, one direction</a:t>
            </a:r>
            <a:endParaRPr lang="en-US" sz="1500" dirty="0"/>
          </a:p>
        </p:txBody>
      </p:sp>
      <p:sp>
        <p:nvSpPr>
          <p:cNvPr id="9" name="Text 7"/>
          <p:cNvSpPr txBox="1"/>
          <p:nvPr/>
        </p:nvSpPr>
        <p:spPr>
          <a:xfrm>
            <a:off x="4572000" y="4992624"/>
            <a:ext cx="3035808" cy="841248"/>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The matching engine reads exactly one commercial fact about a studio, and it can only remove them.</a:t>
            </a:r>
            <a:endParaRPr lang="en-US" sz="1200" dirty="0"/>
          </a:p>
        </p:txBody>
      </p:sp>
      <p:sp>
        <p:nvSpPr>
          <p:cNvPr id="10" name="Shape 8"/>
          <p:cNvSpPr/>
          <p:nvPr/>
        </p:nvSpPr>
        <p:spPr>
          <a:xfrm>
            <a:off x="8028432" y="4434840"/>
            <a:ext cx="3511296" cy="1508760"/>
          </a:xfrm>
          <a:prstGeom prst="roundRect">
            <a:avLst>
              <a:gd name="adj" fmla="val 4848"/>
            </a:avLst>
          </a:prstGeom>
          <a:solidFill>
            <a:srgbClr val="1A6068"/>
          </a:solidFill>
          <a:ln w="12700">
            <a:solidFill>
              <a:srgbClr val="2E7D85"/>
            </a:solidFill>
            <a:prstDash val="solid"/>
          </a:ln>
        </p:spPr>
      </p:sp>
      <p:sp>
        <p:nvSpPr>
          <p:cNvPr id="11" name="Text 9"/>
          <p:cNvSpPr txBox="1"/>
          <p:nvPr/>
        </p:nvSpPr>
        <p:spPr>
          <a:xfrm>
            <a:off x="8266176" y="4617720"/>
            <a:ext cx="3035808" cy="347472"/>
          </a:xfrm>
          <a:prstGeom prst="rect">
            <a:avLst/>
          </a:prstGeom>
          <a:noFill/>
          <a:ln/>
        </p:spPr>
        <p:txBody>
          <a:bodyPr wrap="square" lIns="0" tIns="0" rIns="0" bIns="0" rtlCol="0" anchor="t"/>
          <a:lstStyle/>
          <a:p>
            <a:pPr indent="0" marL="0">
              <a:buNone/>
            </a:pPr>
            <a:r>
              <a:rPr lang="en-US" sz="1500" b="1" dirty="0">
                <a:solidFill>
                  <a:srgbClr val="C9922A"/>
                </a:solidFill>
                <a:latin typeface="Cambria" pitchFamily="34" charset="0"/>
                <a:ea typeface="Cambria" pitchFamily="34" charset="-122"/>
                <a:cs typeface="Cambria" pitchFamily="34" charset="-120"/>
              </a:rPr>
              <a:t>Enforced by the build</a:t>
            </a:r>
            <a:endParaRPr lang="en-US" sz="1500" dirty="0"/>
          </a:p>
        </p:txBody>
      </p:sp>
      <p:sp>
        <p:nvSpPr>
          <p:cNvPr id="12" name="Text 10"/>
          <p:cNvSpPr txBox="1"/>
          <p:nvPr/>
        </p:nvSpPr>
        <p:spPr>
          <a:xfrm>
            <a:off x="8266176" y="4992624"/>
            <a:ext cx="3035808" cy="841248"/>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A test reads the matching source and fails if it mentions subscription, boost, sponsored, promoted or featured.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How the money works.</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Three months of commission only, then a subscription that scales with the size of projects a studio takes.</a:t>
            </a:r>
            <a:endParaRPr lang="en-US" sz="1700" dirty="0"/>
          </a:p>
        </p:txBody>
      </p:sp>
      <p:sp>
        <p:nvSpPr>
          <p:cNvPr id="4" name="Shape 2"/>
          <p:cNvSpPr/>
          <p:nvPr/>
        </p:nvSpPr>
        <p:spPr>
          <a:xfrm>
            <a:off x="640080" y="2514600"/>
            <a:ext cx="10908792" cy="603504"/>
          </a:xfrm>
          <a:prstGeom prst="roundRect">
            <a:avLst>
              <a:gd name="adj" fmla="val 12121"/>
            </a:avLst>
          </a:prstGeom>
          <a:solidFill>
            <a:srgbClr val="FBF7F0"/>
          </a:solidFill>
          <a:ln w="12700">
            <a:solidFill>
              <a:srgbClr val="E3DCD2"/>
            </a:solidFill>
            <a:prstDash val="solid"/>
          </a:ln>
        </p:spPr>
      </p:sp>
      <p:sp>
        <p:nvSpPr>
          <p:cNvPr id="5" name="Text 3"/>
          <p:cNvSpPr txBox="1"/>
          <p:nvPr/>
        </p:nvSpPr>
        <p:spPr>
          <a:xfrm>
            <a:off x="914400" y="2514600"/>
            <a:ext cx="3017520" cy="603504"/>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Pilot · months 1–3</a:t>
            </a:r>
            <a:endParaRPr lang="en-US" sz="1400" dirty="0"/>
          </a:p>
        </p:txBody>
      </p:sp>
      <p:sp>
        <p:nvSpPr>
          <p:cNvPr id="6" name="Text 4"/>
          <p:cNvSpPr txBox="1"/>
          <p:nvPr/>
        </p:nvSpPr>
        <p:spPr>
          <a:xfrm>
            <a:off x="4023360" y="2514600"/>
            <a:ext cx="2926080" cy="603504"/>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5% commission only</a:t>
            </a:r>
            <a:endParaRPr lang="en-US" sz="1400" dirty="0"/>
          </a:p>
        </p:txBody>
      </p:sp>
      <p:sp>
        <p:nvSpPr>
          <p:cNvPr id="7" name="Text 5"/>
          <p:cNvSpPr txBox="1"/>
          <p:nvPr/>
        </p:nvSpPr>
        <p:spPr>
          <a:xfrm>
            <a:off x="7132320" y="2514600"/>
            <a:ext cx="4297680" cy="603504"/>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Nothing at all unless a project closes</a:t>
            </a:r>
            <a:endParaRPr lang="en-US" sz="1250" dirty="0"/>
          </a:p>
        </p:txBody>
      </p:sp>
      <p:sp>
        <p:nvSpPr>
          <p:cNvPr id="8" name="Shape 6"/>
          <p:cNvSpPr/>
          <p:nvPr/>
        </p:nvSpPr>
        <p:spPr>
          <a:xfrm>
            <a:off x="640080" y="3191256"/>
            <a:ext cx="10908792" cy="603504"/>
          </a:xfrm>
          <a:prstGeom prst="roundRect">
            <a:avLst>
              <a:gd name="adj" fmla="val 12121"/>
            </a:avLst>
          </a:prstGeom>
          <a:solidFill>
            <a:srgbClr val="FFFFFF"/>
          </a:solidFill>
          <a:ln w="12700">
            <a:solidFill>
              <a:srgbClr val="E3DCD2"/>
            </a:solidFill>
            <a:prstDash val="solid"/>
          </a:ln>
        </p:spPr>
      </p:sp>
      <p:sp>
        <p:nvSpPr>
          <p:cNvPr id="9" name="Text 7"/>
          <p:cNvSpPr txBox="1"/>
          <p:nvPr/>
        </p:nvSpPr>
        <p:spPr>
          <a:xfrm>
            <a:off x="914400" y="3191256"/>
            <a:ext cx="3017520" cy="603504"/>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Essential</a:t>
            </a:r>
            <a:endParaRPr lang="en-US" sz="1400" dirty="0"/>
          </a:p>
        </p:txBody>
      </p:sp>
      <p:sp>
        <p:nvSpPr>
          <p:cNvPr id="10" name="Text 8"/>
          <p:cNvSpPr txBox="1"/>
          <p:nvPr/>
        </p:nvSpPr>
        <p:spPr>
          <a:xfrm>
            <a:off x="4023360" y="3191256"/>
            <a:ext cx="2926080" cy="603504"/>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₹25,000/mo + 5%</a:t>
            </a:r>
            <a:endParaRPr lang="en-US" sz="1400" dirty="0"/>
          </a:p>
        </p:txBody>
      </p:sp>
      <p:sp>
        <p:nvSpPr>
          <p:cNvPr id="11" name="Text 9"/>
          <p:cNvSpPr txBox="1"/>
          <p:nvPr/>
        </p:nvSpPr>
        <p:spPr>
          <a:xfrm>
            <a:off x="7132320" y="3191256"/>
            <a:ext cx="4297680" cy="603504"/>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₹7 lakh projects</a:t>
            </a:r>
            <a:endParaRPr lang="en-US" sz="1250" dirty="0"/>
          </a:p>
        </p:txBody>
      </p:sp>
      <p:sp>
        <p:nvSpPr>
          <p:cNvPr id="12" name="Shape 10"/>
          <p:cNvSpPr/>
          <p:nvPr/>
        </p:nvSpPr>
        <p:spPr>
          <a:xfrm>
            <a:off x="640080" y="3867912"/>
            <a:ext cx="10908792" cy="603504"/>
          </a:xfrm>
          <a:prstGeom prst="roundRect">
            <a:avLst>
              <a:gd name="adj" fmla="val 12121"/>
            </a:avLst>
          </a:prstGeom>
          <a:solidFill>
            <a:srgbClr val="FBF7F0"/>
          </a:solidFill>
          <a:ln w="12700">
            <a:solidFill>
              <a:srgbClr val="E3DCD2"/>
            </a:solidFill>
            <a:prstDash val="solid"/>
          </a:ln>
        </p:spPr>
      </p:sp>
      <p:sp>
        <p:nvSpPr>
          <p:cNvPr id="13" name="Text 11"/>
          <p:cNvSpPr txBox="1"/>
          <p:nvPr/>
        </p:nvSpPr>
        <p:spPr>
          <a:xfrm>
            <a:off x="914400" y="3867912"/>
            <a:ext cx="3017520" cy="603504"/>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Premium</a:t>
            </a:r>
            <a:endParaRPr lang="en-US" sz="1400" dirty="0"/>
          </a:p>
        </p:txBody>
      </p:sp>
      <p:sp>
        <p:nvSpPr>
          <p:cNvPr id="14" name="Text 12"/>
          <p:cNvSpPr txBox="1"/>
          <p:nvPr/>
        </p:nvSpPr>
        <p:spPr>
          <a:xfrm>
            <a:off x="4023360" y="3867912"/>
            <a:ext cx="2926080" cy="603504"/>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₹50,000/mo + 5%</a:t>
            </a:r>
            <a:endParaRPr lang="en-US" sz="1400" dirty="0"/>
          </a:p>
        </p:txBody>
      </p:sp>
      <p:sp>
        <p:nvSpPr>
          <p:cNvPr id="15" name="Text 13"/>
          <p:cNvSpPr txBox="1"/>
          <p:nvPr/>
        </p:nvSpPr>
        <p:spPr>
          <a:xfrm>
            <a:off x="7132320" y="3867912"/>
            <a:ext cx="4297680" cy="603504"/>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₹12 lakh projects</a:t>
            </a:r>
            <a:endParaRPr lang="en-US" sz="1250" dirty="0"/>
          </a:p>
        </p:txBody>
      </p:sp>
      <p:sp>
        <p:nvSpPr>
          <p:cNvPr id="16" name="Shape 14"/>
          <p:cNvSpPr/>
          <p:nvPr/>
        </p:nvSpPr>
        <p:spPr>
          <a:xfrm>
            <a:off x="640080" y="4544568"/>
            <a:ext cx="10908792" cy="603504"/>
          </a:xfrm>
          <a:prstGeom prst="roundRect">
            <a:avLst>
              <a:gd name="adj" fmla="val 12121"/>
            </a:avLst>
          </a:prstGeom>
          <a:solidFill>
            <a:srgbClr val="FFFFFF"/>
          </a:solidFill>
          <a:ln w="12700">
            <a:solidFill>
              <a:srgbClr val="E3DCD2"/>
            </a:solidFill>
            <a:prstDash val="solid"/>
          </a:ln>
        </p:spPr>
      </p:sp>
      <p:sp>
        <p:nvSpPr>
          <p:cNvPr id="17" name="Text 15"/>
          <p:cNvSpPr txBox="1"/>
          <p:nvPr/>
        </p:nvSpPr>
        <p:spPr>
          <a:xfrm>
            <a:off x="914400" y="4544568"/>
            <a:ext cx="3017520" cy="603504"/>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Luxury</a:t>
            </a:r>
            <a:endParaRPr lang="en-US" sz="1400" dirty="0"/>
          </a:p>
        </p:txBody>
      </p:sp>
      <p:sp>
        <p:nvSpPr>
          <p:cNvPr id="18" name="Text 16"/>
          <p:cNvSpPr txBox="1"/>
          <p:nvPr/>
        </p:nvSpPr>
        <p:spPr>
          <a:xfrm>
            <a:off x="4023360" y="4544568"/>
            <a:ext cx="2926080" cy="603504"/>
          </a:xfrm>
          <a:prstGeom prst="rect">
            <a:avLst/>
          </a:prstGeom>
          <a:noFill/>
          <a:ln/>
        </p:spPr>
        <p:txBody>
          <a:bodyPr wrap="square" lIns="0" tIns="0" rIns="0" bIns="0" rtlCol="0" anchor="ctr"/>
          <a:lstStyle/>
          <a:p>
            <a:pPr indent="0" marL="0">
              <a:buNone/>
            </a:pPr>
            <a:r>
              <a:rPr lang="en-US" sz="1400" b="1" dirty="0">
                <a:solidFill>
                  <a:srgbClr val="1A6068"/>
                </a:solidFill>
                <a:latin typeface="Calibri" pitchFamily="34" charset="0"/>
                <a:ea typeface="Calibri" pitchFamily="34" charset="-122"/>
                <a:cs typeface="Calibri" pitchFamily="34" charset="-120"/>
              </a:rPr>
              <a:t>₹1,00,000/mo + 5%</a:t>
            </a:r>
            <a:endParaRPr lang="en-US" sz="1400" dirty="0"/>
          </a:p>
        </p:txBody>
      </p:sp>
      <p:sp>
        <p:nvSpPr>
          <p:cNvPr id="19" name="Text 17"/>
          <p:cNvSpPr txBox="1"/>
          <p:nvPr/>
        </p:nvSpPr>
        <p:spPr>
          <a:xfrm>
            <a:off x="7132320" y="4544568"/>
            <a:ext cx="4297680" cy="603504"/>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Studios averaging ₹20 lakh projects</a:t>
            </a:r>
            <a:endParaRPr lang="en-US" sz="1250" dirty="0"/>
          </a:p>
        </p:txBody>
      </p:sp>
      <p:sp>
        <p:nvSpPr>
          <p:cNvPr id="20" name="Shape 18"/>
          <p:cNvSpPr/>
          <p:nvPr/>
        </p:nvSpPr>
        <p:spPr>
          <a:xfrm>
            <a:off x="640080" y="5221224"/>
            <a:ext cx="10908792" cy="603504"/>
          </a:xfrm>
          <a:prstGeom prst="roundRect">
            <a:avLst>
              <a:gd name="adj" fmla="val 12121"/>
            </a:avLst>
          </a:prstGeom>
          <a:solidFill>
            <a:srgbClr val="F7EFE2"/>
          </a:solidFill>
          <a:ln w="12700">
            <a:solidFill>
              <a:srgbClr val="E3DCD2"/>
            </a:solidFill>
            <a:prstDash val="solid"/>
          </a:ln>
        </p:spPr>
      </p:sp>
      <p:sp>
        <p:nvSpPr>
          <p:cNvPr id="21" name="Text 19"/>
          <p:cNvSpPr txBox="1"/>
          <p:nvPr/>
        </p:nvSpPr>
        <p:spPr>
          <a:xfrm>
            <a:off x="914400" y="5221224"/>
            <a:ext cx="3017520" cy="603504"/>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Escrow · planned</a:t>
            </a:r>
            <a:endParaRPr lang="en-US" sz="1400" dirty="0"/>
          </a:p>
        </p:txBody>
      </p:sp>
      <p:sp>
        <p:nvSpPr>
          <p:cNvPr id="22" name="Text 20"/>
          <p:cNvSpPr txBox="1"/>
          <p:nvPr/>
        </p:nvSpPr>
        <p:spPr>
          <a:xfrm>
            <a:off x="4023360" y="5221224"/>
            <a:ext cx="2926080" cy="603504"/>
          </a:xfrm>
          <a:prstGeom prst="rect">
            <a:avLst/>
          </a:prstGeom>
          <a:noFill/>
          <a:ln/>
        </p:spPr>
        <p:txBody>
          <a:bodyPr wrap="square" lIns="0" tIns="0" rIns="0" bIns="0" rtlCol="0" anchor="ctr"/>
          <a:lstStyle/>
          <a:p>
            <a:pPr indent="0" marL="0">
              <a:buNone/>
            </a:pPr>
            <a:r>
              <a:rPr lang="en-US" sz="1400" b="1" dirty="0">
                <a:solidFill>
                  <a:srgbClr val="C9922A"/>
                </a:solidFill>
                <a:latin typeface="Calibri" pitchFamily="34" charset="0"/>
                <a:ea typeface="Calibri" pitchFamily="34" charset="-122"/>
                <a:cs typeface="Calibri" pitchFamily="34" charset="-120"/>
              </a:rPr>
              <a:t>1.75% customer-side</a:t>
            </a:r>
            <a:endParaRPr lang="en-US" sz="1400" dirty="0"/>
          </a:p>
        </p:txBody>
      </p:sp>
      <p:sp>
        <p:nvSpPr>
          <p:cNvPr id="23" name="Text 21"/>
          <p:cNvSpPr txBox="1"/>
          <p:nvPr/>
        </p:nvSpPr>
        <p:spPr>
          <a:xfrm>
            <a:off x="7132320" y="5221224"/>
            <a:ext cx="4297680" cy="603504"/>
          </a:xfrm>
          <a:prstGeom prst="rect">
            <a:avLst/>
          </a:prstGeom>
          <a:noFill/>
          <a:ln/>
        </p:spPr>
        <p:txBody>
          <a:bodyPr wrap="square" lIns="0" tIns="0" rIns="0" bIns="0" rtlCol="0" anchor="ctr"/>
          <a:lstStyle/>
          <a:p>
            <a:pPr indent="0" marL="0">
              <a:buNone/>
            </a:pPr>
            <a:r>
              <a:rPr lang="en-US" sz="1250" dirty="0">
                <a:solidFill>
                  <a:srgbClr val="5A544E"/>
                </a:solidFill>
                <a:latin typeface="Calibri" pitchFamily="34" charset="0"/>
                <a:ea typeface="Calibri" pitchFamily="34" charset="-122"/>
                <a:cs typeface="Calibri" pitchFamily="34" charset="-120"/>
              </a:rPr>
              <a:t>Not launched, and not yet legally cleared</a:t>
            </a:r>
            <a:endParaRPr lang="en-US" sz="1250" dirty="0"/>
          </a:p>
        </p:txBody>
      </p:sp>
      <p:sp>
        <p:nvSpPr>
          <p:cNvPr id="24" name="Text 22"/>
          <p:cNvSpPr txBox="1"/>
          <p:nvPr/>
        </p:nvSpPr>
        <p:spPr>
          <a:xfrm>
            <a:off x="640080" y="5943600"/>
            <a:ext cx="10908792" cy="548640"/>
          </a:xfrm>
          <a:prstGeom prst="rect">
            <a:avLst/>
          </a:prstGeom>
          <a:noFill/>
          <a:ln/>
        </p:spPr>
        <p:txBody>
          <a:bodyPr wrap="square" lIns="0" tIns="0" rIns="0" bIns="0" rtlCol="0" anchor="t"/>
          <a:lstStyle/>
          <a:p>
            <a:pPr indent="0" marL="0">
              <a:lnSpc>
                <a:spcPct val="120000"/>
              </a:lnSpc>
              <a:buNone/>
            </a:pPr>
            <a:r>
              <a:rPr lang="en-US" sz="1300" dirty="0">
                <a:solidFill>
                  <a:srgbClr val="5A544E"/>
                </a:solidFill>
                <a:latin typeface="Calibri" pitchFamily="34" charset="0"/>
                <a:ea typeface="Calibri" pitchFamily="34" charset="-122"/>
                <a:cs typeface="Calibri" pitchFamily="34" charset="-120"/>
              </a:rPr>
              <a:t>At the month-twelve target the blended take rate lands between 5.7% and 6.0% across all three tiers — the higher tiers pay more but also sell more, so the rate does not fan out.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Year one, if the assumptions hold.</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Ten pilot studios from month one, subscriptions from month four, one city.</a:t>
            </a:r>
            <a:endParaRPr lang="en-US" sz="1700" dirty="0"/>
          </a:p>
        </p:txBody>
      </p:sp>
      <p:graphicFrame>
        <p:nvGraphicFramePr>
          <p:cNvPr id="4" name="Chart 0" descr=""/>
          <p:cNvGraphicFramePr/>
          <p:nvPr/>
        </p:nvGraphicFramePr>
        <p:xfrm>
          <a:off x="640080" y="2468880"/>
          <a:ext cx="6675120" cy="2971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680960" y="2606040"/>
            <a:ext cx="1874520" cy="658368"/>
          </a:xfrm>
          <a:prstGeom prst="rect">
            <a:avLst/>
          </a:prstGeom>
          <a:noFill/>
          <a:ln/>
        </p:spPr>
        <p:txBody>
          <a:bodyPr wrap="square" lIns="0" tIns="0" rIns="0" bIns="0" rtlCol="0" anchor="ctr"/>
          <a:lstStyle/>
          <a:p>
            <a:pPr algn="l" indent="0" marL="0">
              <a:buNone/>
            </a:pPr>
            <a:r>
              <a:rPr lang="en-US" sz="2800" b="1" dirty="0">
                <a:solidFill>
                  <a:srgbClr val="1A6068"/>
                </a:solidFill>
                <a:latin typeface="Cambria" pitchFamily="34" charset="0"/>
                <a:ea typeface="Cambria" pitchFamily="34" charset="-122"/>
                <a:cs typeface="Cambria" pitchFamily="34" charset="-120"/>
              </a:rPr>
              <a:t>553</a:t>
            </a:r>
            <a:endParaRPr lang="en-US" sz="2800" dirty="0"/>
          </a:p>
        </p:txBody>
      </p:sp>
      <p:sp>
        <p:nvSpPr>
          <p:cNvPr id="6" name="Text 3"/>
          <p:cNvSpPr txBox="1"/>
          <p:nvPr/>
        </p:nvSpPr>
        <p:spPr>
          <a:xfrm>
            <a:off x="7680960" y="3246120"/>
            <a:ext cx="1874520" cy="566928"/>
          </a:xfrm>
          <a:prstGeom prst="rect">
            <a:avLst/>
          </a:prstGeom>
          <a:noFill/>
          <a:ln/>
        </p:spPr>
        <p:txBody>
          <a:bodyPr wrap="square" lIns="0" tIns="0" rIns="0" bIns="0" rtlCol="0" anchor="t"/>
          <a:lstStyle/>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projects closed</a:t>
            </a:r>
            <a:endParaRPr lang="en-US" sz="1150" dirty="0"/>
          </a:p>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₹70.51 Cr of work placed</a:t>
            </a:r>
            <a:endParaRPr lang="en-US" sz="1150" dirty="0"/>
          </a:p>
        </p:txBody>
      </p:sp>
      <p:sp>
        <p:nvSpPr>
          <p:cNvPr id="7" name="Text 4"/>
          <p:cNvSpPr txBox="1"/>
          <p:nvPr/>
        </p:nvSpPr>
        <p:spPr>
          <a:xfrm>
            <a:off x="9646920" y="2606040"/>
            <a:ext cx="1874520" cy="658368"/>
          </a:xfrm>
          <a:prstGeom prst="rect">
            <a:avLst/>
          </a:prstGeom>
          <a:noFill/>
          <a:ln/>
        </p:spPr>
        <p:txBody>
          <a:bodyPr wrap="square" lIns="0" tIns="0" rIns="0" bIns="0" rtlCol="0" anchor="ctr"/>
          <a:lstStyle/>
          <a:p>
            <a:pPr algn="l" indent="0" marL="0">
              <a:buNone/>
            </a:pPr>
            <a:r>
              <a:rPr lang="en-US" sz="2600" b="1" dirty="0">
                <a:solidFill>
                  <a:srgbClr val="1A6068"/>
                </a:solidFill>
                <a:latin typeface="Cambria" pitchFamily="34" charset="0"/>
                <a:ea typeface="Cambria" pitchFamily="34" charset="-122"/>
                <a:cs typeface="Cambria" pitchFamily="34" charset="-120"/>
              </a:rPr>
              <a:t>₹4.36 Cr</a:t>
            </a:r>
            <a:endParaRPr lang="en-US" sz="2600" dirty="0"/>
          </a:p>
        </p:txBody>
      </p:sp>
      <p:sp>
        <p:nvSpPr>
          <p:cNvPr id="8" name="Text 5"/>
          <p:cNvSpPr txBox="1"/>
          <p:nvPr/>
        </p:nvSpPr>
        <p:spPr>
          <a:xfrm>
            <a:off x="9646920" y="3246120"/>
            <a:ext cx="1874520" cy="566928"/>
          </a:xfrm>
          <a:prstGeom prst="rect">
            <a:avLst/>
          </a:prstGeom>
          <a:noFill/>
          <a:ln/>
        </p:spPr>
        <p:txBody>
          <a:bodyPr wrap="square" lIns="0" tIns="0" rIns="0" bIns="0" rtlCol="0" anchor="t"/>
          <a:lstStyle/>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gross revenue</a:t>
            </a:r>
            <a:endParaRPr lang="en-US" sz="1150" dirty="0"/>
          </a:p>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₹3.53 Cr fees · ₹83.8 L subs</a:t>
            </a:r>
            <a:endParaRPr lang="en-US" sz="1150" dirty="0"/>
          </a:p>
        </p:txBody>
      </p:sp>
      <p:sp>
        <p:nvSpPr>
          <p:cNvPr id="9" name="Text 6"/>
          <p:cNvSpPr txBox="1"/>
          <p:nvPr/>
        </p:nvSpPr>
        <p:spPr>
          <a:xfrm>
            <a:off x="7680960" y="4069080"/>
            <a:ext cx="1874520" cy="658368"/>
          </a:xfrm>
          <a:prstGeom prst="rect">
            <a:avLst/>
          </a:prstGeom>
          <a:noFill/>
          <a:ln/>
        </p:spPr>
        <p:txBody>
          <a:bodyPr wrap="square" lIns="0" tIns="0" rIns="0" bIns="0" rtlCol="0" anchor="ctr"/>
          <a:lstStyle/>
          <a:p>
            <a:pPr algn="l" indent="0" marL="0">
              <a:buNone/>
            </a:pPr>
            <a:r>
              <a:rPr lang="en-US" sz="2800" b="1" dirty="0">
                <a:solidFill>
                  <a:srgbClr val="1A6068"/>
                </a:solidFill>
                <a:latin typeface="Cambria" pitchFamily="34" charset="0"/>
                <a:ea typeface="Cambria" pitchFamily="34" charset="-122"/>
                <a:cs typeface="Cambria" pitchFamily="34" charset="-120"/>
              </a:rPr>
              <a:t>₹2,000</a:t>
            </a:r>
            <a:endParaRPr lang="en-US" sz="2800" dirty="0"/>
          </a:p>
        </p:txBody>
      </p:sp>
      <p:sp>
        <p:nvSpPr>
          <p:cNvPr id="10" name="Text 7"/>
          <p:cNvSpPr txBox="1"/>
          <p:nvPr/>
        </p:nvSpPr>
        <p:spPr>
          <a:xfrm>
            <a:off x="7680960" y="4709160"/>
            <a:ext cx="1874520" cy="566928"/>
          </a:xfrm>
          <a:prstGeom prst="rect">
            <a:avLst/>
          </a:prstGeom>
          <a:noFill/>
          <a:ln/>
        </p:spPr>
        <p:txBody>
          <a:bodyPr wrap="square" lIns="0" tIns="0" rIns="0" bIns="0" rtlCol="0" anchor="t"/>
          <a:lstStyle/>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to acquire a closed project</a:t>
            </a:r>
            <a:endParaRPr lang="en-US" sz="1150" dirty="0"/>
          </a:p>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0.2% of project value</a:t>
            </a:r>
            <a:endParaRPr lang="en-US" sz="1150" dirty="0"/>
          </a:p>
        </p:txBody>
      </p:sp>
      <p:sp>
        <p:nvSpPr>
          <p:cNvPr id="11" name="Text 8"/>
          <p:cNvSpPr txBox="1"/>
          <p:nvPr/>
        </p:nvSpPr>
        <p:spPr>
          <a:xfrm>
            <a:off x="9646920" y="4069080"/>
            <a:ext cx="1874520" cy="658368"/>
          </a:xfrm>
          <a:prstGeom prst="rect">
            <a:avLst/>
          </a:prstGeom>
          <a:noFill/>
          <a:ln/>
        </p:spPr>
        <p:txBody>
          <a:bodyPr wrap="square" lIns="0" tIns="0" rIns="0" bIns="0" rtlCol="0" anchor="ctr"/>
          <a:lstStyle/>
          <a:p>
            <a:pPr algn="l" indent="0" marL="0">
              <a:buNone/>
            </a:pPr>
            <a:r>
              <a:rPr lang="en-US" sz="2800" b="1" dirty="0">
                <a:solidFill>
                  <a:srgbClr val="BC6440"/>
                </a:solidFill>
                <a:latin typeface="Cambria" pitchFamily="34" charset="0"/>
                <a:ea typeface="Cambria" pitchFamily="34" charset="-122"/>
                <a:cs typeface="Cambria" pitchFamily="34" charset="-120"/>
              </a:rPr>
              <a:t>24</a:t>
            </a:r>
            <a:endParaRPr lang="en-US" sz="2800" dirty="0"/>
          </a:p>
        </p:txBody>
      </p:sp>
      <p:sp>
        <p:nvSpPr>
          <p:cNvPr id="12" name="Text 9"/>
          <p:cNvSpPr txBox="1"/>
          <p:nvPr/>
        </p:nvSpPr>
        <p:spPr>
          <a:xfrm>
            <a:off x="9646920" y="4709160"/>
            <a:ext cx="1874520" cy="566928"/>
          </a:xfrm>
          <a:prstGeom prst="rect">
            <a:avLst/>
          </a:prstGeom>
          <a:noFill/>
          <a:ln/>
        </p:spPr>
        <p:txBody>
          <a:bodyPr wrap="square" lIns="0" tIns="0" rIns="0" bIns="0" rtlCol="0" anchor="t"/>
          <a:lstStyle/>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studios at month twelve</a:t>
            </a:r>
            <a:endParaRPr lang="en-US" sz="1150" dirty="0"/>
          </a:p>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not the 50 the plan assumed</a:t>
            </a:r>
            <a:endParaRPr lang="en-US" sz="1150" dirty="0"/>
          </a:p>
        </p:txBody>
      </p:sp>
      <p:sp>
        <p:nvSpPr>
          <p:cNvPr id="13" name="Text 10"/>
          <p:cNvSpPr txBox="1"/>
          <p:nvPr/>
        </p:nvSpPr>
        <p:spPr>
          <a:xfrm>
            <a:off x="640080" y="6108192"/>
            <a:ext cx="10908792" cy="411480"/>
          </a:xfrm>
          <a:prstGeom prst="rect">
            <a:avLst/>
          </a:prstGeom>
          <a:noFill/>
          <a:ln/>
        </p:spPr>
        <p:txBody>
          <a:bodyPr wrap="square" lIns="0" tIns="0" rIns="0" bIns="0" rtlCol="0" anchor="t"/>
          <a:lstStyle/>
          <a:p>
            <a:pPr indent="0" marL="0">
              <a:buNone/>
            </a:pPr>
            <a:r>
              <a:rPr lang="en-US" sz="1050" i="1" dirty="0">
                <a:solidFill>
                  <a:srgbClr val="8B847C"/>
                </a:solidFill>
                <a:latin typeface="Calibri" pitchFamily="34" charset="0"/>
                <a:ea typeface="Calibri" pitchFamily="34" charset="-122"/>
                <a:cs typeface="Calibri" pitchFamily="34" charset="-120"/>
              </a:rPr>
              <a:t>Revenue is gross of GST and of every cost on the next slide — this is a contribution model, not a P&amp;L. Source: docs/year-one-model.html at default assumptions.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What that model does not carry.</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Our own model raises these against us. We would rather you heard them from this slide than found them in the spreadsheet.</a:t>
            </a:r>
            <a:endParaRPr lang="en-US" sz="1700" dirty="0"/>
          </a:p>
        </p:txBody>
      </p:sp>
      <p:sp>
        <p:nvSpPr>
          <p:cNvPr id="4" name="Shape 2"/>
          <p:cNvSpPr/>
          <p:nvPr/>
        </p:nvSpPr>
        <p:spPr>
          <a:xfrm>
            <a:off x="640080" y="2514600"/>
            <a:ext cx="5358384" cy="1508760"/>
          </a:xfrm>
          <a:prstGeom prst="roundRect">
            <a:avLst>
              <a:gd name="adj" fmla="val 4848"/>
            </a:avLst>
          </a:prstGeom>
          <a:solidFill>
            <a:srgbClr val="FAEDE6"/>
          </a:solidFill>
          <a:ln w="12700">
            <a:solidFill>
              <a:srgbClr val="E8C9B8"/>
            </a:solidFill>
            <a:prstDash val="solid"/>
          </a:ln>
        </p:spPr>
      </p:sp>
      <p:sp>
        <p:nvSpPr>
          <p:cNvPr id="5" name="Text 3"/>
          <p:cNvSpPr txBox="1"/>
          <p:nvPr/>
        </p:nvSpPr>
        <p:spPr>
          <a:xfrm>
            <a:off x="877824" y="2679192"/>
            <a:ext cx="4882896" cy="365760"/>
          </a:xfrm>
          <a:prstGeom prst="rect">
            <a:avLst/>
          </a:prstGeom>
          <a:noFill/>
          <a:ln/>
        </p:spPr>
        <p:txBody>
          <a:bodyPr wrap="square" lIns="0" tIns="0" rIns="0" bIns="0" rtlCol="0" anchor="t"/>
          <a:lstStyle/>
          <a:p>
            <a:pPr indent="0" marL="0">
              <a:buNone/>
            </a:pPr>
            <a:r>
              <a:rPr lang="en-US" sz="1550" b="1" dirty="0">
                <a:solidFill>
                  <a:srgbClr val="BC6440"/>
                </a:solidFill>
                <a:latin typeface="Cambria" pitchFamily="34" charset="0"/>
                <a:ea typeface="Cambria" pitchFamily="34" charset="-122"/>
                <a:cs typeface="Cambria" pitchFamily="34" charset="-120"/>
              </a:rPr>
              <a:t>The roster reaches 24, not 50</a:t>
            </a:r>
            <a:endParaRPr lang="en-US" sz="1550" dirty="0"/>
          </a:p>
        </p:txBody>
      </p:sp>
      <p:sp>
        <p:nvSpPr>
          <p:cNvPr id="6" name="Text 4"/>
          <p:cNvSpPr txBox="1"/>
          <p:nvPr/>
        </p:nvSpPr>
        <p:spPr>
          <a:xfrm>
            <a:off x="877824" y="3081528"/>
            <a:ext cx="4882896" cy="841248"/>
          </a:xfrm>
          <a:prstGeom prst="rect">
            <a:avLst/>
          </a:prstGeom>
          <a:noFill/>
          <a:ln/>
        </p:spPr>
        <p:txBody>
          <a:bodyPr wrap="square" lIns="0" tIns="0" rIns="0" bIns="0" rtlCol="0" anchor="t"/>
          <a:lstStyle/>
          <a:p>
            <a:pPr indent="0" marL="0">
              <a:lnSpc>
                <a:spcPct val="118000"/>
              </a:lnSpc>
              <a:buNone/>
            </a:pPr>
            <a:r>
              <a:rPr lang="en-US" sz="1200" dirty="0">
                <a:solidFill>
                  <a:srgbClr val="2A2622"/>
                </a:solidFill>
                <a:latin typeface="Calibri" pitchFamily="34" charset="0"/>
                <a:ea typeface="Calibri" pitchFamily="34" charset="-122"/>
                <a:cs typeface="Calibri" pitchFamily="34" charset="-120"/>
              </a:rPr>
              <a:t>Signing 20% a month against 10% churn is 10% net growth. Hitting 50 needs 30% a month — a different business-development problem than the plan describes.</a:t>
            </a:r>
            <a:endParaRPr lang="en-US" sz="1200" dirty="0"/>
          </a:p>
        </p:txBody>
      </p:sp>
      <p:sp>
        <p:nvSpPr>
          <p:cNvPr id="7" name="Shape 5"/>
          <p:cNvSpPr/>
          <p:nvPr/>
        </p:nvSpPr>
        <p:spPr>
          <a:xfrm>
            <a:off x="6190488" y="2514600"/>
            <a:ext cx="5358384" cy="1508760"/>
          </a:xfrm>
          <a:prstGeom prst="roundRect">
            <a:avLst>
              <a:gd name="adj" fmla="val 4848"/>
            </a:avLst>
          </a:prstGeom>
          <a:solidFill>
            <a:srgbClr val="FAEDE6"/>
          </a:solidFill>
          <a:ln w="12700">
            <a:solidFill>
              <a:srgbClr val="E8C9B8"/>
            </a:solidFill>
            <a:prstDash val="solid"/>
          </a:ln>
        </p:spPr>
      </p:sp>
      <p:sp>
        <p:nvSpPr>
          <p:cNvPr id="8" name="Text 6"/>
          <p:cNvSpPr txBox="1"/>
          <p:nvPr/>
        </p:nvSpPr>
        <p:spPr>
          <a:xfrm>
            <a:off x="6428232" y="2679192"/>
            <a:ext cx="4882896" cy="365760"/>
          </a:xfrm>
          <a:prstGeom prst="rect">
            <a:avLst/>
          </a:prstGeom>
          <a:noFill/>
          <a:ln/>
        </p:spPr>
        <p:txBody>
          <a:bodyPr wrap="square" lIns="0" tIns="0" rIns="0" bIns="0" rtlCol="0" anchor="t"/>
          <a:lstStyle/>
          <a:p>
            <a:pPr indent="0" marL="0">
              <a:buNone/>
            </a:pPr>
            <a:r>
              <a:rPr lang="en-US" sz="1550" b="1" dirty="0">
                <a:solidFill>
                  <a:srgbClr val="BC6440"/>
                </a:solidFill>
                <a:latin typeface="Cambria" pitchFamily="34" charset="0"/>
                <a:ea typeface="Cambria" pitchFamily="34" charset="-122"/>
                <a:cs typeface="Cambria" pitchFamily="34" charset="-120"/>
              </a:rPr>
              <a:t>The fee is heaviest when volume is lightest</a:t>
            </a:r>
            <a:endParaRPr lang="en-US" sz="1550" dirty="0"/>
          </a:p>
        </p:txBody>
      </p:sp>
      <p:sp>
        <p:nvSpPr>
          <p:cNvPr id="9" name="Text 7"/>
          <p:cNvSpPr txBox="1"/>
          <p:nvPr/>
        </p:nvSpPr>
        <p:spPr>
          <a:xfrm>
            <a:off x="6428232" y="3081528"/>
            <a:ext cx="4882896" cy="841248"/>
          </a:xfrm>
          <a:prstGeom prst="rect">
            <a:avLst/>
          </a:prstGeom>
          <a:noFill/>
          <a:ln/>
        </p:spPr>
        <p:txBody>
          <a:bodyPr wrap="square" lIns="0" tIns="0" rIns="0" bIns="0" rtlCol="0" anchor="t"/>
          <a:lstStyle/>
          <a:p>
            <a:pPr indent="0" marL="0">
              <a:lnSpc>
                <a:spcPct val="118000"/>
              </a:lnSpc>
              <a:buNone/>
            </a:pPr>
            <a:r>
              <a:rPr lang="en-US" sz="1200" dirty="0">
                <a:solidFill>
                  <a:srgbClr val="2A2622"/>
                </a:solidFill>
                <a:latin typeface="Calibri" pitchFamily="34" charset="0"/>
                <a:ea typeface="Calibri" pitchFamily="34" charset="-122"/>
                <a:cs typeface="Calibri" pitchFamily="34" charset="-120"/>
              </a:rPr>
              <a:t>At month six a studio runs about 2.3 projects and pays up to 7.1%, against 5% in the pilot. That is the same month we assumed 10% churn. The two are unlikely to be unrelated.</a:t>
            </a:r>
            <a:endParaRPr lang="en-US" sz="1200" dirty="0"/>
          </a:p>
        </p:txBody>
      </p:sp>
      <p:sp>
        <p:nvSpPr>
          <p:cNvPr id="10" name="Shape 8"/>
          <p:cNvSpPr/>
          <p:nvPr/>
        </p:nvSpPr>
        <p:spPr>
          <a:xfrm>
            <a:off x="640080" y="4206240"/>
            <a:ext cx="5358384" cy="1508760"/>
          </a:xfrm>
          <a:prstGeom prst="roundRect">
            <a:avLst>
              <a:gd name="adj" fmla="val 4848"/>
            </a:avLst>
          </a:prstGeom>
          <a:solidFill>
            <a:srgbClr val="FAEDE6"/>
          </a:solidFill>
          <a:ln w="12700">
            <a:solidFill>
              <a:srgbClr val="E8C9B8"/>
            </a:solidFill>
            <a:prstDash val="solid"/>
          </a:ln>
        </p:spPr>
      </p:sp>
      <p:sp>
        <p:nvSpPr>
          <p:cNvPr id="11" name="Text 9"/>
          <p:cNvSpPr txBox="1"/>
          <p:nvPr/>
        </p:nvSpPr>
        <p:spPr>
          <a:xfrm>
            <a:off x="877824" y="4370832"/>
            <a:ext cx="4882896" cy="365760"/>
          </a:xfrm>
          <a:prstGeom prst="rect">
            <a:avLst/>
          </a:prstGeom>
          <a:noFill/>
          <a:ln/>
        </p:spPr>
        <p:txBody>
          <a:bodyPr wrap="square" lIns="0" tIns="0" rIns="0" bIns="0" rtlCol="0" anchor="t"/>
          <a:lstStyle/>
          <a:p>
            <a:pPr indent="0" marL="0">
              <a:buNone/>
            </a:pPr>
            <a:r>
              <a:rPr lang="en-US" sz="1550" b="1" dirty="0">
                <a:solidFill>
                  <a:srgbClr val="BC6440"/>
                </a:solidFill>
                <a:latin typeface="Cambria" pitchFamily="34" charset="0"/>
                <a:ea typeface="Cambria" pitchFamily="34" charset="-122"/>
                <a:cs typeface="Cambria" pitchFamily="34" charset="-120"/>
              </a:rPr>
              <a:t>Two acquisition costs, only one can be true</a:t>
            </a:r>
            <a:endParaRPr lang="en-US" sz="1550" dirty="0"/>
          </a:p>
        </p:txBody>
      </p:sp>
      <p:sp>
        <p:nvSpPr>
          <p:cNvPr id="12" name="Text 10"/>
          <p:cNvSpPr txBox="1"/>
          <p:nvPr/>
        </p:nvSpPr>
        <p:spPr>
          <a:xfrm>
            <a:off x="877824" y="4773168"/>
            <a:ext cx="4882896" cy="841248"/>
          </a:xfrm>
          <a:prstGeom prst="rect">
            <a:avLst/>
          </a:prstGeom>
          <a:noFill/>
          <a:ln/>
        </p:spPr>
        <p:txBody>
          <a:bodyPr wrap="square" lIns="0" tIns="0" rIns="0" bIns="0" rtlCol="0" anchor="t"/>
          <a:lstStyle/>
          <a:p>
            <a:pPr indent="0" marL="0">
              <a:lnSpc>
                <a:spcPct val="118000"/>
              </a:lnSpc>
              <a:buNone/>
            </a:pPr>
            <a:r>
              <a:rPr lang="en-US" sz="1200" dirty="0">
                <a:solidFill>
                  <a:srgbClr val="2A2622"/>
                </a:solidFill>
                <a:latin typeface="Calibri" pitchFamily="34" charset="0"/>
                <a:ea typeface="Calibri" pitchFamily="34" charset="-122"/>
                <a:cs typeface="Calibri" pitchFamily="34" charset="-120"/>
              </a:rPr>
              <a:t>The model computes ₹2,000 per closed project. The kill-criteria imply ₹25,000. Finding out which is the first thing the pilot measures.</a:t>
            </a:r>
            <a:endParaRPr lang="en-US" sz="1200" dirty="0"/>
          </a:p>
        </p:txBody>
      </p:sp>
      <p:sp>
        <p:nvSpPr>
          <p:cNvPr id="13" name="Shape 11"/>
          <p:cNvSpPr/>
          <p:nvPr/>
        </p:nvSpPr>
        <p:spPr>
          <a:xfrm>
            <a:off x="6190488" y="4206240"/>
            <a:ext cx="5358384" cy="1508760"/>
          </a:xfrm>
          <a:prstGeom prst="roundRect">
            <a:avLst>
              <a:gd name="adj" fmla="val 4848"/>
            </a:avLst>
          </a:prstGeom>
          <a:solidFill>
            <a:srgbClr val="FAEDE6"/>
          </a:solidFill>
          <a:ln w="12700">
            <a:solidFill>
              <a:srgbClr val="E8C9B8"/>
            </a:solidFill>
            <a:prstDash val="solid"/>
          </a:ln>
        </p:spPr>
      </p:sp>
      <p:sp>
        <p:nvSpPr>
          <p:cNvPr id="14" name="Text 12"/>
          <p:cNvSpPr txBox="1"/>
          <p:nvPr/>
        </p:nvSpPr>
        <p:spPr>
          <a:xfrm>
            <a:off x="6428232" y="4370832"/>
            <a:ext cx="4882896" cy="365760"/>
          </a:xfrm>
          <a:prstGeom prst="rect">
            <a:avLst/>
          </a:prstGeom>
          <a:noFill/>
          <a:ln/>
        </p:spPr>
        <p:txBody>
          <a:bodyPr wrap="square" lIns="0" tIns="0" rIns="0" bIns="0" rtlCol="0" anchor="t"/>
          <a:lstStyle/>
          <a:p>
            <a:pPr indent="0" marL="0">
              <a:buNone/>
            </a:pPr>
            <a:r>
              <a:rPr lang="en-US" sz="1550" b="1" dirty="0">
                <a:solidFill>
                  <a:srgbClr val="BC6440"/>
                </a:solidFill>
                <a:latin typeface="Cambria" pitchFamily="34" charset="0"/>
                <a:ea typeface="Cambria" pitchFamily="34" charset="-122"/>
                <a:cs typeface="Cambria" pitchFamily="34" charset="-120"/>
              </a:rPr>
              <a:t>₹15.5 lakh of unpriced cost</a:t>
            </a:r>
            <a:endParaRPr lang="en-US" sz="1550" dirty="0"/>
          </a:p>
        </p:txBody>
      </p:sp>
      <p:sp>
        <p:nvSpPr>
          <p:cNvPr id="15" name="Text 13"/>
          <p:cNvSpPr txBox="1"/>
          <p:nvPr/>
        </p:nvSpPr>
        <p:spPr>
          <a:xfrm>
            <a:off x="6428232" y="4773168"/>
            <a:ext cx="4882896" cy="841248"/>
          </a:xfrm>
          <a:prstGeom prst="rect">
            <a:avLst/>
          </a:prstGeom>
          <a:noFill/>
          <a:ln/>
        </p:spPr>
        <p:txBody>
          <a:bodyPr wrap="square" lIns="0" tIns="0" rIns="0" bIns="0" rtlCol="0" anchor="t"/>
          <a:lstStyle/>
          <a:p>
            <a:pPr indent="0" marL="0">
              <a:lnSpc>
                <a:spcPct val="118000"/>
              </a:lnSpc>
              <a:buNone/>
            </a:pPr>
            <a:r>
              <a:rPr lang="en-US" sz="1200" dirty="0">
                <a:solidFill>
                  <a:srgbClr val="2A2622"/>
                </a:solidFill>
                <a:latin typeface="Calibri" pitchFamily="34" charset="0"/>
                <a:ea typeface="Calibri" pitchFamily="34" charset="-122"/>
                <a:cs typeface="Calibri" pitchFamily="34" charset="-120"/>
              </a:rPr>
              <a:t>The expert calls (₹6.2 L) and verification (₹9.3 L) appear in no revenue line. About 37 paise in every verification rupee is spent on studios who then churn out.</a:t>
            </a:r>
            <a:endParaRPr lang="en-US" sz="1200" dirty="0"/>
          </a:p>
        </p:txBody>
      </p:sp>
      <p:sp>
        <p:nvSpPr>
          <p:cNvPr id="16" name="Text 14"/>
          <p:cNvSpPr txBox="1"/>
          <p:nvPr/>
        </p:nvSpPr>
        <p:spPr>
          <a:xfrm>
            <a:off x="640080" y="6108192"/>
            <a:ext cx="10908792" cy="411480"/>
          </a:xfrm>
          <a:prstGeom prst="rect">
            <a:avLst/>
          </a:prstGeom>
          <a:noFill/>
          <a:ln/>
        </p:spPr>
        <p:txBody>
          <a:bodyPr wrap="square" lIns="0" tIns="0" rIns="0" bIns="0" rtlCol="0" anchor="t"/>
          <a:lstStyle/>
          <a:p>
            <a:pPr indent="0" marL="0">
              <a:buNone/>
            </a:pPr>
            <a:r>
              <a:rPr lang="en-US" sz="1050" i="1" dirty="0">
                <a:solidFill>
                  <a:srgbClr val="8B847C"/>
                </a:solidFill>
                <a:latin typeface="Calibri" pitchFamily="34" charset="0"/>
                <a:ea typeface="Calibri" pitchFamily="34" charset="-122"/>
                <a:cs typeface="Calibri" pitchFamily="34" charset="-120"/>
              </a:rPr>
              <a:t>The pilot also has zero slack: ten studios guaranteed one project a month for three months is exactly the thirty projects the model produces. Miss the conversion rate at all and we owe ten studios an explanation in the worst possible quarter.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Year two is a second city, and a real asset.</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Pune runs toward its cap; each new city repeats the same three-month pilot before anyone pays a subscription.</a:t>
            </a:r>
            <a:endParaRPr lang="en-US" sz="1700" dirty="0"/>
          </a:p>
        </p:txBody>
      </p:sp>
      <p:sp>
        <p:nvSpPr>
          <p:cNvPr id="4" name="Text 2"/>
          <p:cNvSpPr txBox="1"/>
          <p:nvPr/>
        </p:nvSpPr>
        <p:spPr>
          <a:xfrm>
            <a:off x="640080" y="2514600"/>
            <a:ext cx="2651760" cy="658368"/>
          </a:xfrm>
          <a:prstGeom prst="rect">
            <a:avLst/>
          </a:prstGeom>
          <a:noFill/>
          <a:ln/>
        </p:spPr>
        <p:txBody>
          <a:bodyPr wrap="square" lIns="0" tIns="0" rIns="0" bIns="0" rtlCol="0" anchor="ctr"/>
          <a:lstStyle/>
          <a:p>
            <a:pPr algn="l" indent="0" marL="0">
              <a:buNone/>
            </a:pPr>
            <a:r>
              <a:rPr lang="en-US" sz="3000" b="1" dirty="0">
                <a:solidFill>
                  <a:srgbClr val="1A6068"/>
                </a:solidFill>
                <a:latin typeface="Cambria" pitchFamily="34" charset="0"/>
                <a:ea typeface="Cambria" pitchFamily="34" charset="-122"/>
                <a:cs typeface="Cambria" pitchFamily="34" charset="-120"/>
              </a:rPr>
              <a:t>₹20.54 Cr</a:t>
            </a:r>
            <a:endParaRPr lang="en-US" sz="3000" dirty="0"/>
          </a:p>
        </p:txBody>
      </p:sp>
      <p:sp>
        <p:nvSpPr>
          <p:cNvPr id="5" name="Text 3"/>
          <p:cNvSpPr txBox="1"/>
          <p:nvPr/>
        </p:nvSpPr>
        <p:spPr>
          <a:xfrm>
            <a:off x="640080" y="3154680"/>
            <a:ext cx="2651760" cy="566928"/>
          </a:xfrm>
          <a:prstGeom prst="rect">
            <a:avLst/>
          </a:prstGeom>
          <a:noFill/>
          <a:ln/>
        </p:spPr>
        <p:txBody>
          <a:bodyPr wrap="square" lIns="0" tIns="0" rIns="0" bIns="0" rtlCol="0" anchor="t"/>
          <a:lstStyle/>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gross revenue across three cities</a:t>
            </a:r>
            <a:endParaRPr lang="en-US" sz="1150" dirty="0"/>
          </a:p>
        </p:txBody>
      </p:sp>
      <p:sp>
        <p:nvSpPr>
          <p:cNvPr id="6" name="Text 4"/>
          <p:cNvSpPr txBox="1"/>
          <p:nvPr/>
        </p:nvSpPr>
        <p:spPr>
          <a:xfrm>
            <a:off x="3429000" y="2514600"/>
            <a:ext cx="2651760" cy="658368"/>
          </a:xfrm>
          <a:prstGeom prst="rect">
            <a:avLst/>
          </a:prstGeom>
          <a:noFill/>
          <a:ln/>
        </p:spPr>
        <p:txBody>
          <a:bodyPr wrap="square" lIns="0" tIns="0" rIns="0" bIns="0" rtlCol="0" anchor="ctr"/>
          <a:lstStyle/>
          <a:p>
            <a:pPr algn="l" indent="0" marL="0">
              <a:buNone/>
            </a:pPr>
            <a:r>
              <a:rPr lang="en-US" sz="3000" b="1" dirty="0">
                <a:solidFill>
                  <a:srgbClr val="1A6068"/>
                </a:solidFill>
                <a:latin typeface="Cambria" pitchFamily="34" charset="0"/>
                <a:ea typeface="Cambria" pitchFamily="34" charset="-122"/>
                <a:cs typeface="Cambria" pitchFamily="34" charset="-120"/>
              </a:rPr>
              <a:t>2,233</a:t>
            </a:r>
            <a:endParaRPr lang="en-US" sz="3000" dirty="0"/>
          </a:p>
        </p:txBody>
      </p:sp>
      <p:sp>
        <p:nvSpPr>
          <p:cNvPr id="7" name="Text 5"/>
          <p:cNvSpPr txBox="1"/>
          <p:nvPr/>
        </p:nvSpPr>
        <p:spPr>
          <a:xfrm>
            <a:off x="3429000" y="3154680"/>
            <a:ext cx="2651760" cy="566928"/>
          </a:xfrm>
          <a:prstGeom prst="rect">
            <a:avLst/>
          </a:prstGeom>
          <a:noFill/>
          <a:ln/>
        </p:spPr>
        <p:txBody>
          <a:bodyPr wrap="square" lIns="0" tIns="0" rIns="0" bIns="0" rtlCol="0" anchor="t"/>
          <a:lstStyle/>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projects · ₹284.71 Cr placed</a:t>
            </a:r>
            <a:endParaRPr lang="en-US" sz="1150" dirty="0"/>
          </a:p>
        </p:txBody>
      </p:sp>
      <p:sp>
        <p:nvSpPr>
          <p:cNvPr id="8" name="Text 6"/>
          <p:cNvSpPr txBox="1"/>
          <p:nvPr/>
        </p:nvSpPr>
        <p:spPr>
          <a:xfrm>
            <a:off x="6217920" y="2514600"/>
            <a:ext cx="2651760" cy="658368"/>
          </a:xfrm>
          <a:prstGeom prst="rect">
            <a:avLst/>
          </a:prstGeom>
          <a:noFill/>
          <a:ln/>
        </p:spPr>
        <p:txBody>
          <a:bodyPr wrap="square" lIns="0" tIns="0" rIns="0" bIns="0" rtlCol="0" anchor="ctr"/>
          <a:lstStyle/>
          <a:p>
            <a:pPr algn="l" indent="0" marL="0">
              <a:buNone/>
            </a:pPr>
            <a:r>
              <a:rPr lang="en-US" sz="3000" b="1" dirty="0">
                <a:solidFill>
                  <a:srgbClr val="BC6440"/>
                </a:solidFill>
                <a:latin typeface="Cambria" pitchFamily="34" charset="0"/>
                <a:ea typeface="Cambria" pitchFamily="34" charset="-122"/>
                <a:cs typeface="Cambria" pitchFamily="34" charset="-120"/>
              </a:rPr>
              <a:t>14%</a:t>
            </a:r>
            <a:endParaRPr lang="en-US" sz="3000" dirty="0"/>
          </a:p>
        </p:txBody>
      </p:sp>
      <p:sp>
        <p:nvSpPr>
          <p:cNvPr id="9" name="Text 7"/>
          <p:cNvSpPr txBox="1"/>
          <p:nvPr/>
        </p:nvSpPr>
        <p:spPr>
          <a:xfrm>
            <a:off x="6217920" y="3154680"/>
            <a:ext cx="2651760" cy="566928"/>
          </a:xfrm>
          <a:prstGeom prst="rect">
            <a:avLst/>
          </a:prstGeom>
          <a:noFill/>
          <a:ln/>
        </p:spPr>
        <p:txBody>
          <a:bodyPr wrap="square" lIns="0" tIns="0" rIns="0" bIns="0" rtlCol="0" anchor="t"/>
          <a:lstStyle/>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of revenue is escrow — not yet legal</a:t>
            </a:r>
            <a:endParaRPr lang="en-US" sz="1150" dirty="0"/>
          </a:p>
        </p:txBody>
      </p:sp>
      <p:sp>
        <p:nvSpPr>
          <p:cNvPr id="10" name="Text 8"/>
          <p:cNvSpPr txBox="1"/>
          <p:nvPr/>
        </p:nvSpPr>
        <p:spPr>
          <a:xfrm>
            <a:off x="9006840" y="2514600"/>
            <a:ext cx="2651760" cy="658368"/>
          </a:xfrm>
          <a:prstGeom prst="rect">
            <a:avLst/>
          </a:prstGeom>
          <a:noFill/>
          <a:ln/>
        </p:spPr>
        <p:txBody>
          <a:bodyPr wrap="square" lIns="0" tIns="0" rIns="0" bIns="0" rtlCol="0" anchor="ctr"/>
          <a:lstStyle/>
          <a:p>
            <a:pPr algn="l" indent="0" marL="0">
              <a:buNone/>
            </a:pPr>
            <a:r>
              <a:rPr lang="en-US" sz="3000" b="1" dirty="0">
                <a:solidFill>
                  <a:srgbClr val="BC6440"/>
                </a:solidFill>
                <a:latin typeface="Cambria" pitchFamily="34" charset="0"/>
                <a:ea typeface="Cambria" pitchFamily="34" charset="-122"/>
                <a:cs typeface="Cambria" pitchFamily="34" charset="-120"/>
              </a:rPr>
              <a:t>8%</a:t>
            </a:r>
            <a:endParaRPr lang="en-US" sz="3000" dirty="0"/>
          </a:p>
        </p:txBody>
      </p:sp>
      <p:sp>
        <p:nvSpPr>
          <p:cNvPr id="11" name="Text 9"/>
          <p:cNvSpPr txBox="1"/>
          <p:nvPr/>
        </p:nvSpPr>
        <p:spPr>
          <a:xfrm>
            <a:off x="9006840" y="3154680"/>
            <a:ext cx="2651760" cy="566928"/>
          </a:xfrm>
          <a:prstGeom prst="rect">
            <a:avLst/>
          </a:prstGeom>
          <a:noFill/>
          <a:ln/>
        </p:spPr>
        <p:txBody>
          <a:bodyPr wrap="square" lIns="0" tIns="0" rIns="0" bIns="0" rtlCol="0" anchor="t"/>
          <a:lstStyle/>
          <a:p>
            <a:pPr algn="l" indent="0" marL="0">
              <a:lnSpc>
                <a:spcPct val="115000"/>
              </a:lnSpc>
              <a:buNone/>
            </a:pPr>
            <a:r>
              <a:rPr lang="en-US" sz="1150" dirty="0">
                <a:solidFill>
                  <a:srgbClr val="8B847C"/>
                </a:solidFill>
                <a:latin typeface="Calibri" pitchFamily="34" charset="0"/>
                <a:ea typeface="Calibri" pitchFamily="34" charset="-122"/>
                <a:cs typeface="Calibri" pitchFamily="34" charset="-120"/>
              </a:rPr>
              <a:t>of Pune’s organised market</a:t>
            </a:r>
            <a:endParaRPr lang="en-US" sz="1150" dirty="0"/>
          </a:p>
        </p:txBody>
      </p:sp>
      <p:sp>
        <p:nvSpPr>
          <p:cNvPr id="12" name="Shape 10"/>
          <p:cNvSpPr/>
          <p:nvPr/>
        </p:nvSpPr>
        <p:spPr>
          <a:xfrm>
            <a:off x="640080" y="3977640"/>
            <a:ext cx="5358384" cy="1783080"/>
          </a:xfrm>
          <a:prstGeom prst="roundRect">
            <a:avLst>
              <a:gd name="adj" fmla="val 4103"/>
            </a:avLst>
          </a:prstGeom>
          <a:solidFill>
            <a:srgbClr val="FAEDE6"/>
          </a:solidFill>
          <a:ln w="12700">
            <a:solidFill>
              <a:srgbClr val="E8C9B8"/>
            </a:solidFill>
            <a:prstDash val="solid"/>
          </a:ln>
        </p:spPr>
      </p:sp>
      <p:sp>
        <p:nvSpPr>
          <p:cNvPr id="13" name="Text 11"/>
          <p:cNvSpPr txBox="1"/>
          <p:nvPr/>
        </p:nvSpPr>
        <p:spPr>
          <a:xfrm>
            <a:off x="896112" y="4160520"/>
            <a:ext cx="4846320" cy="347472"/>
          </a:xfrm>
          <a:prstGeom prst="rect">
            <a:avLst/>
          </a:prstGeom>
          <a:noFill/>
          <a:ln/>
        </p:spPr>
        <p:txBody>
          <a:bodyPr wrap="square" lIns="0" tIns="0" rIns="0" bIns="0" rtlCol="0" anchor="t"/>
          <a:lstStyle/>
          <a:p>
            <a:pPr indent="0" marL="0">
              <a:buNone/>
            </a:pPr>
            <a:r>
              <a:rPr lang="en-US" sz="1550" b="1" dirty="0">
                <a:solidFill>
                  <a:srgbClr val="BC6440"/>
                </a:solidFill>
                <a:latin typeface="Cambria" pitchFamily="34" charset="0"/>
                <a:ea typeface="Cambria" pitchFamily="34" charset="-122"/>
                <a:cs typeface="Cambria" pitchFamily="34" charset="-120"/>
              </a:rPr>
              <a:t>The two honest problems</a:t>
            </a:r>
            <a:endParaRPr lang="en-US" sz="1550" dirty="0"/>
          </a:p>
        </p:txBody>
      </p:sp>
      <p:sp>
        <p:nvSpPr>
          <p:cNvPr id="14" name="Text 12"/>
          <p:cNvSpPr txBox="1"/>
          <p:nvPr/>
        </p:nvSpPr>
        <p:spPr>
          <a:xfrm>
            <a:off x="896112" y="4553712"/>
            <a:ext cx="4846320" cy="1115568"/>
          </a:xfrm>
          <a:prstGeom prst="rect">
            <a:avLst/>
          </a:prstGeom>
          <a:noFill/>
          <a:ln/>
        </p:spPr>
        <p:txBody>
          <a:bodyPr wrap="square" lIns="0" tIns="0" rIns="0" bIns="0" rtlCol="0" anchor="t"/>
          <a:lstStyle/>
          <a:p>
            <a:pPr indent="0" marL="0">
              <a:lnSpc>
                <a:spcPct val="118000"/>
              </a:lnSpc>
              <a:buNone/>
            </a:pPr>
            <a:r>
              <a:rPr lang="en-US" sz="1200" dirty="0">
                <a:solidFill>
                  <a:srgbClr val="2A2622"/>
                </a:solidFill>
                <a:latin typeface="Calibri" pitchFamily="34" charset="0"/>
                <a:ea typeface="Calibri" pitchFamily="34" charset="-122"/>
                <a:cs typeface="Calibri" pitchFamily="34" charset="-120"/>
              </a:rPr>
              <a:t>₹2.81 Cr rests on holding client money, which in India needs an RBI-compliant partner nobody has confirmed we can have.</a:t>
            </a:r>
            <a:endParaRPr lang="en-US" sz="1200" dirty="0"/>
          </a:p>
          <a:p>
            <a:pPr indent="0" marL="0">
              <a:lnSpc>
                <a:spcPct val="118000"/>
              </a:lnSpc>
              <a:buNone/>
            </a:pPr>
            <a:endParaRPr lang="en-US" sz="1200" dirty="0"/>
          </a:p>
          <a:p>
            <a:pPr indent="0" marL="0">
              <a:lnSpc>
                <a:spcPct val="118000"/>
              </a:lnSpc>
              <a:buNone/>
            </a:pPr>
            <a:r>
              <a:rPr lang="en-US" sz="1200" dirty="0">
                <a:solidFill>
                  <a:srgbClr val="2A2622"/>
                </a:solidFill>
                <a:latin typeface="Calibri" pitchFamily="34" charset="0"/>
                <a:ea typeface="Calibri" pitchFamily="34" charset="-122"/>
                <a:cs typeface="Calibri" pitchFamily="34" charset="-120"/>
              </a:rPr>
              <a:t>And 8% of a city’s organised market in year two is a market-share claim, not a growth rate. It is the number a serious investor pushes back on hardest.</a:t>
            </a:r>
            <a:endParaRPr lang="en-US" sz="1200" dirty="0"/>
          </a:p>
        </p:txBody>
      </p:sp>
      <p:sp>
        <p:nvSpPr>
          <p:cNvPr id="15" name="Shape 13"/>
          <p:cNvSpPr/>
          <p:nvPr/>
        </p:nvSpPr>
        <p:spPr>
          <a:xfrm>
            <a:off x="6190488" y="3977640"/>
            <a:ext cx="5358384" cy="1783080"/>
          </a:xfrm>
          <a:prstGeom prst="roundRect">
            <a:avLst>
              <a:gd name="adj" fmla="val 4103"/>
            </a:avLst>
          </a:prstGeom>
          <a:solidFill>
            <a:srgbClr val="1A6068"/>
          </a:solidFill>
          <a:ln w="12700">
            <a:solidFill>
              <a:srgbClr val="E3DCD2"/>
            </a:solidFill>
            <a:prstDash val="solid"/>
          </a:ln>
        </p:spPr>
      </p:sp>
      <p:sp>
        <p:nvSpPr>
          <p:cNvPr id="16" name="Text 14"/>
          <p:cNvSpPr txBox="1"/>
          <p:nvPr/>
        </p:nvSpPr>
        <p:spPr>
          <a:xfrm>
            <a:off x="6446520" y="4160520"/>
            <a:ext cx="4846320" cy="347472"/>
          </a:xfrm>
          <a:prstGeom prst="rect">
            <a:avLst/>
          </a:prstGeom>
          <a:noFill/>
          <a:ln/>
        </p:spPr>
        <p:txBody>
          <a:bodyPr wrap="square" lIns="0" tIns="0" rIns="0" bIns="0" rtlCol="0" anchor="t"/>
          <a:lstStyle/>
          <a:p>
            <a:pPr indent="0" marL="0">
              <a:buNone/>
            </a:pPr>
            <a:r>
              <a:rPr lang="en-US" sz="1550" b="1" dirty="0">
                <a:solidFill>
                  <a:srgbClr val="C9922A"/>
                </a:solidFill>
                <a:latin typeface="Cambria" pitchFamily="34" charset="0"/>
                <a:ea typeface="Cambria" pitchFamily="34" charset="-122"/>
                <a:cs typeface="Cambria" pitchFamily="34" charset="-120"/>
              </a:rPr>
              <a:t>The thing nobody can copy</a:t>
            </a:r>
            <a:endParaRPr lang="en-US" sz="1550" dirty="0"/>
          </a:p>
        </p:txBody>
      </p:sp>
      <p:sp>
        <p:nvSpPr>
          <p:cNvPr id="17" name="Text 15"/>
          <p:cNvSpPr txBox="1"/>
          <p:nvPr/>
        </p:nvSpPr>
        <p:spPr>
          <a:xfrm>
            <a:off x="6446520" y="4553712"/>
            <a:ext cx="4846320" cy="1115568"/>
          </a:xfrm>
          <a:prstGeom prst="rect">
            <a:avLst/>
          </a:prstGeom>
          <a:noFill/>
          <a:ln/>
        </p:spPr>
        <p:txBody>
          <a:bodyPr wrap="square" lIns="0" tIns="0" rIns="0" bIns="0" rtlCol="0" anchor="t"/>
          <a:lstStyle/>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By the end of year two we hold delivery variance on 2,233 completed projects — who finished on time, who did not, and by how much.</a:t>
            </a:r>
            <a:endParaRPr lang="en-US" sz="1200" dirty="0"/>
          </a:p>
          <a:p>
            <a:pPr indent="0" marL="0">
              <a:lnSpc>
                <a:spcPct val="118000"/>
              </a:lnSpc>
              <a:buNone/>
            </a:pPr>
            <a:endParaRPr lang="en-US" sz="1200" dirty="0"/>
          </a:p>
          <a:p>
            <a:pPr indent="0" marL="0">
              <a:lnSpc>
                <a:spcPct val="118000"/>
              </a:lnSpc>
              <a:buNone/>
            </a:pPr>
            <a:r>
              <a:rPr lang="en-US" sz="1200" dirty="0">
                <a:solidFill>
                  <a:srgbClr val="DCEAEB"/>
                </a:solidFill>
                <a:latin typeface="Calibri" pitchFamily="34" charset="0"/>
                <a:ea typeface="Calibri" pitchFamily="34" charset="-122"/>
                <a:cs typeface="Calibri" pitchFamily="34" charset="-120"/>
              </a:rPr>
              <a:t>That cannot be bought from a KYC vendor or copied in a weekend. Everything else in this plan is replicable. This is not.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The waitlist is how we buy supply.</a:t>
            </a:r>
            <a:endParaRPr lang="en-US" sz="3400" dirty="0"/>
          </a:p>
        </p:txBody>
      </p:sp>
      <p:sp>
        <p:nvSpPr>
          <p:cNvPr id="3" name="Text 1"/>
          <p:cNvSpPr txBox="1"/>
          <p:nvPr/>
        </p:nvSpPr>
        <p:spPr>
          <a:xfrm>
            <a:off x="640080" y="1463040"/>
            <a:ext cx="10908792" cy="91440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“Join our platform” is a weak cold open. “We have 140 briefs in Baner and Kharadi, here is the budget distribution, do you want to be one of the first ten studios to see them” is a different conversation.</a:t>
            </a:r>
            <a:endParaRPr lang="en-US" sz="1700" dirty="0"/>
          </a:p>
        </p:txBody>
      </p:sp>
      <p:sp>
        <p:nvSpPr>
          <p:cNvPr id="4" name="Text 2"/>
          <p:cNvSpPr txBox="1"/>
          <p:nvPr/>
        </p:nvSpPr>
        <p:spPr>
          <a:xfrm>
            <a:off x="640080" y="2697480"/>
            <a:ext cx="2377440" cy="658368"/>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Founders’ network</a:t>
            </a:r>
            <a:endParaRPr lang="en-US" sz="1400" dirty="0"/>
          </a:p>
        </p:txBody>
      </p:sp>
      <p:sp>
        <p:nvSpPr>
          <p:cNvPr id="5" name="Text 3"/>
          <p:cNvSpPr txBox="1"/>
          <p:nvPr/>
        </p:nvSpPr>
        <p:spPr>
          <a:xfrm>
            <a:off x="3063240" y="2697480"/>
            <a:ext cx="1143000" cy="658368"/>
          </a:xfrm>
          <a:prstGeom prst="rect">
            <a:avLst/>
          </a:prstGeom>
          <a:noFill/>
          <a:ln/>
        </p:spPr>
        <p:txBody>
          <a:bodyPr wrap="square" lIns="0" tIns="0" rIns="0" bIns="0" rtlCol="0" anchor="ctr"/>
          <a:lstStyle/>
          <a:p>
            <a:pPr indent="0" marL="0">
              <a:buNone/>
            </a:pPr>
            <a:r>
              <a:rPr lang="en-US" sz="1700" b="1" dirty="0">
                <a:solidFill>
                  <a:srgbClr val="1A6068"/>
                </a:solidFill>
                <a:latin typeface="Cambria" pitchFamily="34" charset="0"/>
                <a:ea typeface="Cambria" pitchFamily="34" charset="-122"/>
                <a:cs typeface="Cambria" pitchFamily="34" charset="-120"/>
              </a:rPr>
              <a:t>20–40</a:t>
            </a:r>
            <a:endParaRPr lang="en-US" sz="1700" dirty="0"/>
          </a:p>
        </p:txBody>
      </p:sp>
      <p:sp>
        <p:nvSpPr>
          <p:cNvPr id="6" name="Text 4"/>
          <p:cNvSpPr txBox="1"/>
          <p:nvPr/>
        </p:nvSpPr>
        <p:spPr>
          <a:xfrm>
            <a:off x="4297680" y="2697480"/>
            <a:ext cx="7223760" cy="658368"/>
          </a:xfrm>
          <a:prstGeom prst="rect">
            <a:avLst/>
          </a:prstGeom>
          <a:noFill/>
          <a:ln/>
        </p:spPr>
        <p:txBody>
          <a:bodyPr wrap="square" lIns="0" tIns="0" rIns="0" bIns="0" rtlCol="0" anchor="ctr"/>
          <a:lstStyle/>
          <a:p>
            <a:pPr indent="0" marL="0">
              <a:lnSpc>
                <a:spcPct val="115000"/>
              </a:lnSpc>
              <a:buNone/>
            </a:pPr>
            <a:r>
              <a:rPr lang="en-US" sz="1200" dirty="0">
                <a:solidFill>
                  <a:srgbClr val="5A544E"/>
                </a:solidFill>
                <a:latin typeface="Calibri" pitchFamily="34" charset="0"/>
                <a:ea typeface="Calibri" pitchFamily="34" charset="-122"/>
                <a:cs typeface="Calibri" pitchFamily="34" charset="-120"/>
              </a:rPr>
              <a:t>Direct WhatsApp to people who have just taken possession. Highest intent, zero cost.</a:t>
            </a:r>
            <a:endParaRPr lang="en-US" sz="1200" dirty="0"/>
          </a:p>
        </p:txBody>
      </p:sp>
      <p:sp>
        <p:nvSpPr>
          <p:cNvPr id="7" name="Text 5"/>
          <p:cNvSpPr txBox="1"/>
          <p:nvPr/>
        </p:nvSpPr>
        <p:spPr>
          <a:xfrm>
            <a:off x="640080" y="3429000"/>
            <a:ext cx="2377440" cy="658368"/>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Societies and RWAs</a:t>
            </a:r>
            <a:endParaRPr lang="en-US" sz="1400" dirty="0"/>
          </a:p>
        </p:txBody>
      </p:sp>
      <p:sp>
        <p:nvSpPr>
          <p:cNvPr id="8" name="Text 6"/>
          <p:cNvSpPr txBox="1"/>
          <p:nvPr/>
        </p:nvSpPr>
        <p:spPr>
          <a:xfrm>
            <a:off x="3063240" y="3429000"/>
            <a:ext cx="1143000" cy="658368"/>
          </a:xfrm>
          <a:prstGeom prst="rect">
            <a:avLst/>
          </a:prstGeom>
          <a:noFill/>
          <a:ln/>
        </p:spPr>
        <p:txBody>
          <a:bodyPr wrap="square" lIns="0" tIns="0" rIns="0" bIns="0" rtlCol="0" anchor="ctr"/>
          <a:lstStyle/>
          <a:p>
            <a:pPr indent="0" marL="0">
              <a:buNone/>
            </a:pPr>
            <a:r>
              <a:rPr lang="en-US" sz="1700" b="1" dirty="0">
                <a:solidFill>
                  <a:srgbClr val="1A6068"/>
                </a:solidFill>
                <a:latin typeface="Cambria" pitchFamily="34" charset="0"/>
                <a:ea typeface="Cambria" pitchFamily="34" charset="-122"/>
                <a:cs typeface="Cambria" pitchFamily="34" charset="-120"/>
              </a:rPr>
              <a:t>40–80</a:t>
            </a:r>
            <a:endParaRPr lang="en-US" sz="1700" dirty="0"/>
          </a:p>
        </p:txBody>
      </p:sp>
      <p:sp>
        <p:nvSpPr>
          <p:cNvPr id="9" name="Text 7"/>
          <p:cNvSpPr txBox="1"/>
          <p:nvPr/>
        </p:nvSpPr>
        <p:spPr>
          <a:xfrm>
            <a:off x="4297680" y="3429000"/>
            <a:ext cx="7223760" cy="658368"/>
          </a:xfrm>
          <a:prstGeom prst="rect">
            <a:avLst/>
          </a:prstGeom>
          <a:noFill/>
          <a:ln/>
        </p:spPr>
        <p:txBody>
          <a:bodyPr wrap="square" lIns="0" tIns="0" rIns="0" bIns="0" rtlCol="0" anchor="ctr"/>
          <a:lstStyle/>
          <a:p>
            <a:pPr indent="0" marL="0">
              <a:lnSpc>
                <a:spcPct val="115000"/>
              </a:lnSpc>
              <a:buNone/>
            </a:pPr>
            <a:r>
              <a:rPr lang="en-US" sz="1200" dirty="0">
                <a:solidFill>
                  <a:srgbClr val="5A544E"/>
                </a:solidFill>
                <a:latin typeface="Calibri" pitchFamily="34" charset="0"/>
                <a:ea typeface="Calibri" pitchFamily="34" charset="-122"/>
                <a:cs typeface="Calibri" pitchFamily="34" charset="-120"/>
              </a:rPr>
              <a:t>Handover-stage towers in Baner, Kharadi, Wakad, Hinjewadi. One admin reaches hundreds of households in the right week of their lives.</a:t>
            </a:r>
            <a:endParaRPr lang="en-US" sz="1200" dirty="0"/>
          </a:p>
        </p:txBody>
      </p:sp>
      <p:sp>
        <p:nvSpPr>
          <p:cNvPr id="10" name="Text 8"/>
          <p:cNvSpPr txBox="1"/>
          <p:nvPr/>
        </p:nvSpPr>
        <p:spPr>
          <a:xfrm>
            <a:off x="640080" y="4160520"/>
            <a:ext cx="2377440" cy="658368"/>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Instagram, organic</a:t>
            </a:r>
            <a:endParaRPr lang="en-US" sz="1400" dirty="0"/>
          </a:p>
        </p:txBody>
      </p:sp>
      <p:sp>
        <p:nvSpPr>
          <p:cNvPr id="11" name="Text 9"/>
          <p:cNvSpPr txBox="1"/>
          <p:nvPr/>
        </p:nvSpPr>
        <p:spPr>
          <a:xfrm>
            <a:off x="3063240" y="4160520"/>
            <a:ext cx="1143000" cy="658368"/>
          </a:xfrm>
          <a:prstGeom prst="rect">
            <a:avLst/>
          </a:prstGeom>
          <a:noFill/>
          <a:ln/>
        </p:spPr>
        <p:txBody>
          <a:bodyPr wrap="square" lIns="0" tIns="0" rIns="0" bIns="0" rtlCol="0" anchor="ctr"/>
          <a:lstStyle/>
          <a:p>
            <a:pPr indent="0" marL="0">
              <a:buNone/>
            </a:pPr>
            <a:r>
              <a:rPr lang="en-US" sz="1700" b="1" dirty="0">
                <a:solidFill>
                  <a:srgbClr val="1A6068"/>
                </a:solidFill>
                <a:latin typeface="Cambria" pitchFamily="34" charset="0"/>
                <a:ea typeface="Cambria" pitchFamily="34" charset="-122"/>
                <a:cs typeface="Cambria" pitchFamily="34" charset="-120"/>
              </a:rPr>
              <a:t>20–40</a:t>
            </a:r>
            <a:endParaRPr lang="en-US" sz="1700" dirty="0"/>
          </a:p>
        </p:txBody>
      </p:sp>
      <p:sp>
        <p:nvSpPr>
          <p:cNvPr id="12" name="Text 10"/>
          <p:cNvSpPr txBox="1"/>
          <p:nvPr/>
        </p:nvSpPr>
        <p:spPr>
          <a:xfrm>
            <a:off x="4297680" y="4160520"/>
            <a:ext cx="7223760" cy="658368"/>
          </a:xfrm>
          <a:prstGeom prst="rect">
            <a:avLst/>
          </a:prstGeom>
          <a:noFill/>
          <a:ln/>
        </p:spPr>
        <p:txBody>
          <a:bodyPr wrap="square" lIns="0" tIns="0" rIns="0" bIns="0" rtlCol="0" anchor="ctr"/>
          <a:lstStyle/>
          <a:p>
            <a:pPr indent="0" marL="0">
              <a:lnSpc>
                <a:spcPct val="115000"/>
              </a:lnSpc>
              <a:buNone/>
            </a:pPr>
            <a:r>
              <a:rPr lang="en-US" sz="1200" dirty="0">
                <a:solidFill>
                  <a:srgbClr val="5A544E"/>
                </a:solidFill>
                <a:latin typeface="Calibri" pitchFamily="34" charset="0"/>
                <a:ea typeface="Calibri" pitchFamily="34" charset="-122"/>
                <a:cs typeface="Calibri" pitchFamily="34" charset="-120"/>
              </a:rPr>
              <a:t>Publish the cost bands themselves. Nobody else in Pune publishes that, and it is the product.</a:t>
            </a:r>
            <a:endParaRPr lang="en-US" sz="1200" dirty="0"/>
          </a:p>
        </p:txBody>
      </p:sp>
      <p:sp>
        <p:nvSpPr>
          <p:cNvPr id="13" name="Text 11"/>
          <p:cNvSpPr txBox="1"/>
          <p:nvPr/>
        </p:nvSpPr>
        <p:spPr>
          <a:xfrm>
            <a:off x="640080" y="4892040"/>
            <a:ext cx="2377440" cy="658368"/>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Paid test</a:t>
            </a:r>
            <a:endParaRPr lang="en-US" sz="1400" dirty="0"/>
          </a:p>
        </p:txBody>
      </p:sp>
      <p:sp>
        <p:nvSpPr>
          <p:cNvPr id="14" name="Text 12"/>
          <p:cNvSpPr txBox="1"/>
          <p:nvPr/>
        </p:nvSpPr>
        <p:spPr>
          <a:xfrm>
            <a:off x="3063240" y="4892040"/>
            <a:ext cx="1143000" cy="658368"/>
          </a:xfrm>
          <a:prstGeom prst="rect">
            <a:avLst/>
          </a:prstGeom>
          <a:noFill/>
          <a:ln/>
        </p:spPr>
        <p:txBody>
          <a:bodyPr wrap="square" lIns="0" tIns="0" rIns="0" bIns="0" rtlCol="0" anchor="ctr"/>
          <a:lstStyle/>
          <a:p>
            <a:pPr indent="0" marL="0">
              <a:buNone/>
            </a:pPr>
            <a:r>
              <a:rPr lang="en-US" sz="1700" b="1" dirty="0">
                <a:solidFill>
                  <a:srgbClr val="1A6068"/>
                </a:solidFill>
                <a:latin typeface="Cambria" pitchFamily="34" charset="0"/>
                <a:ea typeface="Cambria" pitchFamily="34" charset="-122"/>
                <a:cs typeface="Cambria" pitchFamily="34" charset="-120"/>
              </a:rPr>
              <a:t>30–60</a:t>
            </a:r>
            <a:endParaRPr lang="en-US" sz="1700" dirty="0"/>
          </a:p>
        </p:txBody>
      </p:sp>
      <p:sp>
        <p:nvSpPr>
          <p:cNvPr id="15" name="Text 13"/>
          <p:cNvSpPr txBox="1"/>
          <p:nvPr/>
        </p:nvSpPr>
        <p:spPr>
          <a:xfrm>
            <a:off x="4297680" y="4892040"/>
            <a:ext cx="7223760" cy="658368"/>
          </a:xfrm>
          <a:prstGeom prst="rect">
            <a:avLst/>
          </a:prstGeom>
          <a:noFill/>
          <a:ln/>
        </p:spPr>
        <p:txBody>
          <a:bodyPr wrap="square" lIns="0" tIns="0" rIns="0" bIns="0" rtlCol="0" anchor="ctr"/>
          <a:lstStyle/>
          <a:p>
            <a:pPr indent="0" marL="0">
              <a:lnSpc>
                <a:spcPct val="115000"/>
              </a:lnSpc>
              <a:buNone/>
            </a:pPr>
            <a:r>
              <a:rPr lang="en-US" sz="1200" dirty="0">
                <a:solidFill>
                  <a:srgbClr val="5A544E"/>
                </a:solidFill>
                <a:latin typeface="Calibri" pitchFamily="34" charset="0"/>
                <a:ea typeface="Calibri" pitchFamily="34" charset="-122"/>
                <a:cs typeface="Calibri" pitchFamily="34" charset="-120"/>
              </a:rPr>
              <a:t>Not a growth channel. A measuring instrument, and the first ₹25,000 has exactly one job.</a:t>
            </a:r>
            <a:endParaRPr lang="en-US" sz="1200" dirty="0"/>
          </a:p>
        </p:txBody>
      </p:sp>
      <p:sp>
        <p:nvSpPr>
          <p:cNvPr id="16" name="Text 14"/>
          <p:cNvSpPr txBox="1"/>
          <p:nvPr/>
        </p:nvSpPr>
        <p:spPr>
          <a:xfrm>
            <a:off x="640080" y="5742432"/>
            <a:ext cx="10908792" cy="658368"/>
          </a:xfrm>
          <a:prstGeom prst="rect">
            <a:avLst/>
          </a:prstGeom>
          <a:noFill/>
          <a:ln/>
        </p:spPr>
        <p:txBody>
          <a:bodyPr wrap="square" lIns="0" tIns="0" rIns="0" bIns="0" rtlCol="0" anchor="t"/>
          <a:lstStyle/>
          <a:p>
            <a:pPr indent="0" marL="0">
              <a:lnSpc>
                <a:spcPct val="120000"/>
              </a:lnSpc>
              <a:buNone/>
            </a:pPr>
            <a:r>
              <a:rPr lang="en-US" sz="1300" i="1" dirty="0">
                <a:solidFill>
                  <a:srgbClr val="5A544E"/>
                </a:solidFill>
                <a:latin typeface="Calibri" pitchFamily="34" charset="0"/>
                <a:ea typeface="Calibri" pitchFamily="34" charset="-122"/>
                <a:cs typeface="Calibri" pitchFamily="34" charset="-120"/>
              </a:rPr>
              <a:t>Waitlist opens Tuesday 16 September. What it promises is a place in the queue and a real cost band for their own flat — never “quotes from verified studios”, which is true in November and false in September.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One gate, three weeks after launch.</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The first honest decision point is the week of 6 October. Four numbers, all already instrumented.</a:t>
            </a:r>
            <a:endParaRPr lang="en-US" sz="1700" dirty="0"/>
          </a:p>
        </p:txBody>
      </p:sp>
      <p:sp>
        <p:nvSpPr>
          <p:cNvPr id="4" name="Shape 2"/>
          <p:cNvSpPr/>
          <p:nvPr/>
        </p:nvSpPr>
        <p:spPr>
          <a:xfrm>
            <a:off x="640080" y="2560320"/>
            <a:ext cx="2651760" cy="1371600"/>
          </a:xfrm>
          <a:prstGeom prst="roundRect">
            <a:avLst>
              <a:gd name="adj" fmla="val 5333"/>
            </a:avLst>
          </a:prstGeom>
          <a:solidFill>
            <a:srgbClr val="FBF7F0"/>
          </a:solidFill>
          <a:ln w="12700">
            <a:solidFill>
              <a:srgbClr val="E3DCD2"/>
            </a:solidFill>
            <a:prstDash val="solid"/>
          </a:ln>
        </p:spPr>
      </p:sp>
      <p:sp>
        <p:nvSpPr>
          <p:cNvPr id="5" name="Text 3"/>
          <p:cNvSpPr txBox="1"/>
          <p:nvPr/>
        </p:nvSpPr>
        <p:spPr>
          <a:xfrm>
            <a:off x="859536" y="2724912"/>
            <a:ext cx="2212848" cy="566928"/>
          </a:xfrm>
          <a:prstGeom prst="rect">
            <a:avLst/>
          </a:prstGeom>
          <a:noFill/>
          <a:ln/>
        </p:spPr>
        <p:txBody>
          <a:bodyPr wrap="square" lIns="0" tIns="0" rIns="0" bIns="0" rtlCol="0" anchor="ctr"/>
          <a:lstStyle/>
          <a:p>
            <a:pPr indent="0" marL="0">
              <a:buNone/>
            </a:pPr>
            <a:r>
              <a:rPr lang="en-US" sz="2700" b="1" dirty="0">
                <a:solidFill>
                  <a:srgbClr val="1A6068"/>
                </a:solidFill>
                <a:latin typeface="Cambria" pitchFamily="34" charset="0"/>
                <a:ea typeface="Cambria" pitchFamily="34" charset="-122"/>
                <a:cs typeface="Cambria" pitchFamily="34" charset="-120"/>
              </a:rPr>
              <a:t>150+</a:t>
            </a:r>
            <a:endParaRPr lang="en-US" sz="2700" dirty="0"/>
          </a:p>
        </p:txBody>
      </p:sp>
      <p:sp>
        <p:nvSpPr>
          <p:cNvPr id="6" name="Text 4"/>
          <p:cNvSpPr txBox="1"/>
          <p:nvPr/>
        </p:nvSpPr>
        <p:spPr>
          <a:xfrm>
            <a:off x="859536" y="3310128"/>
            <a:ext cx="2212848" cy="475488"/>
          </a:xfrm>
          <a:prstGeom prst="rect">
            <a:avLst/>
          </a:prstGeom>
          <a:noFill/>
          <a:ln/>
        </p:spPr>
        <p:txBody>
          <a:bodyPr wrap="square" lIns="0" tIns="0" rIns="0" bIns="0" rtlCol="0" anchor="t"/>
          <a:lstStyle/>
          <a:p>
            <a:pPr indent="0" marL="0">
              <a:buNone/>
            </a:pPr>
            <a:r>
              <a:rPr lang="en-US" sz="1200" dirty="0">
                <a:solidFill>
                  <a:srgbClr val="5A544E"/>
                </a:solidFill>
                <a:latin typeface="Calibri" pitchFamily="34" charset="0"/>
                <a:ea typeface="Calibri" pitchFamily="34" charset="-122"/>
                <a:cs typeface="Calibri" pitchFamily="34" charset="-120"/>
              </a:rPr>
              <a:t>completed briefs</a:t>
            </a:r>
            <a:endParaRPr lang="en-US" sz="1200" dirty="0"/>
          </a:p>
        </p:txBody>
      </p:sp>
      <p:sp>
        <p:nvSpPr>
          <p:cNvPr id="7" name="Shape 5"/>
          <p:cNvSpPr/>
          <p:nvPr/>
        </p:nvSpPr>
        <p:spPr>
          <a:xfrm>
            <a:off x="3429000" y="2560320"/>
            <a:ext cx="2651760" cy="1371600"/>
          </a:xfrm>
          <a:prstGeom prst="roundRect">
            <a:avLst>
              <a:gd name="adj" fmla="val 5333"/>
            </a:avLst>
          </a:prstGeom>
          <a:solidFill>
            <a:srgbClr val="FBF7F0"/>
          </a:solidFill>
          <a:ln w="12700">
            <a:solidFill>
              <a:srgbClr val="E3DCD2"/>
            </a:solidFill>
            <a:prstDash val="solid"/>
          </a:ln>
        </p:spPr>
      </p:sp>
      <p:sp>
        <p:nvSpPr>
          <p:cNvPr id="8" name="Text 6"/>
          <p:cNvSpPr txBox="1"/>
          <p:nvPr/>
        </p:nvSpPr>
        <p:spPr>
          <a:xfrm>
            <a:off x="3648456" y="2724912"/>
            <a:ext cx="2212848" cy="566928"/>
          </a:xfrm>
          <a:prstGeom prst="rect">
            <a:avLst/>
          </a:prstGeom>
          <a:noFill/>
          <a:ln/>
        </p:spPr>
        <p:txBody>
          <a:bodyPr wrap="square" lIns="0" tIns="0" rIns="0" bIns="0" rtlCol="0" anchor="ctr"/>
          <a:lstStyle/>
          <a:p>
            <a:pPr indent="0" marL="0">
              <a:buNone/>
            </a:pPr>
            <a:r>
              <a:rPr lang="en-US" sz="2700" b="1" dirty="0">
                <a:solidFill>
                  <a:srgbClr val="1A6068"/>
                </a:solidFill>
                <a:latin typeface="Cambria" pitchFamily="34" charset="0"/>
                <a:ea typeface="Cambria" pitchFamily="34" charset="-122"/>
                <a:cs typeface="Cambria" pitchFamily="34" charset="-120"/>
              </a:rPr>
              <a:t>4+</a:t>
            </a:r>
            <a:endParaRPr lang="en-US" sz="2700" dirty="0"/>
          </a:p>
        </p:txBody>
      </p:sp>
      <p:sp>
        <p:nvSpPr>
          <p:cNvPr id="9" name="Text 7"/>
          <p:cNvSpPr txBox="1"/>
          <p:nvPr/>
        </p:nvSpPr>
        <p:spPr>
          <a:xfrm>
            <a:off x="3648456" y="3310128"/>
            <a:ext cx="2212848" cy="475488"/>
          </a:xfrm>
          <a:prstGeom prst="rect">
            <a:avLst/>
          </a:prstGeom>
          <a:noFill/>
          <a:ln/>
        </p:spPr>
        <p:txBody>
          <a:bodyPr wrap="square" lIns="0" tIns="0" rIns="0" bIns="0" rtlCol="0" anchor="t"/>
          <a:lstStyle/>
          <a:p>
            <a:pPr indent="0" marL="0">
              <a:buNone/>
            </a:pPr>
            <a:r>
              <a:rPr lang="en-US" sz="1200" dirty="0">
                <a:solidFill>
                  <a:srgbClr val="5A544E"/>
                </a:solidFill>
                <a:latin typeface="Calibri" pitchFamily="34" charset="0"/>
                <a:ea typeface="Calibri" pitchFamily="34" charset="-122"/>
                <a:cs typeface="Calibri" pitchFamily="34" charset="-120"/>
              </a:rPr>
              <a:t>studios with rates entered</a:t>
            </a:r>
            <a:endParaRPr lang="en-US" sz="1200" dirty="0"/>
          </a:p>
        </p:txBody>
      </p:sp>
      <p:sp>
        <p:nvSpPr>
          <p:cNvPr id="10" name="Shape 8"/>
          <p:cNvSpPr/>
          <p:nvPr/>
        </p:nvSpPr>
        <p:spPr>
          <a:xfrm>
            <a:off x="6217920" y="2560320"/>
            <a:ext cx="2651760" cy="1371600"/>
          </a:xfrm>
          <a:prstGeom prst="roundRect">
            <a:avLst>
              <a:gd name="adj" fmla="val 5333"/>
            </a:avLst>
          </a:prstGeom>
          <a:solidFill>
            <a:srgbClr val="FBF7F0"/>
          </a:solidFill>
          <a:ln w="12700">
            <a:solidFill>
              <a:srgbClr val="E3DCD2"/>
            </a:solidFill>
            <a:prstDash val="solid"/>
          </a:ln>
        </p:spPr>
      </p:sp>
      <p:sp>
        <p:nvSpPr>
          <p:cNvPr id="11" name="Text 9"/>
          <p:cNvSpPr txBox="1"/>
          <p:nvPr/>
        </p:nvSpPr>
        <p:spPr>
          <a:xfrm>
            <a:off x="6437376" y="2724912"/>
            <a:ext cx="2212848" cy="566928"/>
          </a:xfrm>
          <a:prstGeom prst="rect">
            <a:avLst/>
          </a:prstGeom>
          <a:noFill/>
          <a:ln/>
        </p:spPr>
        <p:txBody>
          <a:bodyPr wrap="square" lIns="0" tIns="0" rIns="0" bIns="0" rtlCol="0" anchor="ctr"/>
          <a:lstStyle/>
          <a:p>
            <a:pPr indent="0" marL="0">
              <a:buNone/>
            </a:pPr>
            <a:r>
              <a:rPr lang="en-US" sz="2700" b="1" dirty="0">
                <a:solidFill>
                  <a:srgbClr val="1A6068"/>
                </a:solidFill>
                <a:latin typeface="Cambria" pitchFamily="34" charset="0"/>
                <a:ea typeface="Cambria" pitchFamily="34" charset="-122"/>
                <a:cs typeface="Cambria" pitchFamily="34" charset="-120"/>
              </a:rPr>
              <a:t>&lt; ₹2,500</a:t>
            </a:r>
            <a:endParaRPr lang="en-US" sz="2700" dirty="0"/>
          </a:p>
        </p:txBody>
      </p:sp>
      <p:sp>
        <p:nvSpPr>
          <p:cNvPr id="12" name="Text 10"/>
          <p:cNvSpPr txBox="1"/>
          <p:nvPr/>
        </p:nvSpPr>
        <p:spPr>
          <a:xfrm>
            <a:off x="6437376" y="3310128"/>
            <a:ext cx="2212848" cy="475488"/>
          </a:xfrm>
          <a:prstGeom prst="rect">
            <a:avLst/>
          </a:prstGeom>
          <a:noFill/>
          <a:ln/>
        </p:spPr>
        <p:txBody>
          <a:bodyPr wrap="square" lIns="0" tIns="0" rIns="0" bIns="0" rtlCol="0" anchor="t"/>
          <a:lstStyle/>
          <a:p>
            <a:pPr indent="0" marL="0">
              <a:buNone/>
            </a:pPr>
            <a:r>
              <a:rPr lang="en-US" sz="1200" dirty="0">
                <a:solidFill>
                  <a:srgbClr val="5A544E"/>
                </a:solidFill>
                <a:latin typeface="Calibri" pitchFamily="34" charset="0"/>
                <a:ea typeface="Calibri" pitchFamily="34" charset="-122"/>
                <a:cs typeface="Calibri" pitchFamily="34" charset="-120"/>
              </a:rPr>
              <a:t>cost per completed brief</a:t>
            </a:r>
            <a:endParaRPr lang="en-US" sz="1200" dirty="0"/>
          </a:p>
        </p:txBody>
      </p:sp>
      <p:sp>
        <p:nvSpPr>
          <p:cNvPr id="13" name="Shape 11"/>
          <p:cNvSpPr/>
          <p:nvPr/>
        </p:nvSpPr>
        <p:spPr>
          <a:xfrm>
            <a:off x="9006840" y="2560320"/>
            <a:ext cx="2651760" cy="1371600"/>
          </a:xfrm>
          <a:prstGeom prst="roundRect">
            <a:avLst>
              <a:gd name="adj" fmla="val 5333"/>
            </a:avLst>
          </a:prstGeom>
          <a:solidFill>
            <a:srgbClr val="FBF7F0"/>
          </a:solidFill>
          <a:ln w="12700">
            <a:solidFill>
              <a:srgbClr val="E3DCD2"/>
            </a:solidFill>
            <a:prstDash val="solid"/>
          </a:ln>
        </p:spPr>
      </p:sp>
      <p:sp>
        <p:nvSpPr>
          <p:cNvPr id="14" name="Text 12"/>
          <p:cNvSpPr txBox="1"/>
          <p:nvPr/>
        </p:nvSpPr>
        <p:spPr>
          <a:xfrm>
            <a:off x="9226296" y="2724912"/>
            <a:ext cx="2212848" cy="566928"/>
          </a:xfrm>
          <a:prstGeom prst="rect">
            <a:avLst/>
          </a:prstGeom>
          <a:noFill/>
          <a:ln/>
        </p:spPr>
        <p:txBody>
          <a:bodyPr wrap="square" lIns="0" tIns="0" rIns="0" bIns="0" rtlCol="0" anchor="ctr"/>
          <a:lstStyle/>
          <a:p>
            <a:pPr indent="0" marL="0">
              <a:buNone/>
            </a:pPr>
            <a:r>
              <a:rPr lang="en-US" sz="2700" b="1" dirty="0">
                <a:solidFill>
                  <a:srgbClr val="1A6068"/>
                </a:solidFill>
                <a:latin typeface="Cambria" pitchFamily="34" charset="0"/>
                <a:ea typeface="Cambria" pitchFamily="34" charset="-122"/>
                <a:cs typeface="Cambria" pitchFamily="34" charset="-120"/>
              </a:rPr>
              <a:t>&gt; 40%</a:t>
            </a:r>
            <a:endParaRPr lang="en-US" sz="2700" dirty="0"/>
          </a:p>
        </p:txBody>
      </p:sp>
      <p:sp>
        <p:nvSpPr>
          <p:cNvPr id="15" name="Text 13"/>
          <p:cNvSpPr txBox="1"/>
          <p:nvPr/>
        </p:nvSpPr>
        <p:spPr>
          <a:xfrm>
            <a:off x="9226296" y="3310128"/>
            <a:ext cx="2212848" cy="475488"/>
          </a:xfrm>
          <a:prstGeom prst="rect">
            <a:avLst/>
          </a:prstGeom>
          <a:noFill/>
          <a:ln/>
        </p:spPr>
        <p:txBody>
          <a:bodyPr wrap="square" lIns="0" tIns="0" rIns="0" bIns="0" rtlCol="0" anchor="t"/>
          <a:lstStyle/>
          <a:p>
            <a:pPr indent="0" marL="0">
              <a:buNone/>
            </a:pPr>
            <a:r>
              <a:rPr lang="en-US" sz="1200" dirty="0">
                <a:solidFill>
                  <a:srgbClr val="5A544E"/>
                </a:solidFill>
                <a:latin typeface="Calibri" pitchFamily="34" charset="0"/>
                <a:ea typeface="Calibri" pitchFamily="34" charset="-122"/>
                <a:cs typeface="Calibri" pitchFamily="34" charset="-120"/>
              </a:rPr>
              <a:t>brief completion rate</a:t>
            </a:r>
            <a:endParaRPr lang="en-US" sz="1200" dirty="0"/>
          </a:p>
        </p:txBody>
      </p:sp>
      <p:sp>
        <p:nvSpPr>
          <p:cNvPr id="16" name="Text 14"/>
          <p:cNvSpPr txBox="1"/>
          <p:nvPr/>
        </p:nvSpPr>
        <p:spPr>
          <a:xfrm>
            <a:off x="640080" y="4160520"/>
            <a:ext cx="10908792" cy="411480"/>
          </a:xfrm>
          <a:prstGeom prst="rect">
            <a:avLst/>
          </a:prstGeom>
          <a:noFill/>
          <a:ln/>
        </p:spPr>
        <p:txBody>
          <a:bodyPr wrap="square" lIns="0" tIns="0" rIns="0" bIns="0" rtlCol="0" anchor="t"/>
          <a:lstStyle/>
          <a:p>
            <a:pPr indent="0" marL="0">
              <a:buNone/>
            </a:pPr>
            <a:r>
              <a:rPr lang="en-US" sz="1900" b="1" dirty="0">
                <a:solidFill>
                  <a:srgbClr val="2A2622"/>
                </a:solidFill>
                <a:latin typeface="Cambria" pitchFamily="34" charset="0"/>
                <a:ea typeface="Cambria" pitchFamily="34" charset="-122"/>
                <a:cs typeface="Cambria" pitchFamily="34" charset="-120"/>
              </a:rPr>
              <a:t>Four decisions that are not engineering, and are not ours alone.</a:t>
            </a:r>
            <a:endParaRPr lang="en-US" sz="1900" dirty="0"/>
          </a:p>
        </p:txBody>
      </p:sp>
      <p:sp>
        <p:nvSpPr>
          <p:cNvPr id="17" name="Text 15"/>
          <p:cNvSpPr txBox="1"/>
          <p:nvPr/>
        </p:nvSpPr>
        <p:spPr>
          <a:xfrm>
            <a:off x="640080" y="4663440"/>
            <a:ext cx="10908792" cy="137160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300" dirty="0">
                <a:solidFill>
                  <a:srgbClr val="5A544E"/>
                </a:solidFill>
                <a:latin typeface="Calibri" pitchFamily="34" charset="0"/>
                <a:ea typeface="Calibri" pitchFamily="34" charset="-122"/>
                <a:cs typeface="Calibri" pitchFamily="34" charset="-120"/>
              </a:rPr>
              <a:t>The name — blocks the launch date itself. The site stays unindexed until it exists, and that cost compounds invisibly.</a:t>
            </a:r>
            <a:endParaRPr lang="en-US" sz="1300" dirty="0"/>
          </a:p>
          <a:p>
            <a:pPr marL="342900" indent="-342900">
              <a:lnSpc>
                <a:spcPct val="120000"/>
              </a:lnSpc>
              <a:spcAft>
                <a:spcPts val="600"/>
              </a:spcAft>
              <a:buSzPct val="100000"/>
              <a:buChar char="•"/>
            </a:pPr>
            <a:r>
              <a:rPr lang="en-US" sz="1300" dirty="0">
                <a:solidFill>
                  <a:srgbClr val="5A544E"/>
                </a:solidFill>
                <a:latin typeface="Calibri" pitchFamily="34" charset="0"/>
                <a:ea typeface="Calibri" pitchFamily="34" charset="-122"/>
                <a:cs typeface="Calibri" pitchFamily="34" charset="-120"/>
              </a:rPr>
              <a:t>DPDP on the 20,000 existing records — a two-hour legal question that currently blocks the largest demand source.</a:t>
            </a:r>
            <a:endParaRPr lang="en-US" sz="1300" dirty="0"/>
          </a:p>
          <a:p>
            <a:pPr marL="342900" indent="-342900">
              <a:lnSpc>
                <a:spcPct val="120000"/>
              </a:lnSpc>
              <a:spcAft>
                <a:spcPts val="600"/>
              </a:spcAft>
              <a:buSzPct val="100000"/>
              <a:buChar char="•"/>
            </a:pPr>
            <a:r>
              <a:rPr lang="en-US" sz="1300" dirty="0">
                <a:solidFill>
                  <a:srgbClr val="5A544E"/>
                </a:solidFill>
                <a:latin typeface="Calibri" pitchFamily="34" charset="0"/>
                <a:ea typeface="Calibri" pitchFamily="34" charset="-122"/>
                <a:cs typeface="Calibri" pitchFamily="34" charset="-120"/>
              </a:rPr>
              <a:t>Escrow legality — a fortnight with a lawyer, and it decides 14% of year-two revenue.</a:t>
            </a:r>
            <a:endParaRPr lang="en-US" sz="1300" dirty="0"/>
          </a:p>
          <a:p>
            <a:pPr marL="342900" indent="-342900">
              <a:lnSpc>
                <a:spcPct val="120000"/>
              </a:lnSpc>
              <a:spcAft>
                <a:spcPts val="600"/>
              </a:spcAft>
              <a:buSzPct val="100000"/>
              <a:buChar char="•"/>
            </a:pPr>
            <a:r>
              <a:rPr lang="en-US" sz="1300" dirty="0">
                <a:solidFill>
                  <a:srgbClr val="5A544E"/>
                </a:solidFill>
                <a:latin typeface="Calibri" pitchFamily="34" charset="0"/>
                <a:ea typeface="Calibri" pitchFamily="34" charset="-122"/>
                <a:cs typeface="Calibri" pitchFamily="34" charset="-120"/>
              </a:rPr>
              <a:t>GST treatment on composite supply versus works contract — needed before a single real quote goes out.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454B"/>
        </a:solidFill>
      </p:bgPr>
    </p:bg>
    <p:spTree>
      <p:nvGrpSpPr>
        <p:cNvPr id="1" name=""/>
        <p:cNvGrpSpPr/>
        <p:nvPr/>
      </p:nvGrpSpPr>
      <p:grpSpPr>
        <a:xfrm>
          <a:off x="0" y="0"/>
          <a:ext cx="0" cy="0"/>
          <a:chOff x="0" y="0"/>
          <a:chExt cx="0" cy="0"/>
        </a:xfrm>
      </p:grpSpPr>
      <p:sp>
        <p:nvSpPr>
          <p:cNvPr id="2" name="Text 0"/>
          <p:cNvSpPr txBox="1"/>
          <p:nvPr/>
        </p:nvSpPr>
        <p:spPr>
          <a:xfrm>
            <a:off x="640080" y="777240"/>
            <a:ext cx="10908792"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₹20 lakh, at ₹1 crore post-money.</a:t>
            </a:r>
            <a:endParaRPr lang="en-US" sz="3800" dirty="0"/>
          </a:p>
        </p:txBody>
      </p:sp>
      <p:sp>
        <p:nvSpPr>
          <p:cNvPr id="3" name="Text 1"/>
          <p:cNvSpPr txBox="1"/>
          <p:nvPr/>
        </p:nvSpPr>
        <p:spPr>
          <a:xfrm>
            <a:off x="640080" y="1572768"/>
            <a:ext cx="10515600" cy="457200"/>
          </a:xfrm>
          <a:prstGeom prst="rect">
            <a:avLst/>
          </a:prstGeom>
          <a:noFill/>
          <a:ln/>
        </p:spPr>
        <p:txBody>
          <a:bodyPr wrap="square" lIns="0" tIns="0" rIns="0" bIns="0" rtlCol="0" anchor="ctr"/>
          <a:lstStyle/>
          <a:p>
            <a:pPr indent="0" marL="0">
              <a:buNone/>
            </a:pPr>
            <a:r>
              <a:rPr lang="en-US" sz="1600" dirty="0">
                <a:solidFill>
                  <a:srgbClr val="CFE0E2"/>
                </a:solidFill>
                <a:latin typeface="Calibri" pitchFamily="34" charset="0"/>
                <a:ea typeface="Calibri" pitchFamily="34" charset="-122"/>
                <a:cs typeface="Calibri" pitchFamily="34" charset="-120"/>
              </a:rPr>
              <a:t>20% of the company. Enough to reach the 6 October gate with the real numbers in hand.</a:t>
            </a:r>
            <a:endParaRPr lang="en-US" sz="1600" dirty="0"/>
          </a:p>
        </p:txBody>
      </p:sp>
      <p:sp>
        <p:nvSpPr>
          <p:cNvPr id="4" name="Shape 2"/>
          <p:cNvSpPr/>
          <p:nvPr/>
        </p:nvSpPr>
        <p:spPr>
          <a:xfrm>
            <a:off x="640080" y="2286000"/>
            <a:ext cx="2651760" cy="1371600"/>
          </a:xfrm>
          <a:prstGeom prst="roundRect">
            <a:avLst>
              <a:gd name="adj" fmla="val 5333"/>
            </a:avLst>
          </a:prstGeom>
          <a:solidFill>
            <a:srgbClr val="1A6068"/>
          </a:solidFill>
          <a:ln w="12700">
            <a:solidFill>
              <a:srgbClr val="2E7D85"/>
            </a:solidFill>
            <a:prstDash val="solid"/>
          </a:ln>
        </p:spPr>
      </p:sp>
      <p:sp>
        <p:nvSpPr>
          <p:cNvPr id="5" name="Text 3"/>
          <p:cNvSpPr txBox="1"/>
          <p:nvPr/>
        </p:nvSpPr>
        <p:spPr>
          <a:xfrm>
            <a:off x="859536" y="2432304"/>
            <a:ext cx="2212848" cy="50292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₹6 L</a:t>
            </a:r>
            <a:endParaRPr lang="en-US" sz="2400" dirty="0"/>
          </a:p>
        </p:txBody>
      </p:sp>
      <p:sp>
        <p:nvSpPr>
          <p:cNvPr id="6" name="Text 4"/>
          <p:cNvSpPr txBox="1"/>
          <p:nvPr/>
        </p:nvSpPr>
        <p:spPr>
          <a:xfrm>
            <a:off x="859536" y="2944368"/>
            <a:ext cx="2212848" cy="621792"/>
          </a:xfrm>
          <a:prstGeom prst="rect">
            <a:avLst/>
          </a:prstGeom>
          <a:noFill/>
          <a:ln/>
        </p:spPr>
        <p:txBody>
          <a:bodyPr wrap="square" lIns="0" tIns="0" rIns="0" bIns="0" rtlCol="0" anchor="t"/>
          <a:lstStyle/>
          <a:p>
            <a:pPr indent="0" marL="0">
              <a:lnSpc>
                <a:spcPct val="115000"/>
              </a:lnSpc>
              <a:buNone/>
            </a:pPr>
            <a:r>
              <a:rPr lang="en-US" sz="1150" dirty="0">
                <a:solidFill>
                  <a:srgbClr val="DCEAEB"/>
                </a:solidFill>
                <a:latin typeface="Calibri" pitchFamily="34" charset="0"/>
                <a:ea typeface="Calibri" pitchFamily="34" charset="-122"/>
                <a:cs typeface="Calibri" pitchFamily="34" charset="-120"/>
              </a:rPr>
              <a:t>Demand, and the measurement that decides the year</a:t>
            </a:r>
            <a:endParaRPr lang="en-US" sz="1150" dirty="0"/>
          </a:p>
        </p:txBody>
      </p:sp>
      <p:sp>
        <p:nvSpPr>
          <p:cNvPr id="7" name="Shape 5"/>
          <p:cNvSpPr/>
          <p:nvPr/>
        </p:nvSpPr>
        <p:spPr>
          <a:xfrm>
            <a:off x="3429000" y="2286000"/>
            <a:ext cx="2651760" cy="1371600"/>
          </a:xfrm>
          <a:prstGeom prst="roundRect">
            <a:avLst>
              <a:gd name="adj" fmla="val 5333"/>
            </a:avLst>
          </a:prstGeom>
          <a:solidFill>
            <a:srgbClr val="1A6068"/>
          </a:solidFill>
          <a:ln w="12700">
            <a:solidFill>
              <a:srgbClr val="2E7D85"/>
            </a:solidFill>
            <a:prstDash val="solid"/>
          </a:ln>
        </p:spPr>
      </p:sp>
      <p:sp>
        <p:nvSpPr>
          <p:cNvPr id="8" name="Text 6"/>
          <p:cNvSpPr txBox="1"/>
          <p:nvPr/>
        </p:nvSpPr>
        <p:spPr>
          <a:xfrm>
            <a:off x="3648456" y="2432304"/>
            <a:ext cx="2212848" cy="50292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₹5 L</a:t>
            </a:r>
            <a:endParaRPr lang="en-US" sz="2400" dirty="0"/>
          </a:p>
        </p:txBody>
      </p:sp>
      <p:sp>
        <p:nvSpPr>
          <p:cNvPr id="9" name="Text 7"/>
          <p:cNvSpPr txBox="1"/>
          <p:nvPr/>
        </p:nvSpPr>
        <p:spPr>
          <a:xfrm>
            <a:off x="3648456" y="2944368"/>
            <a:ext cx="2212848" cy="621792"/>
          </a:xfrm>
          <a:prstGeom prst="rect">
            <a:avLst/>
          </a:prstGeom>
          <a:noFill/>
          <a:ln/>
        </p:spPr>
        <p:txBody>
          <a:bodyPr wrap="square" lIns="0" tIns="0" rIns="0" bIns="0" rtlCol="0" anchor="t"/>
          <a:lstStyle/>
          <a:p>
            <a:pPr indent="0" marL="0">
              <a:lnSpc>
                <a:spcPct val="115000"/>
              </a:lnSpc>
              <a:buNone/>
            </a:pPr>
            <a:r>
              <a:rPr lang="en-US" sz="1150" dirty="0">
                <a:solidFill>
                  <a:srgbClr val="DCEAEB"/>
                </a:solidFill>
                <a:latin typeface="Calibri" pitchFamily="34" charset="0"/>
                <a:ea typeface="Calibri" pitchFamily="34" charset="-122"/>
                <a:cs typeface="Calibri" pitchFamily="34" charset="-120"/>
              </a:rPr>
              <a:t>Verifying the first ten studios properly</a:t>
            </a:r>
            <a:endParaRPr lang="en-US" sz="1150" dirty="0"/>
          </a:p>
        </p:txBody>
      </p:sp>
      <p:sp>
        <p:nvSpPr>
          <p:cNvPr id="10" name="Shape 8"/>
          <p:cNvSpPr/>
          <p:nvPr/>
        </p:nvSpPr>
        <p:spPr>
          <a:xfrm>
            <a:off x="6217920" y="2286000"/>
            <a:ext cx="2651760" cy="1371600"/>
          </a:xfrm>
          <a:prstGeom prst="roundRect">
            <a:avLst>
              <a:gd name="adj" fmla="val 5333"/>
            </a:avLst>
          </a:prstGeom>
          <a:solidFill>
            <a:srgbClr val="1A6068"/>
          </a:solidFill>
          <a:ln w="12700">
            <a:solidFill>
              <a:srgbClr val="2E7D85"/>
            </a:solidFill>
            <a:prstDash val="solid"/>
          </a:ln>
        </p:spPr>
      </p:sp>
      <p:sp>
        <p:nvSpPr>
          <p:cNvPr id="11" name="Text 9"/>
          <p:cNvSpPr txBox="1"/>
          <p:nvPr/>
        </p:nvSpPr>
        <p:spPr>
          <a:xfrm>
            <a:off x="6437376" y="2432304"/>
            <a:ext cx="2212848" cy="50292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₹6 L</a:t>
            </a:r>
            <a:endParaRPr lang="en-US" sz="2400" dirty="0"/>
          </a:p>
        </p:txBody>
      </p:sp>
      <p:sp>
        <p:nvSpPr>
          <p:cNvPr id="12" name="Text 10"/>
          <p:cNvSpPr txBox="1"/>
          <p:nvPr/>
        </p:nvSpPr>
        <p:spPr>
          <a:xfrm>
            <a:off x="6437376" y="2944368"/>
            <a:ext cx="2212848" cy="621792"/>
          </a:xfrm>
          <a:prstGeom prst="rect">
            <a:avLst/>
          </a:prstGeom>
          <a:noFill/>
          <a:ln/>
        </p:spPr>
        <p:txBody>
          <a:bodyPr wrap="square" lIns="0" tIns="0" rIns="0" bIns="0" rtlCol="0" anchor="t"/>
          <a:lstStyle/>
          <a:p>
            <a:pPr indent="0" marL="0">
              <a:lnSpc>
                <a:spcPct val="115000"/>
              </a:lnSpc>
              <a:buNone/>
            </a:pPr>
            <a:r>
              <a:rPr lang="en-US" sz="1150" dirty="0">
                <a:solidFill>
                  <a:srgbClr val="DCEAEB"/>
                </a:solidFill>
                <a:latin typeface="Calibri" pitchFamily="34" charset="0"/>
                <a:ea typeface="Calibri" pitchFamily="34" charset="-122"/>
                <a:cs typeface="Calibri" pitchFamily="34" charset="-120"/>
              </a:rPr>
              <a:t>The first expert — the mechanic the fee pays for</a:t>
            </a:r>
            <a:endParaRPr lang="en-US" sz="1150" dirty="0"/>
          </a:p>
        </p:txBody>
      </p:sp>
      <p:sp>
        <p:nvSpPr>
          <p:cNvPr id="13" name="Shape 11"/>
          <p:cNvSpPr/>
          <p:nvPr/>
        </p:nvSpPr>
        <p:spPr>
          <a:xfrm>
            <a:off x="9006840" y="2286000"/>
            <a:ext cx="2651760" cy="1371600"/>
          </a:xfrm>
          <a:prstGeom prst="roundRect">
            <a:avLst>
              <a:gd name="adj" fmla="val 5333"/>
            </a:avLst>
          </a:prstGeom>
          <a:solidFill>
            <a:srgbClr val="1A6068"/>
          </a:solidFill>
          <a:ln w="12700">
            <a:solidFill>
              <a:srgbClr val="2E7D85"/>
            </a:solidFill>
            <a:prstDash val="solid"/>
          </a:ln>
        </p:spPr>
      </p:sp>
      <p:sp>
        <p:nvSpPr>
          <p:cNvPr id="14" name="Text 12"/>
          <p:cNvSpPr txBox="1"/>
          <p:nvPr/>
        </p:nvSpPr>
        <p:spPr>
          <a:xfrm>
            <a:off x="9226296" y="2432304"/>
            <a:ext cx="2212848" cy="502920"/>
          </a:xfrm>
          <a:prstGeom prst="rect">
            <a:avLst/>
          </a:prstGeom>
          <a:noFill/>
          <a:ln/>
        </p:spPr>
        <p:txBody>
          <a:bodyPr wrap="square" lIns="0" tIns="0" rIns="0" bIns="0" rtlCol="0" anchor="ctr"/>
          <a:lstStyle/>
          <a:p>
            <a:pPr indent="0" marL="0">
              <a:buNone/>
            </a:pPr>
            <a:r>
              <a:rPr lang="en-US" sz="2400" b="1" dirty="0">
                <a:solidFill>
                  <a:srgbClr val="C9922A"/>
                </a:solidFill>
                <a:latin typeface="Cambria" pitchFamily="34" charset="0"/>
                <a:ea typeface="Cambria" pitchFamily="34" charset="-122"/>
                <a:cs typeface="Cambria" pitchFamily="34" charset="-120"/>
              </a:rPr>
              <a:t>₹3 L</a:t>
            </a:r>
            <a:endParaRPr lang="en-US" sz="2400" dirty="0"/>
          </a:p>
        </p:txBody>
      </p:sp>
      <p:sp>
        <p:nvSpPr>
          <p:cNvPr id="15" name="Text 13"/>
          <p:cNvSpPr txBox="1"/>
          <p:nvPr/>
        </p:nvSpPr>
        <p:spPr>
          <a:xfrm>
            <a:off x="9226296" y="2944368"/>
            <a:ext cx="2212848" cy="621792"/>
          </a:xfrm>
          <a:prstGeom prst="rect">
            <a:avLst/>
          </a:prstGeom>
          <a:noFill/>
          <a:ln/>
        </p:spPr>
        <p:txBody>
          <a:bodyPr wrap="square" lIns="0" tIns="0" rIns="0" bIns="0" rtlCol="0" anchor="t"/>
          <a:lstStyle/>
          <a:p>
            <a:pPr indent="0" marL="0">
              <a:lnSpc>
                <a:spcPct val="115000"/>
              </a:lnSpc>
              <a:buNone/>
            </a:pPr>
            <a:r>
              <a:rPr lang="en-US" sz="1150" dirty="0">
                <a:solidFill>
                  <a:srgbClr val="DCEAEB"/>
                </a:solidFill>
                <a:latin typeface="Calibri" pitchFamily="34" charset="0"/>
                <a:ea typeface="Calibri" pitchFamily="34" charset="-122"/>
                <a:cs typeface="Calibri" pitchFamily="34" charset="-120"/>
              </a:rPr>
              <a:t>Legal: escrow, DPDP, GST, dispute policy</a:t>
            </a:r>
            <a:endParaRPr lang="en-US" sz="1150" dirty="0"/>
          </a:p>
        </p:txBody>
      </p:sp>
      <p:sp>
        <p:nvSpPr>
          <p:cNvPr id="16" name="Text 14"/>
          <p:cNvSpPr txBox="1"/>
          <p:nvPr/>
        </p:nvSpPr>
        <p:spPr>
          <a:xfrm>
            <a:off x="640080" y="3977640"/>
            <a:ext cx="10908792" cy="457200"/>
          </a:xfrm>
          <a:prstGeom prst="rect">
            <a:avLst/>
          </a:prstGeom>
          <a:noFill/>
          <a:ln/>
        </p:spPr>
        <p:txBody>
          <a:bodyPr wrap="square" lIns="0" tIns="0" rIns="0" bIns="0" rtlCol="0" anchor="t"/>
          <a:lstStyle/>
          <a:p>
            <a:pPr indent="0" marL="0">
              <a:buNone/>
            </a:pPr>
            <a:r>
              <a:rPr lang="en-US" sz="2200" b="1" dirty="0">
                <a:solidFill>
                  <a:srgbClr val="C9922A"/>
                </a:solidFill>
                <a:latin typeface="Cambria" pitchFamily="34" charset="0"/>
                <a:ea typeface="Cambria" pitchFamily="34" charset="-122"/>
                <a:cs typeface="Cambria" pitchFamily="34" charset="-120"/>
              </a:rPr>
              <a:t>Why ₹1 crore, when the model on slide 13 says ₹4.36 crore?</a:t>
            </a:r>
            <a:endParaRPr lang="en-US" sz="2200" dirty="0"/>
          </a:p>
        </p:txBody>
      </p:sp>
      <p:sp>
        <p:nvSpPr>
          <p:cNvPr id="17" name="Text 15"/>
          <p:cNvSpPr txBox="1"/>
          <p:nvPr/>
        </p:nvSpPr>
        <p:spPr>
          <a:xfrm>
            <a:off x="640080" y="4526280"/>
            <a:ext cx="10515600" cy="1600200"/>
          </a:xfrm>
          <a:prstGeom prst="rect">
            <a:avLst/>
          </a:prstGeom>
          <a:noFill/>
          <a:ln/>
        </p:spPr>
        <p:txBody>
          <a:bodyPr wrap="square" lIns="0" tIns="0" rIns="0" bIns="0" rtlCol="0" anchor="t"/>
          <a:lstStyle/>
          <a:p>
            <a:pPr indent="0" marL="0">
              <a:lnSpc>
                <a:spcPct val="130000"/>
              </a:lnSpc>
              <a:buNone/>
            </a:pPr>
            <a:r>
              <a:rPr lang="en-US" sz="1400" dirty="0">
                <a:solidFill>
                  <a:srgbClr val="DCEAEB"/>
                </a:solidFill>
                <a:latin typeface="Calibri" pitchFamily="34" charset="0"/>
                <a:ea typeface="Calibri" pitchFamily="34" charset="-122"/>
                <a:cs typeface="Calibri" pitchFamily="34" charset="-120"/>
              </a:rPr>
              <a:t>Because that model is titled “what has to be true for year one to work”, not “what will happen”. Today there is no revenue, no studio live, and the one number the whole plan rests on — what a customer actually costs — has never been measured. This round buys the measurement, not a share of a ₹4 crore business.</a:t>
            </a:r>
            <a:endParaRPr lang="en-US" sz="1400" dirty="0"/>
          </a:p>
          <a:p>
            <a:pPr indent="0" marL="0">
              <a:lnSpc>
                <a:spcPct val="130000"/>
              </a:lnSpc>
              <a:buNone/>
            </a:pPr>
            <a:endParaRPr lang="en-US" sz="1400" dirty="0"/>
          </a:p>
          <a:p>
            <a:pPr indent="0" marL="0">
              <a:lnSpc>
                <a:spcPct val="130000"/>
              </a:lnSpc>
              <a:buNone/>
            </a:pPr>
            <a:r>
              <a:rPr lang="en-US" sz="1400" dirty="0">
                <a:solidFill>
                  <a:srgbClr val="DCEAEB"/>
                </a:solidFill>
                <a:latin typeface="Calibri" pitchFamily="34" charset="0"/>
                <a:ea typeface="Calibri" pitchFamily="34" charset="-122"/>
                <a:cs typeface="Calibri" pitchFamily="34" charset="-120"/>
              </a:rPr>
              <a:t>If it works, ₹1 crore will look absurd in hindsight. That is the point. I would rather the people who backed this before there was any proof were well paid for it than negotiate hard with people who know me.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08792" cy="868680"/>
          </a:xfrm>
          <a:prstGeom prst="rect">
            <a:avLst/>
          </a:prstGeom>
          <a:noFill/>
          <a:ln/>
        </p:spPr>
        <p:txBody>
          <a:bodyPr wrap="square" lIns="0" tIns="0" rIns="0" bIns="0" rtlCol="0" anchor="t"/>
          <a:lstStyle/>
          <a:p>
            <a:pPr algn="l" indent="0" marL="0">
              <a:buNone/>
            </a:pPr>
            <a:r>
              <a:rPr lang="en-US" sz="3400" b="1" dirty="0">
                <a:solidFill>
                  <a:srgbClr val="2A2622"/>
                </a:solidFill>
                <a:latin typeface="Cambria" pitchFamily="34" charset="0"/>
                <a:ea typeface="Cambria" pitchFamily="34" charset="-122"/>
                <a:cs typeface="Cambria" pitchFamily="34" charset="-120"/>
              </a:rPr>
              <a:t>What would kill this, and when we would know.</a:t>
            </a:r>
            <a:endParaRPr lang="en-US" sz="3400" dirty="0"/>
          </a:p>
        </p:txBody>
      </p:sp>
      <p:sp>
        <p:nvSpPr>
          <p:cNvPr id="3" name="Text 1"/>
          <p:cNvSpPr txBox="1"/>
          <p:nvPr/>
        </p:nvSpPr>
        <p:spPr>
          <a:xfrm>
            <a:off x="640080" y="1463040"/>
            <a:ext cx="10424160" cy="777240"/>
          </a:xfrm>
          <a:prstGeom prst="rect">
            <a:avLst/>
          </a:prstGeom>
          <a:noFill/>
          <a:ln/>
        </p:spPr>
        <p:txBody>
          <a:bodyPr wrap="square" lIns="0" tIns="0" rIns="0" bIns="0" rtlCol="0" anchor="ctr"/>
          <a:lstStyle/>
          <a:p>
            <a:pPr indent="0" marL="0">
              <a:lnSpc>
                <a:spcPct val="125000"/>
              </a:lnSpc>
              <a:buNone/>
            </a:pPr>
            <a:r>
              <a:rPr lang="en-US" sz="1700" dirty="0">
                <a:solidFill>
                  <a:srgbClr val="5A544E"/>
                </a:solidFill>
                <a:latin typeface="Calibri" pitchFamily="34" charset="0"/>
                <a:ea typeface="Calibri" pitchFamily="34" charset="-122"/>
                <a:cs typeface="Calibri" pitchFamily="34" charset="-120"/>
              </a:rPr>
              <a:t>Every one of these is measurable inside ninety days. That is what the ₹20 lakh is actually for.</a:t>
            </a:r>
            <a:endParaRPr lang="en-US" sz="1700" dirty="0"/>
          </a:p>
        </p:txBody>
      </p:sp>
      <p:sp>
        <p:nvSpPr>
          <p:cNvPr id="4" name="Shape 2"/>
          <p:cNvSpPr/>
          <p:nvPr/>
        </p:nvSpPr>
        <p:spPr>
          <a:xfrm>
            <a:off x="640080" y="2514600"/>
            <a:ext cx="10908792" cy="841248"/>
          </a:xfrm>
          <a:prstGeom prst="roundRect">
            <a:avLst>
              <a:gd name="adj" fmla="val 8696"/>
            </a:avLst>
          </a:prstGeom>
          <a:solidFill>
            <a:srgbClr val="FFFFFF"/>
          </a:solidFill>
          <a:ln w="12700">
            <a:solidFill>
              <a:srgbClr val="E3DCD2"/>
            </a:solidFill>
            <a:prstDash val="solid"/>
          </a:ln>
        </p:spPr>
      </p:sp>
      <p:sp>
        <p:nvSpPr>
          <p:cNvPr id="5" name="Text 3"/>
          <p:cNvSpPr txBox="1"/>
          <p:nvPr/>
        </p:nvSpPr>
        <p:spPr>
          <a:xfrm>
            <a:off x="896112" y="2569464"/>
            <a:ext cx="4114800" cy="731520"/>
          </a:xfrm>
          <a:prstGeom prst="rect">
            <a:avLst/>
          </a:prstGeom>
          <a:noFill/>
          <a:ln/>
        </p:spPr>
        <p:txBody>
          <a:bodyPr wrap="square" lIns="0" tIns="0" rIns="0" bIns="0" rtlCol="0" anchor="ctr"/>
          <a:lstStyle/>
          <a:p>
            <a:pPr indent="0" marL="0">
              <a:lnSpc>
                <a:spcPct val="110000"/>
              </a:lnSpc>
              <a:buNone/>
            </a:pPr>
            <a:r>
              <a:rPr lang="en-US" sz="1350" b="1" dirty="0">
                <a:solidFill>
                  <a:srgbClr val="2A2622"/>
                </a:solidFill>
                <a:latin typeface="Calibri" pitchFamily="34" charset="0"/>
                <a:ea typeface="Calibri" pitchFamily="34" charset="-122"/>
                <a:cs typeface="Calibri" pitchFamily="34" charset="-120"/>
              </a:rPr>
              <a:t>Acquisition is 12× worse than modelled</a:t>
            </a:r>
            <a:endParaRPr lang="en-US" sz="1350" dirty="0"/>
          </a:p>
        </p:txBody>
      </p:sp>
      <p:sp>
        <p:nvSpPr>
          <p:cNvPr id="6" name="Text 4"/>
          <p:cNvSpPr txBox="1"/>
          <p:nvPr/>
        </p:nvSpPr>
        <p:spPr>
          <a:xfrm>
            <a:off x="5074920" y="2569464"/>
            <a:ext cx="914400" cy="731520"/>
          </a:xfrm>
          <a:prstGeom prst="rect">
            <a:avLst/>
          </a:prstGeom>
          <a:noFill/>
          <a:ln/>
        </p:spPr>
        <p:txBody>
          <a:bodyPr wrap="square" lIns="0" tIns="0" rIns="0" bIns="0" rtlCol="0" anchor="ctr"/>
          <a:lstStyle/>
          <a:p>
            <a:pPr indent="0" marL="0">
              <a:buNone/>
            </a:pPr>
            <a:r>
              <a:rPr lang="en-US" sz="1400" b="1" dirty="0">
                <a:solidFill>
                  <a:srgbClr val="BC6440"/>
                </a:solidFill>
                <a:latin typeface="Cambria" pitchFamily="34" charset="0"/>
                <a:ea typeface="Cambria" pitchFamily="34" charset="-122"/>
                <a:cs typeface="Cambria" pitchFamily="34" charset="-120"/>
              </a:rPr>
              <a:t>Week 3</a:t>
            </a:r>
            <a:endParaRPr lang="en-US" sz="1400" dirty="0"/>
          </a:p>
        </p:txBody>
      </p:sp>
      <p:sp>
        <p:nvSpPr>
          <p:cNvPr id="7" name="Text 5"/>
          <p:cNvSpPr txBox="1"/>
          <p:nvPr/>
        </p:nvSpPr>
        <p:spPr>
          <a:xfrm>
            <a:off x="6080760" y="2569464"/>
            <a:ext cx="5349240" cy="731520"/>
          </a:xfrm>
          <a:prstGeom prst="rect">
            <a:avLst/>
          </a:prstGeom>
          <a:noFill/>
          <a:ln/>
        </p:spPr>
        <p:txBody>
          <a:bodyPr wrap="square" lIns="0" tIns="0" rIns="0" bIns="0" rtlCol="0" anchor="ctr"/>
          <a:lstStyle/>
          <a:p>
            <a:pPr indent="0" marL="0">
              <a:lnSpc>
                <a:spcPct val="115000"/>
              </a:lnSpc>
              <a:buNone/>
            </a:pPr>
            <a:r>
              <a:rPr lang="en-US" sz="1150" dirty="0">
                <a:solidFill>
                  <a:srgbClr val="5A544E"/>
                </a:solidFill>
                <a:latin typeface="Calibri" pitchFamily="34" charset="0"/>
                <a:ea typeface="Calibri" pitchFamily="34" charset="-122"/>
                <a:cs typeface="Calibri" pitchFamily="34" charset="-120"/>
              </a:rPr>
              <a:t>If a completed brief costs more than ₹2,500 and no owned channel replaces paid, the unit economics do not close. We stop buying and say so out loud.</a:t>
            </a:r>
            <a:endParaRPr lang="en-US" sz="1150" dirty="0"/>
          </a:p>
        </p:txBody>
      </p:sp>
      <p:sp>
        <p:nvSpPr>
          <p:cNvPr id="8" name="Shape 6"/>
          <p:cNvSpPr/>
          <p:nvPr/>
        </p:nvSpPr>
        <p:spPr>
          <a:xfrm>
            <a:off x="640080" y="3429000"/>
            <a:ext cx="10908792" cy="841248"/>
          </a:xfrm>
          <a:prstGeom prst="roundRect">
            <a:avLst>
              <a:gd name="adj" fmla="val 8696"/>
            </a:avLst>
          </a:prstGeom>
          <a:solidFill>
            <a:srgbClr val="FFFFFF"/>
          </a:solidFill>
          <a:ln w="12700">
            <a:solidFill>
              <a:srgbClr val="E3DCD2"/>
            </a:solidFill>
            <a:prstDash val="solid"/>
          </a:ln>
        </p:spPr>
      </p:sp>
      <p:sp>
        <p:nvSpPr>
          <p:cNvPr id="9" name="Text 7"/>
          <p:cNvSpPr txBox="1"/>
          <p:nvPr/>
        </p:nvSpPr>
        <p:spPr>
          <a:xfrm>
            <a:off x="896112" y="3483864"/>
            <a:ext cx="4114800" cy="731520"/>
          </a:xfrm>
          <a:prstGeom prst="rect">
            <a:avLst/>
          </a:prstGeom>
          <a:noFill/>
          <a:ln/>
        </p:spPr>
        <p:txBody>
          <a:bodyPr wrap="square" lIns="0" tIns="0" rIns="0" bIns="0" rtlCol="0" anchor="ctr"/>
          <a:lstStyle/>
          <a:p>
            <a:pPr indent="0" marL="0">
              <a:lnSpc>
                <a:spcPct val="110000"/>
              </a:lnSpc>
              <a:buNone/>
            </a:pPr>
            <a:r>
              <a:rPr lang="en-US" sz="1350" b="1" dirty="0">
                <a:solidFill>
                  <a:srgbClr val="2A2622"/>
                </a:solidFill>
                <a:latin typeface="Calibri" pitchFamily="34" charset="0"/>
                <a:ea typeface="Calibri" pitchFamily="34" charset="-122"/>
                <a:cs typeface="Calibri" pitchFamily="34" charset="-120"/>
              </a:rPr>
              <a:t>Studios refuse milestone-gated payment</a:t>
            </a:r>
            <a:endParaRPr lang="en-US" sz="1350" dirty="0"/>
          </a:p>
        </p:txBody>
      </p:sp>
      <p:sp>
        <p:nvSpPr>
          <p:cNvPr id="10" name="Text 8"/>
          <p:cNvSpPr txBox="1"/>
          <p:nvPr/>
        </p:nvSpPr>
        <p:spPr>
          <a:xfrm>
            <a:off x="5074920" y="3483864"/>
            <a:ext cx="914400" cy="731520"/>
          </a:xfrm>
          <a:prstGeom prst="rect">
            <a:avLst/>
          </a:prstGeom>
          <a:noFill/>
          <a:ln/>
        </p:spPr>
        <p:txBody>
          <a:bodyPr wrap="square" lIns="0" tIns="0" rIns="0" bIns="0" rtlCol="0" anchor="ctr"/>
          <a:lstStyle/>
          <a:p>
            <a:pPr indent="0" marL="0">
              <a:buNone/>
            </a:pPr>
            <a:r>
              <a:rPr lang="en-US" sz="1400" b="1" dirty="0">
                <a:solidFill>
                  <a:srgbClr val="BC6440"/>
                </a:solidFill>
                <a:latin typeface="Cambria" pitchFamily="34" charset="0"/>
                <a:ea typeface="Cambria" pitchFamily="34" charset="-122"/>
                <a:cs typeface="Cambria" pitchFamily="34" charset="-120"/>
              </a:rPr>
              <a:t>Week 2</a:t>
            </a:r>
            <a:endParaRPr lang="en-US" sz="1400" dirty="0"/>
          </a:p>
        </p:txBody>
      </p:sp>
      <p:sp>
        <p:nvSpPr>
          <p:cNvPr id="11" name="Text 9"/>
          <p:cNvSpPr txBox="1"/>
          <p:nvPr/>
        </p:nvSpPr>
        <p:spPr>
          <a:xfrm>
            <a:off x="6080760" y="3483864"/>
            <a:ext cx="5349240" cy="731520"/>
          </a:xfrm>
          <a:prstGeom prst="rect">
            <a:avLst/>
          </a:prstGeom>
          <a:noFill/>
          <a:ln/>
        </p:spPr>
        <p:txBody>
          <a:bodyPr wrap="square" lIns="0" tIns="0" rIns="0" bIns="0" rtlCol="0" anchor="ctr"/>
          <a:lstStyle/>
          <a:p>
            <a:pPr indent="0" marL="0">
              <a:lnSpc>
                <a:spcPct val="115000"/>
              </a:lnSpc>
              <a:buNone/>
            </a:pPr>
            <a:r>
              <a:rPr lang="en-US" sz="1150" dirty="0">
                <a:solidFill>
                  <a:srgbClr val="5A544E"/>
                </a:solidFill>
                <a:latin typeface="Calibri" pitchFamily="34" charset="0"/>
                <a:ea typeface="Calibri" pitchFamily="34" charset="-122"/>
                <a:cs typeface="Calibri" pitchFamily="34" charset="-120"/>
              </a:rPr>
              <a:t>The load-bearing assumption of the whole model, and the one most likely to be false. Both pilot studios can be asked plainly, for free, before anyone builds escrow.</a:t>
            </a:r>
            <a:endParaRPr lang="en-US" sz="1150" dirty="0"/>
          </a:p>
        </p:txBody>
      </p:sp>
      <p:sp>
        <p:nvSpPr>
          <p:cNvPr id="12" name="Shape 10"/>
          <p:cNvSpPr/>
          <p:nvPr/>
        </p:nvSpPr>
        <p:spPr>
          <a:xfrm>
            <a:off x="640080" y="4343400"/>
            <a:ext cx="10908792" cy="841248"/>
          </a:xfrm>
          <a:prstGeom prst="roundRect">
            <a:avLst>
              <a:gd name="adj" fmla="val 8696"/>
            </a:avLst>
          </a:prstGeom>
          <a:solidFill>
            <a:srgbClr val="FFFFFF"/>
          </a:solidFill>
          <a:ln w="12700">
            <a:solidFill>
              <a:srgbClr val="E3DCD2"/>
            </a:solidFill>
            <a:prstDash val="solid"/>
          </a:ln>
        </p:spPr>
      </p:sp>
      <p:sp>
        <p:nvSpPr>
          <p:cNvPr id="13" name="Text 11"/>
          <p:cNvSpPr txBox="1"/>
          <p:nvPr/>
        </p:nvSpPr>
        <p:spPr>
          <a:xfrm>
            <a:off x="896112" y="4398264"/>
            <a:ext cx="4114800" cy="731520"/>
          </a:xfrm>
          <a:prstGeom prst="rect">
            <a:avLst/>
          </a:prstGeom>
          <a:noFill/>
          <a:ln/>
        </p:spPr>
        <p:txBody>
          <a:bodyPr wrap="square" lIns="0" tIns="0" rIns="0" bIns="0" rtlCol="0" anchor="ctr"/>
          <a:lstStyle/>
          <a:p>
            <a:pPr indent="0" marL="0">
              <a:lnSpc>
                <a:spcPct val="110000"/>
              </a:lnSpc>
              <a:buNone/>
            </a:pPr>
            <a:r>
              <a:rPr lang="en-US" sz="1350" b="1" dirty="0">
                <a:solidFill>
                  <a:srgbClr val="2A2622"/>
                </a:solidFill>
                <a:latin typeface="Calibri" pitchFamily="34" charset="0"/>
                <a:ea typeface="Calibri" pitchFamily="34" charset="-122"/>
                <a:cs typeface="Calibri" pitchFamily="34" charset="-120"/>
              </a:rPr>
              <a:t>Escrow turns out to be illegal for us</a:t>
            </a:r>
            <a:endParaRPr lang="en-US" sz="1350" dirty="0"/>
          </a:p>
        </p:txBody>
      </p:sp>
      <p:sp>
        <p:nvSpPr>
          <p:cNvPr id="14" name="Text 12"/>
          <p:cNvSpPr txBox="1"/>
          <p:nvPr/>
        </p:nvSpPr>
        <p:spPr>
          <a:xfrm>
            <a:off x="5074920" y="4398264"/>
            <a:ext cx="914400" cy="731520"/>
          </a:xfrm>
          <a:prstGeom prst="rect">
            <a:avLst/>
          </a:prstGeom>
          <a:noFill/>
          <a:ln/>
        </p:spPr>
        <p:txBody>
          <a:bodyPr wrap="square" lIns="0" tIns="0" rIns="0" bIns="0" rtlCol="0" anchor="ctr"/>
          <a:lstStyle/>
          <a:p>
            <a:pPr indent="0" marL="0">
              <a:buNone/>
            </a:pPr>
            <a:r>
              <a:rPr lang="en-US" sz="1400" b="1" dirty="0">
                <a:solidFill>
                  <a:srgbClr val="BC6440"/>
                </a:solidFill>
                <a:latin typeface="Cambria" pitchFamily="34" charset="0"/>
                <a:ea typeface="Cambria" pitchFamily="34" charset="-122"/>
                <a:cs typeface="Cambria" pitchFamily="34" charset="-120"/>
              </a:rPr>
              <a:t>Week 6</a:t>
            </a:r>
            <a:endParaRPr lang="en-US" sz="1400" dirty="0"/>
          </a:p>
        </p:txBody>
      </p:sp>
      <p:sp>
        <p:nvSpPr>
          <p:cNvPr id="15" name="Text 13"/>
          <p:cNvSpPr txBox="1"/>
          <p:nvPr/>
        </p:nvSpPr>
        <p:spPr>
          <a:xfrm>
            <a:off x="6080760" y="4398264"/>
            <a:ext cx="5349240" cy="731520"/>
          </a:xfrm>
          <a:prstGeom prst="rect">
            <a:avLst/>
          </a:prstGeom>
          <a:noFill/>
          <a:ln/>
        </p:spPr>
        <p:txBody>
          <a:bodyPr wrap="square" lIns="0" tIns="0" rIns="0" bIns="0" rtlCol="0" anchor="ctr"/>
          <a:lstStyle/>
          <a:p>
            <a:pPr indent="0" marL="0">
              <a:lnSpc>
                <a:spcPct val="115000"/>
              </a:lnSpc>
              <a:buNone/>
            </a:pPr>
            <a:r>
              <a:rPr lang="en-US" sz="1150" dirty="0">
                <a:solidFill>
                  <a:srgbClr val="5A544E"/>
                </a:solidFill>
                <a:latin typeface="Calibri" pitchFamily="34" charset="0"/>
                <a:ea typeface="Calibri" pitchFamily="34" charset="-122"/>
                <a:cs typeface="Calibri" pitchFamily="34" charset="-120"/>
              </a:rPr>
              <a:t>Removes 14% of year-two revenue. Year one is unaffected; the repositioning is not. We plan against the version without it until a lawyer says otherwise.</a:t>
            </a:r>
            <a:endParaRPr lang="en-US" sz="1150" dirty="0"/>
          </a:p>
        </p:txBody>
      </p:sp>
      <p:sp>
        <p:nvSpPr>
          <p:cNvPr id="16" name="Shape 14"/>
          <p:cNvSpPr/>
          <p:nvPr/>
        </p:nvSpPr>
        <p:spPr>
          <a:xfrm>
            <a:off x="640080" y="5257800"/>
            <a:ext cx="10908792" cy="841248"/>
          </a:xfrm>
          <a:prstGeom prst="roundRect">
            <a:avLst>
              <a:gd name="adj" fmla="val 8696"/>
            </a:avLst>
          </a:prstGeom>
          <a:solidFill>
            <a:srgbClr val="FFFFFF"/>
          </a:solidFill>
          <a:ln w="12700">
            <a:solidFill>
              <a:srgbClr val="E3DCD2"/>
            </a:solidFill>
            <a:prstDash val="solid"/>
          </a:ln>
        </p:spPr>
      </p:sp>
      <p:sp>
        <p:nvSpPr>
          <p:cNvPr id="17" name="Text 15"/>
          <p:cNvSpPr txBox="1"/>
          <p:nvPr/>
        </p:nvSpPr>
        <p:spPr>
          <a:xfrm>
            <a:off x="896112" y="5312664"/>
            <a:ext cx="4114800" cy="731520"/>
          </a:xfrm>
          <a:prstGeom prst="rect">
            <a:avLst/>
          </a:prstGeom>
          <a:noFill/>
          <a:ln/>
        </p:spPr>
        <p:txBody>
          <a:bodyPr wrap="square" lIns="0" tIns="0" rIns="0" bIns="0" rtlCol="0" anchor="ctr"/>
          <a:lstStyle/>
          <a:p>
            <a:pPr indent="0" marL="0">
              <a:lnSpc>
                <a:spcPct val="110000"/>
              </a:lnSpc>
              <a:buNone/>
            </a:pPr>
            <a:r>
              <a:rPr lang="en-US" sz="1350" b="1" dirty="0">
                <a:solidFill>
                  <a:srgbClr val="2A2622"/>
                </a:solidFill>
                <a:latin typeface="Calibri" pitchFamily="34" charset="0"/>
                <a:ea typeface="Calibri" pitchFamily="34" charset="-122"/>
                <a:cs typeface="Calibri" pitchFamily="34" charset="-120"/>
              </a:rPr>
              <a:t>Churn stays at 10% a month</a:t>
            </a:r>
            <a:endParaRPr lang="en-US" sz="1350" dirty="0"/>
          </a:p>
        </p:txBody>
      </p:sp>
      <p:sp>
        <p:nvSpPr>
          <p:cNvPr id="18" name="Text 16"/>
          <p:cNvSpPr txBox="1"/>
          <p:nvPr/>
        </p:nvSpPr>
        <p:spPr>
          <a:xfrm>
            <a:off x="5074920" y="5312664"/>
            <a:ext cx="914400" cy="731520"/>
          </a:xfrm>
          <a:prstGeom prst="rect">
            <a:avLst/>
          </a:prstGeom>
          <a:noFill/>
          <a:ln/>
        </p:spPr>
        <p:txBody>
          <a:bodyPr wrap="square" lIns="0" tIns="0" rIns="0" bIns="0" rtlCol="0" anchor="ctr"/>
          <a:lstStyle/>
          <a:p>
            <a:pPr indent="0" marL="0">
              <a:buNone/>
            </a:pPr>
            <a:r>
              <a:rPr lang="en-US" sz="1400" b="1" dirty="0">
                <a:solidFill>
                  <a:srgbClr val="BC6440"/>
                </a:solidFill>
                <a:latin typeface="Cambria" pitchFamily="34" charset="0"/>
                <a:ea typeface="Cambria" pitchFamily="34" charset="-122"/>
                <a:cs typeface="Cambria" pitchFamily="34" charset="-120"/>
              </a:rPr>
              <a:t>Month 6</a:t>
            </a:r>
            <a:endParaRPr lang="en-US" sz="1400" dirty="0"/>
          </a:p>
        </p:txBody>
      </p:sp>
      <p:sp>
        <p:nvSpPr>
          <p:cNvPr id="19" name="Text 17"/>
          <p:cNvSpPr txBox="1"/>
          <p:nvPr/>
        </p:nvSpPr>
        <p:spPr>
          <a:xfrm>
            <a:off x="6080760" y="5312664"/>
            <a:ext cx="5349240" cy="731520"/>
          </a:xfrm>
          <a:prstGeom prst="rect">
            <a:avLst/>
          </a:prstGeom>
          <a:noFill/>
          <a:ln/>
        </p:spPr>
        <p:txBody>
          <a:bodyPr wrap="square" lIns="0" tIns="0" rIns="0" bIns="0" rtlCol="0" anchor="ctr"/>
          <a:lstStyle/>
          <a:p>
            <a:pPr indent="0" marL="0">
              <a:lnSpc>
                <a:spcPct val="115000"/>
              </a:lnSpc>
              <a:buNone/>
            </a:pPr>
            <a:r>
              <a:rPr lang="en-US" sz="1150" dirty="0">
                <a:solidFill>
                  <a:srgbClr val="5A544E"/>
                </a:solidFill>
                <a:latin typeface="Calibri" pitchFamily="34" charset="0"/>
                <a:ea typeface="Calibri" pitchFamily="34" charset="-122"/>
                <a:cs typeface="Calibri" pitchFamily="34" charset="-120"/>
              </a:rPr>
              <a:t>The roster never passes 24 studios. The likely cause is pricing the fee flat across the ramp, and the fix costs little — waive it until a studio closes four a month.</a:t>
            </a:r>
            <a:endParaRPr lang="en-US" sz="1150" dirty="0"/>
          </a:p>
        </p:txBody>
      </p:sp>
      <p:sp>
        <p:nvSpPr>
          <p:cNvPr id="20" name="Text 18"/>
          <p:cNvSpPr txBox="1"/>
          <p:nvPr/>
        </p:nvSpPr>
        <p:spPr>
          <a:xfrm>
            <a:off x="640080" y="6263640"/>
            <a:ext cx="10908792" cy="411480"/>
          </a:xfrm>
          <a:prstGeom prst="rect">
            <a:avLst/>
          </a:prstGeom>
          <a:noFill/>
          <a:ln/>
        </p:spPr>
        <p:txBody>
          <a:bodyPr wrap="square" lIns="0" tIns="0" rIns="0" bIns="0" rtlCol="0" anchor="t"/>
          <a:lstStyle/>
          <a:p>
            <a:pPr indent="0" marL="0">
              <a:buNone/>
            </a:pPr>
            <a:r>
              <a:rPr lang="en-US" sz="1600" b="1" dirty="0">
                <a:solidFill>
                  <a:srgbClr val="1A6068"/>
                </a:solidFill>
                <a:latin typeface="Cambria" pitchFamily="34" charset="0"/>
                <a:ea typeface="Cambria" pitchFamily="34" charset="-122"/>
                <a:cs typeface="Cambria" pitchFamily="34" charset="-120"/>
              </a:rPr>
              <a:t>None of these are discovered late. The instrumentation to catch all four is already built and running.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Interiors — investor deck</dc:title>
  <dc:subject>PptxGenJS Presentation</dc:subject>
  <dc:creator>One Interiors</dc:creator>
  <cp:lastModifiedBy>One Interiors</cp:lastModifiedBy>
  <cp:revision>1</cp:revision>
  <dcterms:created xsi:type="dcterms:W3CDTF">2026-09-12T10:20:32Z</dcterms:created>
  <dcterms:modified xsi:type="dcterms:W3CDTF">2026-09-12T10:20:32Z</dcterms:modified>
</cp:coreProperties>
</file>