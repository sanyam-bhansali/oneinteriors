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is the smaller half of what she brings. Lead with the number she owns, not with the cheque.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in the room. Everybody here already knows what the company is; this slide exists so the three decks start from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A shareholder who discovers it later stops believing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 is on this slide on purpose. Our own model says the roster does not reach 50 at the churn we assumed, and everyone signing should have seen that number before they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₹25,000 paid test is an instrument, not a campaign. Make sure that framing survives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cost-band content is the strongest thing in her remit. It is organic, defensible and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temptation will be to spend the ₹25k on growth. Say plainly that it is a measuring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in all three decks, deliberately. Anyone comparing their copy with another should find the facts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risk is the one a marketer is most likely to be pushed into. Give her the argument for refusing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measurement, not the cheque.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828800"/>
            <a:ext cx="10908792"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Swarupa</a:t>
            </a:r>
            <a:endParaRPr lang="en-US" sz="4600" dirty="0"/>
          </a:p>
        </p:txBody>
      </p:sp>
      <p:sp>
        <p:nvSpPr>
          <p:cNvPr id="3" name="Text 1"/>
          <p:cNvSpPr txBox="1"/>
          <p:nvPr/>
        </p:nvSpPr>
        <p:spPr>
          <a:xfrm>
            <a:off x="640080" y="2697480"/>
            <a:ext cx="9144000" cy="548640"/>
          </a:xfrm>
          <a:prstGeom prst="rect">
            <a:avLst/>
          </a:prstGeom>
          <a:noFill/>
          <a:ln/>
        </p:spPr>
        <p:txBody>
          <a:bodyPr wrap="square" lIns="0" tIns="0" rIns="0" bIns="0" rtlCol="0" anchor="ctr"/>
          <a:lstStyle/>
          <a:p>
            <a:pPr indent="0" marL="0">
              <a:buNone/>
            </a:pPr>
            <a:r>
              <a:rPr lang="en-US" sz="2400" i="1" dirty="0">
                <a:solidFill>
                  <a:srgbClr val="C9922A"/>
                </a:solidFill>
                <a:latin typeface="Cambria" pitchFamily="34" charset="0"/>
                <a:ea typeface="Cambria" pitchFamily="34" charset="-122"/>
                <a:cs typeface="Cambria" pitchFamily="34" charset="-120"/>
              </a:rPr>
              <a:t>Investor and marketing — ₹10 lakh</a:t>
            </a:r>
            <a:endParaRPr lang="en-US" sz="2400" dirty="0"/>
          </a:p>
        </p:txBody>
      </p:sp>
      <p:sp>
        <p:nvSpPr>
          <p:cNvPr id="4" name="Text 2"/>
          <p:cNvSpPr txBox="1"/>
          <p:nvPr/>
        </p:nvSpPr>
        <p:spPr>
          <a:xfrm>
            <a:off x="640080" y="3474720"/>
            <a:ext cx="8046720" cy="128016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The entire year-one plan rests on one unmeasured number: what a customer actually costs. That number is a marketing question, and it is yours.</a:t>
            </a:r>
            <a:endParaRPr lang="en-US" sz="1600" dirty="0"/>
          </a:p>
        </p:txBody>
      </p:sp>
      <p:sp>
        <p:nvSpPr>
          <p:cNvPr id="5" name="Text 3"/>
          <p:cNvSpPr txBox="1"/>
          <p:nvPr/>
        </p:nvSpPr>
        <p:spPr>
          <a:xfrm>
            <a:off x="640080" y="53949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Interiors  ·  Pune  ·  September 2026</a:t>
            </a:r>
            <a:endParaRPr lang="en-US" sz="1400" dirty="0"/>
          </a:p>
        </p:txBody>
      </p:sp>
      <p:sp>
        <p:nvSpPr>
          <p:cNvPr id="6" name="Text 4"/>
          <p:cNvSpPr txBox="1"/>
          <p:nvPr/>
        </p:nvSpPr>
        <p:spPr>
          <a:xfrm>
            <a:off x="640080" y="5852160"/>
            <a:ext cx="9601200" cy="411480"/>
          </a:xfrm>
          <a:prstGeom prst="rect">
            <a:avLst/>
          </a:prstGeom>
          <a:noFill/>
          <a:ln/>
        </p:spPr>
        <p:txBody>
          <a:bodyPr wrap="square" lIns="0" tIns="0" rIns="0" bIns="0" rtlCol="0" anchor="ctr"/>
          <a:lstStyle/>
          <a:p>
            <a:pPr indent="0" marL="0">
              <a:buNone/>
            </a:pPr>
            <a:r>
              <a:rPr lang="en-US" sz="1100" i="1" dirty="0">
                <a:solidFill>
                  <a:srgbClr val="8FB3B6"/>
                </a:solidFill>
                <a:latin typeface="Calibri" pitchFamily="34" charset="0"/>
                <a:ea typeface="Calibri" pitchFamily="34" charset="-122"/>
                <a:cs typeface="Calibri" pitchFamily="34" charset="-120"/>
              </a:rPr>
              <a:t>Working name. The permanent name is being settled this week — nothing in the product hardcodes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we are building.</a:t>
            </a:r>
            <a:endParaRPr lang="en-US" sz="3400" dirty="0"/>
          </a:p>
        </p:txBody>
      </p:sp>
      <p:sp>
        <p:nvSpPr>
          <p:cNvPr id="3" name="Text 1"/>
          <p:cNvSpPr txBox="1"/>
          <p:nvPr/>
        </p:nvSpPr>
        <p:spPr>
          <a:xfrm>
            <a:off x="640080" y="1463040"/>
            <a:ext cx="10424160" cy="10058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curated marketplace for interior design in Pune. Nine questions, matched to verified studios, a real price from each studio’s own rates, and a neutral expert on the phone before anyone is introduced.</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problem</a:t>
            </a:r>
            <a:endParaRPr lang="en-US" sz="1500" dirty="0"/>
          </a:p>
        </p:txBody>
      </p:sp>
      <p:sp>
        <p:nvSpPr>
          <p:cNvPr id="7" name="Text 5"/>
          <p:cNvSpPr txBox="1"/>
          <p:nvPr/>
        </p:nvSpPr>
        <p:spPr>
          <a:xfrm>
            <a:off x="126187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Not finding a designer — you can find forty in an afternoon. Telling which one will still be answering the phone in month four.</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What we sell</a:t>
            </a:r>
            <a:endParaRPr lang="en-US" sz="1500" dirty="0"/>
          </a:p>
        </p:txBody>
      </p:sp>
      <p:sp>
        <p:nvSpPr>
          <p:cNvPr id="11" name="Text 9"/>
          <p:cNvSpPr txBox="1"/>
          <p:nvPr/>
        </p:nvSpPr>
        <p:spPr>
          <a:xfrm>
            <a:off x="683971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Certainty, not taste. Every complaint in this trade is an execution failure, not a matching failure.</a:t>
            </a:r>
            <a:endParaRPr lang="en-US" sz="1300" dirty="0"/>
          </a:p>
        </p:txBody>
      </p:sp>
      <p:sp>
        <p:nvSpPr>
          <p:cNvPr id="12" name="Shape 10"/>
          <p:cNvSpPr/>
          <p:nvPr/>
        </p:nvSpPr>
        <p:spPr>
          <a:xfrm>
            <a:off x="640080" y="4242816"/>
            <a:ext cx="420624" cy="420624"/>
          </a:xfrm>
          <a:prstGeom prst="ellipse">
            <a:avLst/>
          </a:prstGeom>
          <a:solidFill>
            <a:srgbClr val="1A6068"/>
          </a:solidFill>
          <a:ln/>
        </p:spPr>
      </p:sp>
      <p:sp>
        <p:nvSpPr>
          <p:cNvPr id="13" name="Text 11"/>
          <p:cNvSpPr txBox="1"/>
          <p:nvPr/>
        </p:nvSpPr>
        <p:spPr>
          <a:xfrm>
            <a:off x="64008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size of it</a:t>
            </a:r>
            <a:endParaRPr lang="en-US" sz="1500" dirty="0"/>
          </a:p>
        </p:txBody>
      </p:sp>
      <p:sp>
        <p:nvSpPr>
          <p:cNvPr id="15" name="Text 13"/>
          <p:cNvSpPr txBox="1"/>
          <p:nvPr/>
        </p:nvSpPr>
        <p:spPr>
          <a:xfrm>
            <a:off x="126187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₹7–27 lakh a project. The largest discretionary purchase most Indian households make after the flat itself.</a:t>
            </a:r>
            <a:endParaRPr lang="en-US" sz="1300" dirty="0"/>
          </a:p>
        </p:txBody>
      </p:sp>
      <p:sp>
        <p:nvSpPr>
          <p:cNvPr id="16" name="Shape 14"/>
          <p:cNvSpPr/>
          <p:nvPr/>
        </p:nvSpPr>
        <p:spPr>
          <a:xfrm>
            <a:off x="6217920" y="4242816"/>
            <a:ext cx="420624" cy="420624"/>
          </a:xfrm>
          <a:prstGeom prst="ellipse">
            <a:avLst/>
          </a:prstGeom>
          <a:solidFill>
            <a:srgbClr val="1A6068"/>
          </a:solidFill>
          <a:ln/>
        </p:spPr>
      </p:sp>
      <p:sp>
        <p:nvSpPr>
          <p:cNvPr id="17" name="Text 15"/>
          <p:cNvSpPr txBox="1"/>
          <p:nvPr/>
        </p:nvSpPr>
        <p:spPr>
          <a:xfrm>
            <a:off x="621792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rule</a:t>
            </a:r>
            <a:endParaRPr lang="en-US" sz="1500" dirty="0"/>
          </a:p>
        </p:txBody>
      </p:sp>
      <p:sp>
        <p:nvSpPr>
          <p:cNvPr id="19" name="Text 17"/>
          <p:cNvSpPr txBox="1"/>
          <p:nvPr/>
        </p:nvSpPr>
        <p:spPr>
          <a:xfrm>
            <a:off x="683971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 studio can pay us for volume. It can never pay us for position. That constraint is the product.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Where it actually is, today.</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Said plainly, because everyone in this room is going to find out anyway.</a:t>
            </a:r>
            <a:endParaRPr lang="en-US" sz="1700" dirty="0"/>
          </a:p>
        </p:txBody>
      </p:sp>
      <p:sp>
        <p:nvSpPr>
          <p:cNvPr id="4" name="Shape 2"/>
          <p:cNvSpPr/>
          <p:nvPr/>
        </p:nvSpPr>
        <p:spPr>
          <a:xfrm>
            <a:off x="640080" y="2606040"/>
            <a:ext cx="2615184" cy="2286000"/>
          </a:xfrm>
          <a:prstGeom prst="roundRect">
            <a:avLst>
              <a:gd name="adj" fmla="val 3200"/>
            </a:avLst>
          </a:prstGeom>
          <a:solidFill>
            <a:srgbClr val="FBF7F0"/>
          </a:solidFill>
          <a:ln w="12700">
            <a:solidFill>
              <a:srgbClr val="E3DCD2"/>
            </a:solidFill>
            <a:prstDash val="solid"/>
          </a:ln>
        </p:spPr>
      </p:sp>
      <p:sp>
        <p:nvSpPr>
          <p:cNvPr id="5" name="Text 3"/>
          <p:cNvSpPr txBox="1"/>
          <p:nvPr/>
        </p:nvSpPr>
        <p:spPr>
          <a:xfrm>
            <a:off x="859536"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Built</a:t>
            </a:r>
            <a:endParaRPr lang="en-US" sz="1700" dirty="0"/>
          </a:p>
        </p:txBody>
      </p:sp>
      <p:sp>
        <p:nvSpPr>
          <p:cNvPr id="6" name="Text 4"/>
          <p:cNvSpPr txBox="1"/>
          <p:nvPr/>
        </p:nvSpPr>
        <p:spPr>
          <a:xfrm>
            <a:off x="859536"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The whole funnel runs: brief, matching, quotes, comparison, expert call, prep pack. Plus the studio dashboard and the ops console.</a:t>
            </a:r>
            <a:endParaRPr lang="en-US" sz="1200" dirty="0"/>
          </a:p>
        </p:txBody>
      </p:sp>
      <p:sp>
        <p:nvSpPr>
          <p:cNvPr id="7" name="Shape 5"/>
          <p:cNvSpPr/>
          <p:nvPr/>
        </p:nvSpPr>
        <p:spPr>
          <a:xfrm>
            <a:off x="3401568" y="2606040"/>
            <a:ext cx="2615184" cy="2286000"/>
          </a:xfrm>
          <a:prstGeom prst="roundRect">
            <a:avLst>
              <a:gd name="adj" fmla="val 3200"/>
            </a:avLst>
          </a:prstGeom>
          <a:solidFill>
            <a:srgbClr val="FBF7F0"/>
          </a:solidFill>
          <a:ln w="12700">
            <a:solidFill>
              <a:srgbClr val="E3DCD2"/>
            </a:solidFill>
            <a:prstDash val="solid"/>
          </a:ln>
        </p:spPr>
      </p:sp>
      <p:sp>
        <p:nvSpPr>
          <p:cNvPr id="8" name="Text 6"/>
          <p:cNvSpPr txBox="1"/>
          <p:nvPr/>
        </p:nvSpPr>
        <p:spPr>
          <a:xfrm>
            <a:off x="3621024"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Not launched</a:t>
            </a:r>
            <a:endParaRPr lang="en-US" sz="1700" dirty="0"/>
          </a:p>
        </p:txBody>
      </p:sp>
      <p:sp>
        <p:nvSpPr>
          <p:cNvPr id="9" name="Text 7"/>
          <p:cNvSpPr txBox="1"/>
          <p:nvPr/>
        </p:nvSpPr>
        <p:spPr>
          <a:xfrm>
            <a:off x="3621024"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Zero customers. Zero revenue. Zero live studios. The waitlist opens 16 September.</a:t>
            </a:r>
            <a:endParaRPr lang="en-US" sz="1200" dirty="0"/>
          </a:p>
        </p:txBody>
      </p:sp>
      <p:sp>
        <p:nvSpPr>
          <p:cNvPr id="10" name="Shape 8"/>
          <p:cNvSpPr/>
          <p:nvPr/>
        </p:nvSpPr>
        <p:spPr>
          <a:xfrm>
            <a:off x="6163056" y="2606040"/>
            <a:ext cx="2615184" cy="2286000"/>
          </a:xfrm>
          <a:prstGeom prst="roundRect">
            <a:avLst>
              <a:gd name="adj" fmla="val 3200"/>
            </a:avLst>
          </a:prstGeom>
          <a:solidFill>
            <a:srgbClr val="FAEDE6"/>
          </a:solidFill>
          <a:ln w="12700">
            <a:solidFill>
              <a:srgbClr val="E8C9B8"/>
            </a:solidFill>
            <a:prstDash val="solid"/>
          </a:ln>
        </p:spPr>
      </p:sp>
      <p:sp>
        <p:nvSpPr>
          <p:cNvPr id="11" name="Text 9"/>
          <p:cNvSpPr txBox="1"/>
          <p:nvPr/>
        </p:nvSpPr>
        <p:spPr>
          <a:xfrm>
            <a:off x="6382512" y="2798064"/>
            <a:ext cx="2176272" cy="457200"/>
          </a:xfrm>
          <a:prstGeom prst="rect">
            <a:avLst/>
          </a:prstGeom>
          <a:noFill/>
          <a:ln/>
        </p:spPr>
        <p:txBody>
          <a:bodyPr wrap="square" lIns="0" tIns="0" rIns="0" bIns="0" rtlCol="0" anchor="t"/>
          <a:lstStyle/>
          <a:p>
            <a:pPr indent="0" marL="0">
              <a:buNone/>
            </a:pPr>
            <a:r>
              <a:rPr lang="en-US" sz="1700" b="1" dirty="0">
                <a:solidFill>
                  <a:srgbClr val="BC6440"/>
                </a:solidFill>
                <a:latin typeface="Cambria" pitchFamily="34" charset="0"/>
                <a:ea typeface="Cambria" pitchFamily="34" charset="-122"/>
                <a:cs typeface="Cambria" pitchFamily="34" charset="-120"/>
              </a:rPr>
              <a:t>One thing missing</a:t>
            </a:r>
            <a:endParaRPr lang="en-US" sz="1700" dirty="0"/>
          </a:p>
        </p:txBody>
      </p:sp>
      <p:sp>
        <p:nvSpPr>
          <p:cNvPr id="12" name="Text 10"/>
          <p:cNvSpPr txBox="1"/>
          <p:nvPr/>
        </p:nvSpPr>
        <p:spPr>
          <a:xfrm>
            <a:off x="6382512"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On day one the product cannot produce a quote — because no studio has entered a rate card, and the pricing code refuses to invent one.</a:t>
            </a:r>
            <a:endParaRPr lang="en-US" sz="1200" dirty="0"/>
          </a:p>
        </p:txBody>
      </p:sp>
      <p:sp>
        <p:nvSpPr>
          <p:cNvPr id="13" name="Shape 11"/>
          <p:cNvSpPr/>
          <p:nvPr/>
        </p:nvSpPr>
        <p:spPr>
          <a:xfrm>
            <a:off x="8924544" y="2606040"/>
            <a:ext cx="2615184" cy="2286000"/>
          </a:xfrm>
          <a:prstGeom prst="roundRect">
            <a:avLst>
              <a:gd name="adj" fmla="val 3200"/>
            </a:avLst>
          </a:prstGeom>
          <a:solidFill>
            <a:srgbClr val="FBF7F0"/>
          </a:solidFill>
          <a:ln w="12700">
            <a:solidFill>
              <a:srgbClr val="E3DCD2"/>
            </a:solidFill>
            <a:prstDash val="solid"/>
          </a:ln>
        </p:spPr>
      </p:sp>
      <p:sp>
        <p:nvSpPr>
          <p:cNvPr id="14" name="Text 12"/>
          <p:cNvSpPr txBox="1"/>
          <p:nvPr/>
        </p:nvSpPr>
        <p:spPr>
          <a:xfrm>
            <a:off x="9144000"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Twenty minutes</a:t>
            </a:r>
            <a:endParaRPr lang="en-US" sz="1700" dirty="0"/>
          </a:p>
        </p:txBody>
      </p:sp>
      <p:sp>
        <p:nvSpPr>
          <p:cNvPr id="15" name="Text 13"/>
          <p:cNvSpPr txBox="1"/>
          <p:nvPr/>
        </p:nvSpPr>
        <p:spPr>
          <a:xfrm>
            <a:off x="9144000"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That is what it takes to fix, once one studio sits down with us. It is the single highest-leverage action in the plan.</a:t>
            </a:r>
            <a:endParaRPr lang="en-US" sz="1200" dirty="0"/>
          </a:p>
        </p:txBody>
      </p:sp>
      <p:sp>
        <p:nvSpPr>
          <p:cNvPr id="16" name="Text 14"/>
          <p:cNvSpPr txBox="1"/>
          <p:nvPr/>
        </p:nvSpPr>
        <p:spPr>
          <a:xfrm>
            <a:off x="640080" y="5212080"/>
            <a:ext cx="10908792" cy="548640"/>
          </a:xfrm>
          <a:prstGeom prst="rect">
            <a:avLst/>
          </a:prstGeom>
          <a:noFill/>
          <a:ln/>
        </p:spPr>
        <p:txBody>
          <a:bodyPr wrap="square" lIns="0" tIns="0" rIns="0" bIns="0" rtlCol="0" anchor="t"/>
          <a:lstStyle/>
          <a:p>
            <a:pPr indent="0" marL="0">
              <a:buNone/>
            </a:pPr>
            <a:r>
              <a:rPr lang="en-US" sz="1350" i="1" dirty="0">
                <a:solidFill>
                  <a:srgbClr val="8B847C"/>
                </a:solidFill>
                <a:latin typeface="Calibri" pitchFamily="34" charset="0"/>
                <a:ea typeface="Calibri" pitchFamily="34" charset="-122"/>
                <a:cs typeface="Calibri" pitchFamily="34" charset="-120"/>
              </a:rPr>
              <a:t>Nothing on this slide is a surprise to anyone who has been close to it. It is here so nobody signs on a different picture than the one that exists.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How the money works.</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months of commission only, then a subscription that scales with project size.</a:t>
            </a:r>
            <a:endParaRPr lang="en-US" sz="1700" dirty="0"/>
          </a:p>
        </p:txBody>
      </p:sp>
      <p:sp>
        <p:nvSpPr>
          <p:cNvPr id="4" name="Shape 2"/>
          <p:cNvSpPr/>
          <p:nvPr/>
        </p:nvSpPr>
        <p:spPr>
          <a:xfrm>
            <a:off x="640080" y="2560320"/>
            <a:ext cx="10908792" cy="640080"/>
          </a:xfrm>
          <a:prstGeom prst="roundRect">
            <a:avLst>
              <a:gd name="adj" fmla="val 11429"/>
            </a:avLst>
          </a:prstGeom>
          <a:solidFill>
            <a:srgbClr val="FBF7F0"/>
          </a:solidFill>
          <a:ln w="12700">
            <a:solidFill>
              <a:srgbClr val="E3DCD2"/>
            </a:solidFill>
            <a:prstDash val="solid"/>
          </a:ln>
        </p:spPr>
      </p:sp>
      <p:sp>
        <p:nvSpPr>
          <p:cNvPr id="5" name="Text 3"/>
          <p:cNvSpPr txBox="1"/>
          <p:nvPr/>
        </p:nvSpPr>
        <p:spPr>
          <a:xfrm>
            <a:off x="914400" y="2560320"/>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Pilot · months 1–3</a:t>
            </a:r>
            <a:endParaRPr lang="en-US" sz="1400" dirty="0"/>
          </a:p>
        </p:txBody>
      </p:sp>
      <p:sp>
        <p:nvSpPr>
          <p:cNvPr id="6" name="Text 4"/>
          <p:cNvSpPr txBox="1"/>
          <p:nvPr/>
        </p:nvSpPr>
        <p:spPr>
          <a:xfrm>
            <a:off x="4023360" y="2560320"/>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 commission only</a:t>
            </a:r>
            <a:endParaRPr lang="en-US" sz="1400" dirty="0"/>
          </a:p>
        </p:txBody>
      </p:sp>
      <p:sp>
        <p:nvSpPr>
          <p:cNvPr id="7" name="Text 5"/>
          <p:cNvSpPr txBox="1"/>
          <p:nvPr/>
        </p:nvSpPr>
        <p:spPr>
          <a:xfrm>
            <a:off x="7132320" y="2560320"/>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Nothing at all unless a project closes</a:t>
            </a:r>
            <a:endParaRPr lang="en-US" sz="1250" dirty="0"/>
          </a:p>
        </p:txBody>
      </p:sp>
      <p:sp>
        <p:nvSpPr>
          <p:cNvPr id="8" name="Shape 6"/>
          <p:cNvSpPr/>
          <p:nvPr/>
        </p:nvSpPr>
        <p:spPr>
          <a:xfrm>
            <a:off x="640080" y="3273552"/>
            <a:ext cx="10908792" cy="640080"/>
          </a:xfrm>
          <a:prstGeom prst="roundRect">
            <a:avLst>
              <a:gd name="adj" fmla="val 11429"/>
            </a:avLst>
          </a:prstGeom>
          <a:solidFill>
            <a:srgbClr val="FFFFFF"/>
          </a:solidFill>
          <a:ln w="12700">
            <a:solidFill>
              <a:srgbClr val="E3DCD2"/>
            </a:solidFill>
            <a:prstDash val="solid"/>
          </a:ln>
        </p:spPr>
      </p:sp>
      <p:sp>
        <p:nvSpPr>
          <p:cNvPr id="9" name="Text 7"/>
          <p:cNvSpPr txBox="1"/>
          <p:nvPr/>
        </p:nvSpPr>
        <p:spPr>
          <a:xfrm>
            <a:off x="914400" y="3273552"/>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Essential</a:t>
            </a:r>
            <a:endParaRPr lang="en-US" sz="1400" dirty="0"/>
          </a:p>
        </p:txBody>
      </p:sp>
      <p:sp>
        <p:nvSpPr>
          <p:cNvPr id="10" name="Text 8"/>
          <p:cNvSpPr txBox="1"/>
          <p:nvPr/>
        </p:nvSpPr>
        <p:spPr>
          <a:xfrm>
            <a:off x="4023360" y="3273552"/>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₹25,000/mo + 5%</a:t>
            </a:r>
            <a:endParaRPr lang="en-US" sz="1400" dirty="0"/>
          </a:p>
        </p:txBody>
      </p:sp>
      <p:sp>
        <p:nvSpPr>
          <p:cNvPr id="11" name="Text 9"/>
          <p:cNvSpPr txBox="1"/>
          <p:nvPr/>
        </p:nvSpPr>
        <p:spPr>
          <a:xfrm>
            <a:off x="7132320" y="3273552"/>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₹7 lakh projects</a:t>
            </a:r>
            <a:endParaRPr lang="en-US" sz="1250" dirty="0"/>
          </a:p>
        </p:txBody>
      </p:sp>
      <p:sp>
        <p:nvSpPr>
          <p:cNvPr id="12" name="Shape 10"/>
          <p:cNvSpPr/>
          <p:nvPr/>
        </p:nvSpPr>
        <p:spPr>
          <a:xfrm>
            <a:off x="640080" y="3986784"/>
            <a:ext cx="10908792" cy="640080"/>
          </a:xfrm>
          <a:prstGeom prst="roundRect">
            <a:avLst>
              <a:gd name="adj" fmla="val 11429"/>
            </a:avLst>
          </a:prstGeom>
          <a:solidFill>
            <a:srgbClr val="FBF7F0"/>
          </a:solidFill>
          <a:ln w="12700">
            <a:solidFill>
              <a:srgbClr val="E3DCD2"/>
            </a:solidFill>
            <a:prstDash val="solid"/>
          </a:ln>
        </p:spPr>
      </p:sp>
      <p:sp>
        <p:nvSpPr>
          <p:cNvPr id="13" name="Text 11"/>
          <p:cNvSpPr txBox="1"/>
          <p:nvPr/>
        </p:nvSpPr>
        <p:spPr>
          <a:xfrm>
            <a:off x="914400" y="3986784"/>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Premium</a:t>
            </a:r>
            <a:endParaRPr lang="en-US" sz="1400" dirty="0"/>
          </a:p>
        </p:txBody>
      </p:sp>
      <p:sp>
        <p:nvSpPr>
          <p:cNvPr id="14" name="Text 12"/>
          <p:cNvSpPr txBox="1"/>
          <p:nvPr/>
        </p:nvSpPr>
        <p:spPr>
          <a:xfrm>
            <a:off x="4023360" y="3986784"/>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₹50,000/mo + 5%</a:t>
            </a:r>
            <a:endParaRPr lang="en-US" sz="1400" dirty="0"/>
          </a:p>
        </p:txBody>
      </p:sp>
      <p:sp>
        <p:nvSpPr>
          <p:cNvPr id="15" name="Text 13"/>
          <p:cNvSpPr txBox="1"/>
          <p:nvPr/>
        </p:nvSpPr>
        <p:spPr>
          <a:xfrm>
            <a:off x="7132320" y="3986784"/>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₹12 lakh projects</a:t>
            </a:r>
            <a:endParaRPr lang="en-US" sz="1250" dirty="0"/>
          </a:p>
        </p:txBody>
      </p:sp>
      <p:sp>
        <p:nvSpPr>
          <p:cNvPr id="16" name="Shape 14"/>
          <p:cNvSpPr/>
          <p:nvPr/>
        </p:nvSpPr>
        <p:spPr>
          <a:xfrm>
            <a:off x="640080" y="4700016"/>
            <a:ext cx="10908792" cy="640080"/>
          </a:xfrm>
          <a:prstGeom prst="roundRect">
            <a:avLst>
              <a:gd name="adj" fmla="val 11429"/>
            </a:avLst>
          </a:prstGeom>
          <a:solidFill>
            <a:srgbClr val="FFFFFF"/>
          </a:solidFill>
          <a:ln w="12700">
            <a:solidFill>
              <a:srgbClr val="E3DCD2"/>
            </a:solidFill>
            <a:prstDash val="solid"/>
          </a:ln>
        </p:spPr>
      </p:sp>
      <p:sp>
        <p:nvSpPr>
          <p:cNvPr id="17" name="Text 15"/>
          <p:cNvSpPr txBox="1"/>
          <p:nvPr/>
        </p:nvSpPr>
        <p:spPr>
          <a:xfrm>
            <a:off x="914400" y="4700016"/>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Luxury</a:t>
            </a:r>
            <a:endParaRPr lang="en-US" sz="1400" dirty="0"/>
          </a:p>
        </p:txBody>
      </p:sp>
      <p:sp>
        <p:nvSpPr>
          <p:cNvPr id="18" name="Text 16"/>
          <p:cNvSpPr txBox="1"/>
          <p:nvPr/>
        </p:nvSpPr>
        <p:spPr>
          <a:xfrm>
            <a:off x="4023360" y="4700016"/>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₹1,00,000/mo + 5%</a:t>
            </a:r>
            <a:endParaRPr lang="en-US" sz="1400" dirty="0"/>
          </a:p>
        </p:txBody>
      </p:sp>
      <p:sp>
        <p:nvSpPr>
          <p:cNvPr id="19" name="Text 17"/>
          <p:cNvSpPr txBox="1"/>
          <p:nvPr/>
        </p:nvSpPr>
        <p:spPr>
          <a:xfrm>
            <a:off x="7132320" y="4700016"/>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₹20 lakh projects</a:t>
            </a:r>
            <a:endParaRPr lang="en-US" sz="1250" dirty="0"/>
          </a:p>
        </p:txBody>
      </p:sp>
      <p:sp>
        <p:nvSpPr>
          <p:cNvPr id="20" name="Text 18"/>
          <p:cNvSpPr txBox="1"/>
          <p:nvPr/>
        </p:nvSpPr>
        <p:spPr>
          <a:xfrm>
            <a:off x="64008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₹4.36 Cr</a:t>
            </a:r>
            <a:endParaRPr lang="en-US" sz="3400" dirty="0"/>
          </a:p>
        </p:txBody>
      </p:sp>
      <p:sp>
        <p:nvSpPr>
          <p:cNvPr id="21" name="Text 19"/>
          <p:cNvSpPr txBox="1"/>
          <p:nvPr/>
        </p:nvSpPr>
        <p:spPr>
          <a:xfrm>
            <a:off x="64008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year-one gross revenue, if the</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assumptions hold</a:t>
            </a:r>
            <a:endParaRPr lang="en-US" sz="1150" dirty="0"/>
          </a:p>
        </p:txBody>
      </p:sp>
      <p:sp>
        <p:nvSpPr>
          <p:cNvPr id="22" name="Text 20"/>
          <p:cNvSpPr txBox="1"/>
          <p:nvPr/>
        </p:nvSpPr>
        <p:spPr>
          <a:xfrm>
            <a:off x="347472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553</a:t>
            </a:r>
            <a:endParaRPr lang="en-US" sz="3400" dirty="0"/>
          </a:p>
        </p:txBody>
      </p:sp>
      <p:sp>
        <p:nvSpPr>
          <p:cNvPr id="23" name="Text 21"/>
          <p:cNvSpPr txBox="1"/>
          <p:nvPr/>
        </p:nvSpPr>
        <p:spPr>
          <a:xfrm>
            <a:off x="347472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projects placed</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₹70.5 Cr of work</a:t>
            </a:r>
            <a:endParaRPr lang="en-US" sz="1150" dirty="0"/>
          </a:p>
        </p:txBody>
      </p:sp>
      <p:sp>
        <p:nvSpPr>
          <p:cNvPr id="24" name="Text 22"/>
          <p:cNvSpPr txBox="1"/>
          <p:nvPr/>
        </p:nvSpPr>
        <p:spPr>
          <a:xfrm>
            <a:off x="6309360" y="5486400"/>
            <a:ext cx="2743200" cy="685800"/>
          </a:xfrm>
          <a:prstGeom prst="rect">
            <a:avLst/>
          </a:prstGeom>
          <a:noFill/>
          <a:ln/>
        </p:spPr>
        <p:txBody>
          <a:bodyPr wrap="square" lIns="0" tIns="0" rIns="0" bIns="0" rtlCol="0" anchor="ctr"/>
          <a:lstStyle/>
          <a:p>
            <a:pPr indent="0" marL="0">
              <a:buNone/>
            </a:pPr>
            <a:r>
              <a:rPr lang="en-US" sz="3400" b="1" dirty="0">
                <a:solidFill>
                  <a:srgbClr val="BC6440"/>
                </a:solidFill>
                <a:latin typeface="Cambria" pitchFamily="34" charset="0"/>
                <a:ea typeface="Cambria" pitchFamily="34" charset="-122"/>
                <a:cs typeface="Cambria" pitchFamily="34" charset="-120"/>
              </a:rPr>
              <a:t>24</a:t>
            </a:r>
            <a:endParaRPr lang="en-US" sz="3400" dirty="0"/>
          </a:p>
        </p:txBody>
      </p:sp>
      <p:sp>
        <p:nvSpPr>
          <p:cNvPr id="25" name="Text 23"/>
          <p:cNvSpPr txBox="1"/>
          <p:nvPr/>
        </p:nvSpPr>
        <p:spPr>
          <a:xfrm>
            <a:off x="630936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studios at month twelve —</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not the 50 the plan assumed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You own the number that decides the year.</a:t>
            </a:r>
            <a:endParaRPr lang="en-US" sz="3400" dirty="0"/>
          </a:p>
        </p:txBody>
      </p:sp>
      <p:sp>
        <p:nvSpPr>
          <p:cNvPr id="3" name="Text 1"/>
          <p:cNvSpPr txBox="1"/>
          <p:nvPr/>
        </p:nvSpPr>
        <p:spPr>
          <a:xfrm>
            <a:off x="640080" y="1463040"/>
            <a:ext cx="10424160" cy="91440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Everything in the financial model — the studio count, the subscription price, whether year one works at all — sits downstream of one figure nobody has measured. Marketing is not a function here; it is the experiment the first ninety days exist to run.</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measurement</a:t>
            </a:r>
            <a:endParaRPr lang="en-US" sz="1500" dirty="0"/>
          </a:p>
        </p:txBody>
      </p:sp>
      <p:sp>
        <p:nvSpPr>
          <p:cNvPr id="7" name="Text 5"/>
          <p:cNvSpPr txBox="1"/>
          <p:nvPr/>
        </p:nvSpPr>
        <p:spPr>
          <a:xfrm>
            <a:off x="126187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Cost per completed brief. The plan assumes ₹200 a lead at a 10% close rate; the kill-criteria imply a figure twelve times higher. Both cannot be right.</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owned channels</a:t>
            </a:r>
            <a:endParaRPr lang="en-US" sz="1500" dirty="0"/>
          </a:p>
        </p:txBody>
      </p:sp>
      <p:sp>
        <p:nvSpPr>
          <p:cNvPr id="11" name="Text 9"/>
          <p:cNvSpPr txBox="1"/>
          <p:nvPr/>
        </p:nvSpPr>
        <p:spPr>
          <a:xfrm>
            <a:off x="683971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Societies and RWAs in Baner, Kharadi, Wakad and Hinjewadi. One admin’s permission reaches hundreds of households in exactly the right week of their lives.</a:t>
            </a:r>
            <a:endParaRPr lang="en-US" sz="1300" dirty="0"/>
          </a:p>
        </p:txBody>
      </p:sp>
      <p:sp>
        <p:nvSpPr>
          <p:cNvPr id="12" name="Shape 10"/>
          <p:cNvSpPr/>
          <p:nvPr/>
        </p:nvSpPr>
        <p:spPr>
          <a:xfrm>
            <a:off x="640080" y="4288536"/>
            <a:ext cx="420624" cy="420624"/>
          </a:xfrm>
          <a:prstGeom prst="ellipse">
            <a:avLst/>
          </a:prstGeom>
          <a:solidFill>
            <a:srgbClr val="1A6068"/>
          </a:solidFill>
          <a:ln/>
        </p:spPr>
      </p:sp>
      <p:sp>
        <p:nvSpPr>
          <p:cNvPr id="13" name="Text 11"/>
          <p:cNvSpPr txBox="1"/>
          <p:nvPr/>
        </p:nvSpPr>
        <p:spPr>
          <a:xfrm>
            <a:off x="64008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content</a:t>
            </a:r>
            <a:endParaRPr lang="en-US" sz="1500" dirty="0"/>
          </a:p>
        </p:txBody>
      </p:sp>
      <p:sp>
        <p:nvSpPr>
          <p:cNvPr id="15" name="Text 13"/>
          <p:cNvSpPr txBox="1"/>
          <p:nvPr/>
        </p:nvSpPr>
        <p:spPr>
          <a:xfrm>
            <a:off x="126187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Nobody in Pune publishes what a 2 BHK actually costs at three levels of finish. We can, because the bands are ours. That is the content and it is also the product.</a:t>
            </a:r>
            <a:endParaRPr lang="en-US" sz="1300" dirty="0"/>
          </a:p>
        </p:txBody>
      </p:sp>
      <p:sp>
        <p:nvSpPr>
          <p:cNvPr id="16" name="Shape 14"/>
          <p:cNvSpPr/>
          <p:nvPr/>
        </p:nvSpPr>
        <p:spPr>
          <a:xfrm>
            <a:off x="6217920" y="4288536"/>
            <a:ext cx="420624" cy="420624"/>
          </a:xfrm>
          <a:prstGeom prst="ellipse">
            <a:avLst/>
          </a:prstGeom>
          <a:solidFill>
            <a:srgbClr val="1A6068"/>
          </a:solidFill>
          <a:ln/>
        </p:spPr>
      </p:sp>
      <p:sp>
        <p:nvSpPr>
          <p:cNvPr id="17" name="Text 15"/>
          <p:cNvSpPr txBox="1"/>
          <p:nvPr/>
        </p:nvSpPr>
        <p:spPr>
          <a:xfrm>
            <a:off x="621792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positioning</a:t>
            </a:r>
            <a:endParaRPr lang="en-US" sz="1500" dirty="0"/>
          </a:p>
        </p:txBody>
      </p:sp>
      <p:sp>
        <p:nvSpPr>
          <p:cNvPr id="19" name="Text 17"/>
          <p:cNvSpPr txBox="1"/>
          <p:nvPr/>
        </p:nvSpPr>
        <p:spPr>
          <a:xfrm>
            <a:off x="683971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What we may honestly promise on 16 September, and what we may not. A waitlist that over-promises goes cold in six weeks and the second email is marked as spam.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685800"/>
            <a:ext cx="10908792"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you get.</a:t>
            </a:r>
            <a:endParaRPr lang="en-US" sz="3800" dirty="0"/>
          </a:p>
        </p:txBody>
      </p:sp>
      <p:sp>
        <p:nvSpPr>
          <p:cNvPr id="3" name="Text 1"/>
          <p:cNvSpPr txBox="1"/>
          <p:nvPr/>
        </p:nvSpPr>
        <p:spPr>
          <a:xfrm>
            <a:off x="640080" y="1508760"/>
            <a:ext cx="10332720" cy="640080"/>
          </a:xfrm>
          <a:prstGeom prst="rect">
            <a:avLst/>
          </a:prstGeom>
          <a:noFill/>
          <a:ln/>
        </p:spPr>
        <p:txBody>
          <a:bodyPr wrap="square" lIns="0" tIns="0" rIns="0" bIns="0" rtlCol="0" anchor="ctr"/>
          <a:lstStyle/>
          <a:p>
            <a:pPr indent="0" marL="0">
              <a:lnSpc>
                <a:spcPct val="125000"/>
              </a:lnSpc>
              <a:buNone/>
            </a:pPr>
            <a:r>
              <a:rPr lang="en-US" sz="1600" dirty="0">
                <a:solidFill>
                  <a:srgbClr val="CFE0E2"/>
                </a:solidFill>
                <a:latin typeface="Calibri" pitchFamily="34" charset="0"/>
                <a:ea typeface="Calibri" pitchFamily="34" charset="-122"/>
                <a:cs typeface="Calibri" pitchFamily="34" charset="-120"/>
              </a:rPr>
              <a:t>A tenth of the company, and ownership of the function that decides whether it works.</a:t>
            </a:r>
            <a:endParaRPr lang="en-US" sz="1600" dirty="0"/>
          </a:p>
        </p:txBody>
      </p:sp>
      <p:sp>
        <p:nvSpPr>
          <p:cNvPr id="4" name="Shape 2"/>
          <p:cNvSpPr/>
          <p:nvPr/>
        </p:nvSpPr>
        <p:spPr>
          <a:xfrm>
            <a:off x="640080" y="2377440"/>
            <a:ext cx="3514344" cy="1691640"/>
          </a:xfrm>
          <a:prstGeom prst="roundRect">
            <a:avLst>
              <a:gd name="adj" fmla="val 4324"/>
            </a:avLst>
          </a:prstGeom>
          <a:solidFill>
            <a:srgbClr val="1A6068"/>
          </a:solidFill>
          <a:ln w="12700">
            <a:solidFill>
              <a:srgbClr val="2E7D85"/>
            </a:solidFill>
            <a:prstDash val="solid"/>
          </a:ln>
        </p:spPr>
      </p:sp>
      <p:sp>
        <p:nvSpPr>
          <p:cNvPr id="5" name="Text 3"/>
          <p:cNvSpPr txBox="1"/>
          <p:nvPr/>
        </p:nvSpPr>
        <p:spPr>
          <a:xfrm>
            <a:off x="877824"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10%</a:t>
            </a:r>
            <a:endParaRPr lang="en-US" sz="2400" dirty="0"/>
          </a:p>
        </p:txBody>
      </p:sp>
      <p:sp>
        <p:nvSpPr>
          <p:cNvPr id="6" name="Text 4"/>
          <p:cNvSpPr txBox="1"/>
          <p:nvPr/>
        </p:nvSpPr>
        <p:spPr>
          <a:xfrm>
            <a:off x="877824"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of the company at ₹1 crore post-money</a:t>
            </a:r>
            <a:endParaRPr lang="en-US" sz="1200" dirty="0"/>
          </a:p>
        </p:txBody>
      </p:sp>
      <p:sp>
        <p:nvSpPr>
          <p:cNvPr id="7" name="Shape 5"/>
          <p:cNvSpPr/>
          <p:nvPr/>
        </p:nvSpPr>
        <p:spPr>
          <a:xfrm>
            <a:off x="4337304" y="2377440"/>
            <a:ext cx="3514344" cy="1691640"/>
          </a:xfrm>
          <a:prstGeom prst="roundRect">
            <a:avLst>
              <a:gd name="adj" fmla="val 4324"/>
            </a:avLst>
          </a:prstGeom>
          <a:solidFill>
            <a:srgbClr val="1A6068"/>
          </a:solidFill>
          <a:ln w="12700">
            <a:solidFill>
              <a:srgbClr val="2E7D85"/>
            </a:solidFill>
            <a:prstDash val="solid"/>
          </a:ln>
        </p:spPr>
      </p:sp>
      <p:sp>
        <p:nvSpPr>
          <p:cNvPr id="8" name="Text 6"/>
          <p:cNvSpPr txBox="1"/>
          <p:nvPr/>
        </p:nvSpPr>
        <p:spPr>
          <a:xfrm>
            <a:off x="4575048"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The function</a:t>
            </a:r>
            <a:endParaRPr lang="en-US" sz="2400" dirty="0"/>
          </a:p>
        </p:txBody>
      </p:sp>
      <p:sp>
        <p:nvSpPr>
          <p:cNvPr id="9" name="Text 7"/>
          <p:cNvSpPr txBox="1"/>
          <p:nvPr/>
        </p:nvSpPr>
        <p:spPr>
          <a:xfrm>
            <a:off x="4575048"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marketing, owned outright rather than advised on</a:t>
            </a:r>
            <a:endParaRPr lang="en-US" sz="1200" dirty="0"/>
          </a:p>
        </p:txBody>
      </p:sp>
      <p:sp>
        <p:nvSpPr>
          <p:cNvPr id="10" name="Shape 8"/>
          <p:cNvSpPr/>
          <p:nvPr/>
        </p:nvSpPr>
        <p:spPr>
          <a:xfrm>
            <a:off x="8034528" y="2377440"/>
            <a:ext cx="3514344" cy="1691640"/>
          </a:xfrm>
          <a:prstGeom prst="roundRect">
            <a:avLst>
              <a:gd name="adj" fmla="val 4324"/>
            </a:avLst>
          </a:prstGeom>
          <a:solidFill>
            <a:srgbClr val="1A6068"/>
          </a:solidFill>
          <a:ln w="12700">
            <a:solidFill>
              <a:srgbClr val="2E7D85"/>
            </a:solidFill>
            <a:prstDash val="solid"/>
          </a:ln>
        </p:spPr>
      </p:sp>
      <p:sp>
        <p:nvSpPr>
          <p:cNvPr id="11" name="Text 9"/>
          <p:cNvSpPr txBox="1"/>
          <p:nvPr/>
        </p:nvSpPr>
        <p:spPr>
          <a:xfrm>
            <a:off x="8272272"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The evidence</a:t>
            </a:r>
            <a:endParaRPr lang="en-US" sz="2400" dirty="0"/>
          </a:p>
        </p:txBody>
      </p:sp>
      <p:sp>
        <p:nvSpPr>
          <p:cNvPr id="12" name="Text 10"/>
          <p:cNvSpPr txBox="1"/>
          <p:nvPr/>
        </p:nvSpPr>
        <p:spPr>
          <a:xfrm>
            <a:off x="8272272"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a category nobody in Pune has published data on</a:t>
            </a:r>
            <a:endParaRPr lang="en-US" sz="1200" dirty="0"/>
          </a:p>
        </p:txBody>
      </p:sp>
      <p:sp>
        <p:nvSpPr>
          <p:cNvPr id="13" name="Text 11"/>
          <p:cNvSpPr txBox="1"/>
          <p:nvPr/>
        </p:nvSpPr>
        <p:spPr>
          <a:xfrm>
            <a:off x="640080" y="4343400"/>
            <a:ext cx="10908792" cy="457200"/>
          </a:xfrm>
          <a:prstGeom prst="rect">
            <a:avLst/>
          </a:prstGeom>
          <a:noFill/>
          <a:ln/>
        </p:spPr>
        <p:txBody>
          <a:bodyPr wrap="square" lIns="0" tIns="0" rIns="0" bIns="0" rtlCol="0" anchor="t"/>
          <a:lstStyle/>
          <a:p>
            <a:pPr indent="0" marL="0">
              <a:buNone/>
            </a:pPr>
            <a:r>
              <a:rPr lang="en-US" sz="2100" b="1" dirty="0">
                <a:solidFill>
                  <a:srgbClr val="C9922A"/>
                </a:solidFill>
                <a:latin typeface="Cambria" pitchFamily="34" charset="0"/>
                <a:ea typeface="Cambria" pitchFamily="34" charset="-122"/>
                <a:cs typeface="Cambria" pitchFamily="34" charset="-120"/>
              </a:rPr>
              <a:t>Why this is a better marketing job than it looks</a:t>
            </a:r>
            <a:endParaRPr lang="en-US" sz="2100" dirty="0"/>
          </a:p>
        </p:txBody>
      </p:sp>
      <p:sp>
        <p:nvSpPr>
          <p:cNvPr id="14" name="Text 12"/>
          <p:cNvSpPr txBox="1"/>
          <p:nvPr/>
        </p:nvSpPr>
        <p:spPr>
          <a:xfrm>
            <a:off x="640080" y="4846320"/>
            <a:ext cx="10424160" cy="1371600"/>
          </a:xfrm>
          <a:prstGeom prst="rect">
            <a:avLst/>
          </a:prstGeom>
          <a:noFill/>
          <a:ln/>
        </p:spPr>
        <p:txBody>
          <a:bodyPr wrap="square" lIns="0" tIns="0" rIns="0" bIns="0" rtlCol="0" anchor="t"/>
          <a:lstStyle/>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Most marketing roles start with a product that already sells and are asked to sell more of it. This one starts with a genuine information asymmetry: we know what interior work actually costs in Pune, at three levels of finish, per locality — and nobody publishes it.</a:t>
            </a:r>
            <a:endParaRPr lang="en-US" sz="1400" dirty="0"/>
          </a:p>
          <a:p>
            <a:pPr indent="0" marL="0">
              <a:lnSpc>
                <a:spcPct val="130000"/>
              </a:lnSpc>
              <a:buNone/>
            </a:pPr>
            <a:endParaRPr lang="en-US" sz="1400" dirty="0"/>
          </a:p>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That is a content position no competitor can copy without building the same pricing engine first. It is also the cheapest demand channel in the plan, and it is the one you would own.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is expected of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things, and the first one has a deadline measured in weeks.</a:t>
            </a:r>
            <a:endParaRPr lang="en-US" sz="1700" dirty="0"/>
          </a:p>
        </p:txBody>
      </p:sp>
      <p:sp>
        <p:nvSpPr>
          <p:cNvPr id="4" name="Text 2"/>
          <p:cNvSpPr txBox="1"/>
          <p:nvPr/>
        </p:nvSpPr>
        <p:spPr>
          <a:xfrm>
            <a:off x="640080" y="2560320"/>
            <a:ext cx="10908792" cy="23774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Cost per completed brief, known by week three and under ₹2,500. This is the year-defining number and everything else is downstream of it.</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The first two hundred briefs, from channels that cost almost nothing — societies, the founders’ own network, Instagram.</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Brief completion above 40%. Below that the problem is the quiz rather than the market, and the funnel view names the exact question losing people.</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And the share of briefs in the ₹7 lakh-plus band above 50% — a studio shown four unqualified briefs concludes the platform does not work.</a:t>
            </a:r>
            <a:endParaRPr lang="en-US" sz="1500" dirty="0"/>
          </a:p>
        </p:txBody>
      </p:sp>
      <p:sp>
        <p:nvSpPr>
          <p:cNvPr id="5" name="Shape 3"/>
          <p:cNvSpPr/>
          <p:nvPr/>
        </p:nvSpPr>
        <p:spPr>
          <a:xfrm>
            <a:off x="640080" y="5120640"/>
            <a:ext cx="10908792" cy="1188720"/>
          </a:xfrm>
          <a:prstGeom prst="roundRect">
            <a:avLst>
              <a:gd name="adj" fmla="val 6154"/>
            </a:avLst>
          </a:prstGeom>
          <a:solidFill>
            <a:srgbClr val="FAEDE6"/>
          </a:solidFill>
          <a:ln w="12700">
            <a:solidFill>
              <a:srgbClr val="E8C9B8"/>
            </a:solidFill>
            <a:prstDash val="solid"/>
          </a:ln>
        </p:spPr>
      </p:sp>
      <p:sp>
        <p:nvSpPr>
          <p:cNvPr id="6" name="Text 4"/>
          <p:cNvSpPr txBox="1"/>
          <p:nvPr/>
        </p:nvSpPr>
        <p:spPr>
          <a:xfrm>
            <a:off x="932688" y="5303520"/>
            <a:ext cx="10323576" cy="868680"/>
          </a:xfrm>
          <a:prstGeom prst="rect">
            <a:avLst/>
          </a:prstGeom>
          <a:noFill/>
          <a:ln/>
        </p:spPr>
        <p:txBody>
          <a:bodyPr wrap="square" lIns="0" tIns="0" rIns="0" bIns="0" rtlCol="0" anchor="t"/>
          <a:lstStyle/>
          <a:p>
            <a:pPr indent="0" marL="0">
              <a:lnSpc>
                <a:spcPct val="122000"/>
              </a:lnSpc>
              <a:buNone/>
            </a:pPr>
            <a:r>
              <a:rPr lang="en-US" sz="1350" dirty="0">
                <a:solidFill>
                  <a:srgbClr val="2A2622"/>
                </a:solidFill>
                <a:latin typeface="Calibri" pitchFamily="34" charset="0"/>
                <a:ea typeface="Calibri" pitchFamily="34" charset="-122"/>
                <a:cs typeface="Calibri" pitchFamily="34" charset="-120"/>
              </a:rPr>
              <a:t>The first ₹25,000 is an instrument, not a campaign. Its only job is to measure what a completed brief costs. If that number comes back above ₹2,500, the answer is owned demand — societies, builders, referral — not a bigger budget. Getting it in week one costs almost nothing; getting it in month four costs the year.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The cap table.</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₹30 lakh at ₹1 crore post-money. Everyone in one table, in every deck.</a:t>
            </a:r>
            <a:endParaRPr lang="en-US" sz="1700" dirty="0"/>
          </a:p>
        </p:txBody>
      </p:sp>
      <p:sp>
        <p:nvSpPr>
          <p:cNvPr id="4" name="Shape 2"/>
          <p:cNvSpPr/>
          <p:nvPr/>
        </p:nvSpPr>
        <p:spPr>
          <a:xfrm>
            <a:off x="640080" y="2331720"/>
            <a:ext cx="10908792" cy="731520"/>
          </a:xfrm>
          <a:prstGeom prst="roundRect">
            <a:avLst>
              <a:gd name="adj" fmla="val 10000"/>
            </a:avLst>
          </a:prstGeom>
          <a:solidFill>
            <a:srgbClr val="FBF7F0"/>
          </a:solidFill>
          <a:ln w="12700">
            <a:solidFill>
              <a:srgbClr val="E3DCD2"/>
            </a:solidFill>
            <a:prstDash val="solid"/>
          </a:ln>
        </p:spPr>
      </p:sp>
      <p:sp>
        <p:nvSpPr>
          <p:cNvPr id="5" name="Text 3"/>
          <p:cNvSpPr txBox="1"/>
          <p:nvPr/>
        </p:nvSpPr>
        <p:spPr>
          <a:xfrm>
            <a:off x="932688" y="2331720"/>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Yogesh</a:t>
            </a:r>
            <a:endParaRPr lang="en-US" sz="1500" dirty="0"/>
          </a:p>
        </p:txBody>
      </p:sp>
      <p:sp>
        <p:nvSpPr>
          <p:cNvPr id="6" name="Text 4"/>
          <p:cNvSpPr txBox="1"/>
          <p:nvPr/>
        </p:nvSpPr>
        <p:spPr>
          <a:xfrm>
            <a:off x="3749040" y="2331720"/>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40%</a:t>
            </a:r>
            <a:endParaRPr lang="en-US" sz="2000" dirty="0"/>
          </a:p>
        </p:txBody>
      </p:sp>
      <p:sp>
        <p:nvSpPr>
          <p:cNvPr id="7" name="Text 5"/>
          <p:cNvSpPr txBox="1"/>
          <p:nvPr/>
        </p:nvSpPr>
        <p:spPr>
          <a:xfrm>
            <a:off x="5212080" y="2331720"/>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Founder — the idea, the direction, the decisions</a:t>
            </a:r>
            <a:endParaRPr lang="en-US" sz="1300" dirty="0"/>
          </a:p>
        </p:txBody>
      </p:sp>
      <p:sp>
        <p:nvSpPr>
          <p:cNvPr id="8" name="Shape 6"/>
          <p:cNvSpPr/>
          <p:nvPr/>
        </p:nvSpPr>
        <p:spPr>
          <a:xfrm>
            <a:off x="640080" y="3136392"/>
            <a:ext cx="10908792" cy="731520"/>
          </a:xfrm>
          <a:prstGeom prst="roundRect">
            <a:avLst>
              <a:gd name="adj" fmla="val 10000"/>
            </a:avLst>
          </a:prstGeom>
          <a:solidFill>
            <a:srgbClr val="FBF7F0"/>
          </a:solidFill>
          <a:ln w="12700">
            <a:solidFill>
              <a:srgbClr val="E3DCD2"/>
            </a:solidFill>
            <a:prstDash val="solid"/>
          </a:ln>
        </p:spPr>
      </p:sp>
      <p:sp>
        <p:nvSpPr>
          <p:cNvPr id="9" name="Text 7"/>
          <p:cNvSpPr txBox="1"/>
          <p:nvPr/>
        </p:nvSpPr>
        <p:spPr>
          <a:xfrm>
            <a:off x="932688" y="3136392"/>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Sanyam</a:t>
            </a:r>
            <a:endParaRPr lang="en-US" sz="1500" dirty="0"/>
          </a:p>
        </p:txBody>
      </p:sp>
      <p:sp>
        <p:nvSpPr>
          <p:cNvPr id="10" name="Text 8"/>
          <p:cNvSpPr txBox="1"/>
          <p:nvPr/>
        </p:nvSpPr>
        <p:spPr>
          <a:xfrm>
            <a:off x="3749040" y="3136392"/>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20%</a:t>
            </a:r>
            <a:endParaRPr lang="en-US" sz="2000" dirty="0"/>
          </a:p>
        </p:txBody>
      </p:sp>
      <p:sp>
        <p:nvSpPr>
          <p:cNvPr id="11" name="Text 9"/>
          <p:cNvSpPr txBox="1"/>
          <p:nvPr/>
        </p:nvSpPr>
        <p:spPr>
          <a:xfrm>
            <a:off x="5212080" y="3136392"/>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Execution — product, studios, customers, operations</a:t>
            </a:r>
            <a:endParaRPr lang="en-US" sz="1300" dirty="0"/>
          </a:p>
        </p:txBody>
      </p:sp>
      <p:sp>
        <p:nvSpPr>
          <p:cNvPr id="12" name="Shape 10"/>
          <p:cNvSpPr/>
          <p:nvPr/>
        </p:nvSpPr>
        <p:spPr>
          <a:xfrm>
            <a:off x="640080" y="3941064"/>
            <a:ext cx="10908792" cy="731520"/>
          </a:xfrm>
          <a:prstGeom prst="roundRect">
            <a:avLst>
              <a:gd name="adj" fmla="val 10000"/>
            </a:avLst>
          </a:prstGeom>
          <a:solidFill>
            <a:srgbClr val="FBF7F0"/>
          </a:solidFill>
          <a:ln w="12700">
            <a:solidFill>
              <a:srgbClr val="E3DCD2"/>
            </a:solidFill>
            <a:prstDash val="solid"/>
          </a:ln>
        </p:spPr>
      </p:sp>
      <p:sp>
        <p:nvSpPr>
          <p:cNvPr id="13" name="Text 11"/>
          <p:cNvSpPr txBox="1"/>
          <p:nvPr/>
        </p:nvSpPr>
        <p:spPr>
          <a:xfrm>
            <a:off x="932688" y="3941064"/>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Hauspire</a:t>
            </a:r>
            <a:endParaRPr lang="en-US" sz="1500" dirty="0"/>
          </a:p>
        </p:txBody>
      </p:sp>
      <p:sp>
        <p:nvSpPr>
          <p:cNvPr id="14" name="Text 12"/>
          <p:cNvSpPr txBox="1"/>
          <p:nvPr/>
        </p:nvSpPr>
        <p:spPr>
          <a:xfrm>
            <a:off x="3749040" y="3941064"/>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20%</a:t>
            </a:r>
            <a:endParaRPr lang="en-US" sz="2000" dirty="0"/>
          </a:p>
        </p:txBody>
      </p:sp>
      <p:sp>
        <p:nvSpPr>
          <p:cNvPr id="15" name="Text 13"/>
          <p:cNvSpPr txBox="1"/>
          <p:nvPr/>
        </p:nvSpPr>
        <p:spPr>
          <a:xfrm>
            <a:off x="5212080" y="3941064"/>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₹20 lakh, and the first pilot studio</a:t>
            </a:r>
            <a:endParaRPr lang="en-US" sz="1300" dirty="0"/>
          </a:p>
        </p:txBody>
      </p:sp>
      <p:sp>
        <p:nvSpPr>
          <p:cNvPr id="16" name="Shape 14"/>
          <p:cNvSpPr/>
          <p:nvPr/>
        </p:nvSpPr>
        <p:spPr>
          <a:xfrm>
            <a:off x="640080" y="4745736"/>
            <a:ext cx="10908792" cy="731520"/>
          </a:xfrm>
          <a:prstGeom prst="roundRect">
            <a:avLst>
              <a:gd name="adj" fmla="val 10000"/>
            </a:avLst>
          </a:prstGeom>
          <a:solidFill>
            <a:srgbClr val="E8F0F0"/>
          </a:solidFill>
          <a:ln w="12700">
            <a:solidFill>
              <a:srgbClr val="1A6068"/>
            </a:solidFill>
            <a:prstDash val="solid"/>
          </a:ln>
        </p:spPr>
      </p:sp>
      <p:sp>
        <p:nvSpPr>
          <p:cNvPr id="17" name="Text 15"/>
          <p:cNvSpPr txBox="1"/>
          <p:nvPr/>
        </p:nvSpPr>
        <p:spPr>
          <a:xfrm>
            <a:off x="932688" y="4745736"/>
            <a:ext cx="2743200" cy="749808"/>
          </a:xfrm>
          <a:prstGeom prst="rect">
            <a:avLst/>
          </a:prstGeom>
          <a:noFill/>
          <a:ln/>
        </p:spPr>
        <p:txBody>
          <a:bodyPr wrap="square" lIns="0" tIns="0" rIns="0" bIns="0" rtlCol="0" anchor="ctr"/>
          <a:lstStyle/>
          <a:p>
            <a:pPr indent="0" marL="0">
              <a:buNone/>
            </a:pPr>
            <a:r>
              <a:rPr lang="en-US" sz="1500" b="1" dirty="0">
                <a:solidFill>
                  <a:srgbClr val="1A6068"/>
                </a:solidFill>
                <a:latin typeface="Calibri" pitchFamily="34" charset="0"/>
                <a:ea typeface="Calibri" pitchFamily="34" charset="-122"/>
                <a:cs typeface="Calibri" pitchFamily="34" charset="-120"/>
              </a:rPr>
              <a:t>Swarupa</a:t>
            </a:r>
            <a:endParaRPr lang="en-US" sz="1500" dirty="0"/>
          </a:p>
        </p:txBody>
      </p:sp>
      <p:sp>
        <p:nvSpPr>
          <p:cNvPr id="18" name="Text 16"/>
          <p:cNvSpPr txBox="1"/>
          <p:nvPr/>
        </p:nvSpPr>
        <p:spPr>
          <a:xfrm>
            <a:off x="3749040" y="4745736"/>
            <a:ext cx="1280160" cy="749808"/>
          </a:xfrm>
          <a:prstGeom prst="rect">
            <a:avLst/>
          </a:prstGeom>
          <a:noFill/>
          <a:ln/>
        </p:spPr>
        <p:txBody>
          <a:bodyPr wrap="square" lIns="0" tIns="0" rIns="0" bIns="0" rtlCol="0" anchor="ctr"/>
          <a:lstStyle/>
          <a:p>
            <a:pPr indent="0" marL="0">
              <a:buNone/>
            </a:pPr>
            <a:r>
              <a:rPr lang="en-US" sz="2000" b="1" dirty="0">
                <a:solidFill>
                  <a:srgbClr val="1A6068"/>
                </a:solidFill>
                <a:latin typeface="Cambria" pitchFamily="34" charset="0"/>
                <a:ea typeface="Cambria" pitchFamily="34" charset="-122"/>
                <a:cs typeface="Cambria" pitchFamily="34" charset="-120"/>
              </a:rPr>
              <a:t>10%</a:t>
            </a:r>
            <a:endParaRPr lang="en-US" sz="2000" dirty="0"/>
          </a:p>
        </p:txBody>
      </p:sp>
      <p:sp>
        <p:nvSpPr>
          <p:cNvPr id="19" name="Text 17"/>
          <p:cNvSpPr txBox="1"/>
          <p:nvPr/>
        </p:nvSpPr>
        <p:spPr>
          <a:xfrm>
            <a:off x="5212080" y="4745736"/>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₹10 lakh, and marketing</a:t>
            </a:r>
            <a:endParaRPr lang="en-US" sz="1300" dirty="0"/>
          </a:p>
        </p:txBody>
      </p:sp>
      <p:sp>
        <p:nvSpPr>
          <p:cNvPr id="20" name="Shape 18"/>
          <p:cNvSpPr/>
          <p:nvPr/>
        </p:nvSpPr>
        <p:spPr>
          <a:xfrm>
            <a:off x="640080" y="5550408"/>
            <a:ext cx="10908792" cy="731520"/>
          </a:xfrm>
          <a:prstGeom prst="roundRect">
            <a:avLst>
              <a:gd name="adj" fmla="val 10000"/>
            </a:avLst>
          </a:prstGeom>
          <a:solidFill>
            <a:srgbClr val="FBF7F0"/>
          </a:solidFill>
          <a:ln w="12700">
            <a:solidFill>
              <a:srgbClr val="E3DCD2"/>
            </a:solidFill>
            <a:prstDash val="solid"/>
          </a:ln>
        </p:spPr>
      </p:sp>
      <p:sp>
        <p:nvSpPr>
          <p:cNvPr id="21" name="Text 19"/>
          <p:cNvSpPr txBox="1"/>
          <p:nvPr/>
        </p:nvSpPr>
        <p:spPr>
          <a:xfrm>
            <a:off x="932688" y="5550408"/>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ESOP pool</a:t>
            </a:r>
            <a:endParaRPr lang="en-US" sz="1500" dirty="0"/>
          </a:p>
        </p:txBody>
      </p:sp>
      <p:sp>
        <p:nvSpPr>
          <p:cNvPr id="22" name="Text 20"/>
          <p:cNvSpPr txBox="1"/>
          <p:nvPr/>
        </p:nvSpPr>
        <p:spPr>
          <a:xfrm>
            <a:off x="3749040" y="5550408"/>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23" name="Text 21"/>
          <p:cNvSpPr txBox="1"/>
          <p:nvPr/>
        </p:nvSpPr>
        <p:spPr>
          <a:xfrm>
            <a:off x="5212080" y="5550408"/>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Reserved for hires the plan already needs</a:t>
            </a:r>
            <a:endParaRPr lang="en-US" sz="1300" dirty="0"/>
          </a:p>
        </p:txBody>
      </p:sp>
      <p:sp>
        <p:nvSpPr>
          <p:cNvPr id="24" name="Text 22"/>
          <p:cNvSpPr txBox="1"/>
          <p:nvPr/>
        </p:nvSpPr>
        <p:spPr>
          <a:xfrm>
            <a:off x="640080" y="6035040"/>
            <a:ext cx="10908792" cy="640080"/>
          </a:xfrm>
          <a:prstGeom prst="rect">
            <a:avLst/>
          </a:prstGeom>
          <a:noFill/>
          <a:ln/>
        </p:spPr>
        <p:txBody>
          <a:bodyPr wrap="square" lIns="0" tIns="0" rIns="0" bIns="0" rtlCol="0" anchor="t"/>
          <a:lstStyle/>
          <a:p>
            <a:pPr indent="0" marL="0">
              <a:lnSpc>
                <a:spcPct val="120000"/>
              </a:lnSpc>
              <a:buNone/>
            </a:pPr>
            <a:r>
              <a:rPr lang="en-US" sz="1300" dirty="0">
                <a:solidFill>
                  <a:srgbClr val="8B847C"/>
                </a:solidFill>
                <a:latin typeface="Calibri" pitchFamily="34" charset="0"/>
                <a:ea typeface="Calibri" pitchFamily="34" charset="-122"/>
                <a:cs typeface="Calibri" pitchFamily="34" charset="-120"/>
              </a:rPr>
              <a:t>The 10% pool is reserved, not held by anyone. The plan needs an expert, an ops person per city and engineers — reserving now is far cheaper than diluting everybody later. ₹30 lakh in, 30% sold, ₹70 lakh pre-money.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would make this fail — for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 one of these is measurable inside ninety days.</a:t>
            </a:r>
            <a:endParaRPr lang="en-US" sz="1700" dirty="0"/>
          </a:p>
        </p:txBody>
      </p:sp>
      <p:sp>
        <p:nvSpPr>
          <p:cNvPr id="4" name="Shape 2"/>
          <p:cNvSpPr/>
          <p:nvPr/>
        </p:nvSpPr>
        <p:spPr>
          <a:xfrm>
            <a:off x="640080" y="2560320"/>
            <a:ext cx="10908792" cy="1024128"/>
          </a:xfrm>
          <a:prstGeom prst="roundRect">
            <a:avLst>
              <a:gd name="adj" fmla="val 7143"/>
            </a:avLst>
          </a:prstGeom>
          <a:solidFill>
            <a:srgbClr val="FFFFFF"/>
          </a:solidFill>
          <a:ln w="12700">
            <a:solidFill>
              <a:srgbClr val="E3DCD2"/>
            </a:solidFill>
            <a:prstDash val="solid"/>
          </a:ln>
        </p:spPr>
      </p:sp>
      <p:sp>
        <p:nvSpPr>
          <p:cNvPr id="5" name="Text 3"/>
          <p:cNvSpPr txBox="1"/>
          <p:nvPr/>
        </p:nvSpPr>
        <p:spPr>
          <a:xfrm>
            <a:off x="914400" y="261518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Acquisition costs 12× the model</a:t>
            </a:r>
            <a:endParaRPr lang="en-US" sz="1400" dirty="0"/>
          </a:p>
        </p:txBody>
      </p:sp>
      <p:sp>
        <p:nvSpPr>
          <p:cNvPr id="6" name="Text 4"/>
          <p:cNvSpPr txBox="1"/>
          <p:nvPr/>
        </p:nvSpPr>
        <p:spPr>
          <a:xfrm>
            <a:off x="5212080" y="261518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If a completed brief costs more than ₹2,500 and no owned channel replaces paid, the unit economics do not close. This is your number and it is the one that decides the year.</a:t>
            </a:r>
            <a:endParaRPr lang="en-US" sz="1250" dirty="0"/>
          </a:p>
        </p:txBody>
      </p:sp>
      <p:sp>
        <p:nvSpPr>
          <p:cNvPr id="7" name="Shape 5"/>
          <p:cNvSpPr/>
          <p:nvPr/>
        </p:nvSpPr>
        <p:spPr>
          <a:xfrm>
            <a:off x="640080" y="3657600"/>
            <a:ext cx="10908792" cy="1024128"/>
          </a:xfrm>
          <a:prstGeom prst="roundRect">
            <a:avLst>
              <a:gd name="adj" fmla="val 7143"/>
            </a:avLst>
          </a:prstGeom>
          <a:solidFill>
            <a:srgbClr val="FFFFFF"/>
          </a:solidFill>
          <a:ln w="12700">
            <a:solidFill>
              <a:srgbClr val="E3DCD2"/>
            </a:solidFill>
            <a:prstDash val="solid"/>
          </a:ln>
        </p:spPr>
      </p:sp>
      <p:sp>
        <p:nvSpPr>
          <p:cNvPr id="8" name="Text 6"/>
          <p:cNvSpPr txBox="1"/>
          <p:nvPr/>
        </p:nvSpPr>
        <p:spPr>
          <a:xfrm>
            <a:off x="914400" y="371246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DPDP blocks the 20,000 records</a:t>
            </a:r>
            <a:endParaRPr lang="en-US" sz="1400" dirty="0"/>
          </a:p>
        </p:txBody>
      </p:sp>
      <p:sp>
        <p:nvSpPr>
          <p:cNvPr id="9" name="Text 7"/>
          <p:cNvSpPr txBox="1"/>
          <p:nvPr/>
        </p:nvSpPr>
        <p:spPr>
          <a:xfrm>
            <a:off x="5212080" y="371246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largest demand source becomes unusable and the first quarter runs on channels that are slower and smaller. A legal answer, not a marketing one — but it lands on your plan.</a:t>
            </a:r>
            <a:endParaRPr lang="en-US" sz="1250" dirty="0"/>
          </a:p>
        </p:txBody>
      </p:sp>
      <p:sp>
        <p:nvSpPr>
          <p:cNvPr id="10" name="Shape 8"/>
          <p:cNvSpPr/>
          <p:nvPr/>
        </p:nvSpPr>
        <p:spPr>
          <a:xfrm>
            <a:off x="640080" y="4754880"/>
            <a:ext cx="10908792" cy="1024128"/>
          </a:xfrm>
          <a:prstGeom prst="roundRect">
            <a:avLst>
              <a:gd name="adj" fmla="val 7143"/>
            </a:avLst>
          </a:prstGeom>
          <a:solidFill>
            <a:srgbClr val="FFFFFF"/>
          </a:solidFill>
          <a:ln w="12700">
            <a:solidFill>
              <a:srgbClr val="E3DCD2"/>
            </a:solidFill>
            <a:prstDash val="solid"/>
          </a:ln>
        </p:spPr>
      </p:sp>
      <p:sp>
        <p:nvSpPr>
          <p:cNvPr id="11" name="Text 9"/>
          <p:cNvSpPr txBox="1"/>
          <p:nvPr/>
        </p:nvSpPr>
        <p:spPr>
          <a:xfrm>
            <a:off x="914400" y="480974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The name is still undecided</a:t>
            </a:r>
            <a:endParaRPr lang="en-US" sz="1400" dirty="0"/>
          </a:p>
        </p:txBody>
      </p:sp>
      <p:sp>
        <p:nvSpPr>
          <p:cNvPr id="12" name="Text 10"/>
          <p:cNvSpPr txBox="1"/>
          <p:nvPr/>
        </p:nvSpPr>
        <p:spPr>
          <a:xfrm>
            <a:off x="5212080" y="480974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site stays unindexed until it exists. Locality cost pages take months to rank, and every week without a name is a week not compounding — invisible, because nothing looks broken.</a:t>
            </a:r>
            <a:endParaRPr lang="en-US" sz="1250" dirty="0"/>
          </a:p>
        </p:txBody>
      </p:sp>
      <p:sp>
        <p:nvSpPr>
          <p:cNvPr id="13" name="Shape 11"/>
          <p:cNvSpPr/>
          <p:nvPr/>
        </p:nvSpPr>
        <p:spPr>
          <a:xfrm>
            <a:off x="640080" y="5852160"/>
            <a:ext cx="10908792" cy="1024128"/>
          </a:xfrm>
          <a:prstGeom prst="roundRect">
            <a:avLst>
              <a:gd name="adj" fmla="val 7143"/>
            </a:avLst>
          </a:prstGeom>
          <a:solidFill>
            <a:srgbClr val="FFFFFF"/>
          </a:solidFill>
          <a:ln w="12700">
            <a:solidFill>
              <a:srgbClr val="E3DCD2"/>
            </a:solidFill>
            <a:prstDash val="solid"/>
          </a:ln>
        </p:spPr>
      </p:sp>
      <p:sp>
        <p:nvSpPr>
          <p:cNvPr id="14" name="Text 12"/>
          <p:cNvSpPr txBox="1"/>
          <p:nvPr/>
        </p:nvSpPr>
        <p:spPr>
          <a:xfrm>
            <a:off x="914400" y="590702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We promise quotes in September</a:t>
            </a:r>
            <a:endParaRPr lang="en-US" sz="1400" dirty="0"/>
          </a:p>
        </p:txBody>
      </p:sp>
      <p:sp>
        <p:nvSpPr>
          <p:cNvPr id="15" name="Text 13"/>
          <p:cNvSpPr txBox="1"/>
          <p:nvPr/>
        </p:nvSpPr>
        <p:spPr>
          <a:xfrm>
            <a:off x="5212080" y="590702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On 16 September the product cannot produce one, because no studio has entered a rate card. A waitlist that goes quiet for six weeks after an unfulfilled promise is worse than no waitlist.</a:t>
            </a:r>
            <a:endParaRPr lang="en-US" sz="1250" dirty="0"/>
          </a:p>
        </p:txBody>
      </p:sp>
      <p:sp>
        <p:nvSpPr>
          <p:cNvPr id="16" name="Text 14"/>
          <p:cNvSpPr txBox="1"/>
          <p:nvPr/>
        </p:nvSpPr>
        <p:spPr>
          <a:xfrm>
            <a:off x="640080" y="7178040"/>
            <a:ext cx="10908792" cy="548640"/>
          </a:xfrm>
          <a:prstGeom prst="rect">
            <a:avLst/>
          </a:prstGeom>
          <a:noFill/>
          <a:ln/>
        </p:spPr>
        <p:txBody>
          <a:bodyPr wrap="square" lIns="0" tIns="0" rIns="0" bIns="0" rtlCol="0" anchor="t"/>
          <a:lstStyle/>
          <a:p>
            <a:pPr indent="0" marL="0">
              <a:buNone/>
            </a:pPr>
            <a:r>
              <a:rPr lang="en-US" sz="1600" b="1" dirty="0">
                <a:solidFill>
                  <a:srgbClr val="1A6068"/>
                </a:solidFill>
                <a:latin typeface="Cambria" pitchFamily="34" charset="0"/>
                <a:ea typeface="Cambria" pitchFamily="34" charset="-122"/>
                <a:cs typeface="Cambria" pitchFamily="34" charset="-120"/>
              </a:rPr>
              <a:t>Three of those four are inside the first fortnight, and two of them are yours to call.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920240"/>
            <a:ext cx="10515600" cy="1463040"/>
          </a:xfrm>
          <a:prstGeom prst="rect">
            <a:avLst/>
          </a:prstGeom>
          <a:noFill/>
          <a:ln/>
        </p:spPr>
        <p:txBody>
          <a:bodyPr wrap="square" lIns="0" tIns="0" rIns="0" bIns="0" rtlCol="0" anchor="ctr"/>
          <a:lstStyle/>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₹10 lakh, 10%,</a:t>
            </a:r>
            <a:endParaRPr lang="en-US" sz="3800" dirty="0"/>
          </a:p>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and the number the plan rests on.</a:t>
            </a:r>
            <a:endParaRPr lang="en-US" sz="3800" dirty="0"/>
          </a:p>
        </p:txBody>
      </p:sp>
      <p:sp>
        <p:nvSpPr>
          <p:cNvPr id="3" name="Text 1"/>
          <p:cNvSpPr txBox="1"/>
          <p:nvPr/>
        </p:nvSpPr>
        <p:spPr>
          <a:xfrm>
            <a:off x="640080" y="3566160"/>
            <a:ext cx="9692640" cy="164592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Everything else in this company is built. The funnel runs, the matching engine works, the quotes come from real rate cards. What nobody has yet is a single measurement of what a customer costs to reach.</a:t>
            </a:r>
            <a:endParaRPr lang="en-US" sz="1600" dirty="0"/>
          </a:p>
          <a:p>
            <a:pPr indent="0" marL="0">
              <a:lnSpc>
                <a:spcPct val="130000"/>
              </a:lnSpc>
              <a:buNone/>
            </a:pPr>
            <a:endParaRPr lang="en-US" sz="1600" dirty="0"/>
          </a:p>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That is the whole of the next ninety days, and it is the part of this business that is yours.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Interiors — Swarupa</dc:title>
  <dc:subject>PptxGenJS Presentation</dc:subject>
  <dc:creator>One Interiors</dc:creator>
  <cp:lastModifiedBy>One Interiors</cp:lastModifiedBy>
  <cp:revision>1</cp:revision>
  <dcterms:created xsi:type="dcterms:W3CDTF">2026-09-13T14:57:20Z</dcterms:created>
  <dcterms:modified xsi:type="dcterms:W3CDTF">2026-09-13T14:57:20Z</dcterms:modified>
</cp:coreProperties>
</file>