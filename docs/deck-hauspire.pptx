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deck where the reader is also a supplier and a customer. Keep the three roles separate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in the room. Everybody here already knows what the company is; this slide exists so the three decks start from the same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this. A shareholder who discovers it later stops believing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24 is on this slide on purpose. Our own model says the roster does not reach 50 at the churn we assumed, and everyone signing should have seen that number before they 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rate card is the ask in this meeting. Everything downstream is blocked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₹12 lakh a year figure is the strongest thing on this slide. Lead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get one thing out of this meeting, get the rate card session in the diary.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table in all three decks, deliberately. Anyone comparing their copy with another should find the facts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framing is that this is an option on a measurement, priced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rate card, not the cheque. The cheque can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454B"/>
        </a:solidFill>
      </p:bgPr>
    </p:bg>
    <p:spTree>
      <p:nvGrpSpPr>
        <p:cNvPr id="1" name=""/>
        <p:cNvGrpSpPr/>
        <p:nvPr/>
      </p:nvGrpSpPr>
      <p:grpSpPr>
        <a:xfrm>
          <a:off x="0" y="0"/>
          <a:ext cx="0" cy="0"/>
          <a:chOff x="0" y="0"/>
          <a:chExt cx="0" cy="0"/>
        </a:xfrm>
      </p:grpSpPr>
      <p:sp>
        <p:nvSpPr>
          <p:cNvPr id="2" name="Text 0"/>
          <p:cNvSpPr txBox="1"/>
          <p:nvPr/>
        </p:nvSpPr>
        <p:spPr>
          <a:xfrm>
            <a:off x="640080" y="1828800"/>
            <a:ext cx="10908792"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Hauspire</a:t>
            </a:r>
            <a:endParaRPr lang="en-US" sz="4600" dirty="0"/>
          </a:p>
        </p:txBody>
      </p:sp>
      <p:sp>
        <p:nvSpPr>
          <p:cNvPr id="3" name="Text 1"/>
          <p:cNvSpPr txBox="1"/>
          <p:nvPr/>
        </p:nvSpPr>
        <p:spPr>
          <a:xfrm>
            <a:off x="640080" y="2697480"/>
            <a:ext cx="9144000" cy="548640"/>
          </a:xfrm>
          <a:prstGeom prst="rect">
            <a:avLst/>
          </a:prstGeom>
          <a:noFill/>
          <a:ln/>
        </p:spPr>
        <p:txBody>
          <a:bodyPr wrap="square" lIns="0" tIns="0" rIns="0" bIns="0" rtlCol="0" anchor="ctr"/>
          <a:lstStyle/>
          <a:p>
            <a:pPr indent="0" marL="0">
              <a:buNone/>
            </a:pPr>
            <a:r>
              <a:rPr lang="en-US" sz="2400" i="1" dirty="0">
                <a:solidFill>
                  <a:srgbClr val="C9922A"/>
                </a:solidFill>
                <a:latin typeface="Cambria" pitchFamily="34" charset="0"/>
                <a:ea typeface="Cambria" pitchFamily="34" charset="-122"/>
                <a:cs typeface="Cambria" pitchFamily="34" charset="-120"/>
              </a:rPr>
              <a:t>Investor — ₹20 lakh</a:t>
            </a:r>
            <a:endParaRPr lang="en-US" sz="2400" dirty="0"/>
          </a:p>
        </p:txBody>
      </p:sp>
      <p:sp>
        <p:nvSpPr>
          <p:cNvPr id="4" name="Text 2"/>
          <p:cNvSpPr txBox="1"/>
          <p:nvPr/>
        </p:nvSpPr>
        <p:spPr>
          <a:xfrm>
            <a:off x="640080" y="3474720"/>
            <a:ext cx="8046720" cy="1280160"/>
          </a:xfrm>
          <a:prstGeom prst="rect">
            <a:avLst/>
          </a:prstGeom>
          <a:noFill/>
          <a:ln/>
        </p:spPr>
        <p:txBody>
          <a:bodyPr wrap="square" lIns="0" tIns="0" rIns="0" bIns="0" rtlCol="0" anchor="ctr"/>
          <a:lstStyle/>
          <a:p>
            <a:pPr indent="0" marL="0">
              <a:lnSpc>
                <a:spcPct val="130000"/>
              </a:lnSpc>
              <a:buNone/>
            </a:pPr>
            <a:r>
              <a:rPr lang="en-US" sz="1600" dirty="0">
                <a:solidFill>
                  <a:srgbClr val="CFE0E2"/>
                </a:solidFill>
                <a:latin typeface="Calibri" pitchFamily="34" charset="0"/>
                <a:ea typeface="Calibri" pitchFamily="34" charset="-122"/>
                <a:cs typeface="Calibri" pitchFamily="34" charset="-120"/>
              </a:rPr>
              <a:t>A fifth of a marketplace, plus a permanent channel into it for your own studio and, later, your factory.</a:t>
            </a:r>
            <a:endParaRPr lang="en-US" sz="1600" dirty="0"/>
          </a:p>
        </p:txBody>
      </p:sp>
      <p:sp>
        <p:nvSpPr>
          <p:cNvPr id="5" name="Text 3"/>
          <p:cNvSpPr txBox="1"/>
          <p:nvPr/>
        </p:nvSpPr>
        <p:spPr>
          <a:xfrm>
            <a:off x="640080" y="5394960"/>
            <a:ext cx="82296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One Interiors  ·  Pune  ·  September 2026</a:t>
            </a:r>
            <a:endParaRPr lang="en-US" sz="1400" dirty="0"/>
          </a:p>
        </p:txBody>
      </p:sp>
      <p:sp>
        <p:nvSpPr>
          <p:cNvPr id="6" name="Text 4"/>
          <p:cNvSpPr txBox="1"/>
          <p:nvPr/>
        </p:nvSpPr>
        <p:spPr>
          <a:xfrm>
            <a:off x="640080" y="5852160"/>
            <a:ext cx="9601200" cy="411480"/>
          </a:xfrm>
          <a:prstGeom prst="rect">
            <a:avLst/>
          </a:prstGeom>
          <a:noFill/>
          <a:ln/>
        </p:spPr>
        <p:txBody>
          <a:bodyPr wrap="square" lIns="0" tIns="0" rIns="0" bIns="0" rtlCol="0" anchor="ctr"/>
          <a:lstStyle/>
          <a:p>
            <a:pPr indent="0" marL="0">
              <a:buNone/>
            </a:pPr>
            <a:r>
              <a:rPr lang="en-US" sz="1100" i="1" dirty="0">
                <a:solidFill>
                  <a:srgbClr val="8FB3B6"/>
                </a:solidFill>
                <a:latin typeface="Calibri" pitchFamily="34" charset="0"/>
                <a:ea typeface="Calibri" pitchFamily="34" charset="-122"/>
                <a:cs typeface="Calibri" pitchFamily="34" charset="-120"/>
              </a:rPr>
              <a:t>Working name. The permanent name is being settled this week — nothing in the product hardcodes 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What we are building.</a:t>
            </a:r>
            <a:endParaRPr lang="en-US" sz="3400" dirty="0"/>
          </a:p>
        </p:txBody>
      </p:sp>
      <p:sp>
        <p:nvSpPr>
          <p:cNvPr id="3" name="Text 1"/>
          <p:cNvSpPr txBox="1"/>
          <p:nvPr/>
        </p:nvSpPr>
        <p:spPr>
          <a:xfrm>
            <a:off x="640080" y="1463040"/>
            <a:ext cx="10424160" cy="100584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A curated marketplace for interior design in Pune. Nine questions, matched to verified studios, a real price from each studio’s own rates, and a neutral expert on the phone before anyone is introduced.</a:t>
            </a:r>
            <a:endParaRPr lang="en-US" sz="1700" dirty="0"/>
          </a:p>
        </p:txBody>
      </p:sp>
      <p:sp>
        <p:nvSpPr>
          <p:cNvPr id="4" name="Shape 2"/>
          <p:cNvSpPr/>
          <p:nvPr/>
        </p:nvSpPr>
        <p:spPr>
          <a:xfrm>
            <a:off x="640080" y="2734056"/>
            <a:ext cx="420624" cy="420624"/>
          </a:xfrm>
          <a:prstGeom prst="ellipse">
            <a:avLst/>
          </a:prstGeom>
          <a:solidFill>
            <a:srgbClr val="1A6068"/>
          </a:solidFill>
          <a:ln/>
        </p:spPr>
      </p:sp>
      <p:sp>
        <p:nvSpPr>
          <p:cNvPr id="5" name="Text 3"/>
          <p:cNvSpPr txBox="1"/>
          <p:nvPr/>
        </p:nvSpPr>
        <p:spPr>
          <a:xfrm>
            <a:off x="640080"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61872" y="269748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problem</a:t>
            </a:r>
            <a:endParaRPr lang="en-US" sz="1500" dirty="0"/>
          </a:p>
        </p:txBody>
      </p:sp>
      <p:sp>
        <p:nvSpPr>
          <p:cNvPr id="7" name="Text 5"/>
          <p:cNvSpPr txBox="1"/>
          <p:nvPr/>
        </p:nvSpPr>
        <p:spPr>
          <a:xfrm>
            <a:off x="1261872" y="3026664"/>
            <a:ext cx="459028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Not finding a designer — you can find forty in an afternoon. Telling which one will still be answering the phone in month four.</a:t>
            </a:r>
            <a:endParaRPr lang="en-US" sz="1300" dirty="0"/>
          </a:p>
        </p:txBody>
      </p:sp>
      <p:sp>
        <p:nvSpPr>
          <p:cNvPr id="8" name="Shape 6"/>
          <p:cNvSpPr/>
          <p:nvPr/>
        </p:nvSpPr>
        <p:spPr>
          <a:xfrm>
            <a:off x="6217920" y="2734056"/>
            <a:ext cx="420624" cy="420624"/>
          </a:xfrm>
          <a:prstGeom prst="ellipse">
            <a:avLst/>
          </a:prstGeom>
          <a:solidFill>
            <a:srgbClr val="1A6068"/>
          </a:solidFill>
          <a:ln/>
        </p:spPr>
      </p:sp>
      <p:sp>
        <p:nvSpPr>
          <p:cNvPr id="9" name="Text 7"/>
          <p:cNvSpPr txBox="1"/>
          <p:nvPr/>
        </p:nvSpPr>
        <p:spPr>
          <a:xfrm>
            <a:off x="6217920"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6839712" y="269748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What we sell</a:t>
            </a:r>
            <a:endParaRPr lang="en-US" sz="1500" dirty="0"/>
          </a:p>
        </p:txBody>
      </p:sp>
      <p:sp>
        <p:nvSpPr>
          <p:cNvPr id="11" name="Text 9"/>
          <p:cNvSpPr txBox="1"/>
          <p:nvPr/>
        </p:nvSpPr>
        <p:spPr>
          <a:xfrm>
            <a:off x="6839712" y="3026664"/>
            <a:ext cx="459028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Certainty, not taste. Every complaint in this trade is an execution failure, not a matching failure.</a:t>
            </a:r>
            <a:endParaRPr lang="en-US" sz="1300" dirty="0"/>
          </a:p>
        </p:txBody>
      </p:sp>
      <p:sp>
        <p:nvSpPr>
          <p:cNvPr id="12" name="Shape 10"/>
          <p:cNvSpPr/>
          <p:nvPr/>
        </p:nvSpPr>
        <p:spPr>
          <a:xfrm>
            <a:off x="640080" y="4242816"/>
            <a:ext cx="420624" cy="420624"/>
          </a:xfrm>
          <a:prstGeom prst="ellipse">
            <a:avLst/>
          </a:prstGeom>
          <a:solidFill>
            <a:srgbClr val="1A6068"/>
          </a:solidFill>
          <a:ln/>
        </p:spPr>
      </p:sp>
      <p:sp>
        <p:nvSpPr>
          <p:cNvPr id="13" name="Text 11"/>
          <p:cNvSpPr txBox="1"/>
          <p:nvPr/>
        </p:nvSpPr>
        <p:spPr>
          <a:xfrm>
            <a:off x="640080" y="42428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261872" y="420624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size of it</a:t>
            </a:r>
            <a:endParaRPr lang="en-US" sz="1500" dirty="0"/>
          </a:p>
        </p:txBody>
      </p:sp>
      <p:sp>
        <p:nvSpPr>
          <p:cNvPr id="15" name="Text 13"/>
          <p:cNvSpPr txBox="1"/>
          <p:nvPr/>
        </p:nvSpPr>
        <p:spPr>
          <a:xfrm>
            <a:off x="1261872" y="4535424"/>
            <a:ext cx="459028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₹7–27 lakh a project. The largest discretionary purchase most Indian households make after the flat itself.</a:t>
            </a:r>
            <a:endParaRPr lang="en-US" sz="1300" dirty="0"/>
          </a:p>
        </p:txBody>
      </p:sp>
      <p:sp>
        <p:nvSpPr>
          <p:cNvPr id="16" name="Shape 14"/>
          <p:cNvSpPr/>
          <p:nvPr/>
        </p:nvSpPr>
        <p:spPr>
          <a:xfrm>
            <a:off x="6217920" y="4242816"/>
            <a:ext cx="420624" cy="420624"/>
          </a:xfrm>
          <a:prstGeom prst="ellipse">
            <a:avLst/>
          </a:prstGeom>
          <a:solidFill>
            <a:srgbClr val="1A6068"/>
          </a:solidFill>
          <a:ln/>
        </p:spPr>
      </p:sp>
      <p:sp>
        <p:nvSpPr>
          <p:cNvPr id="17" name="Text 15"/>
          <p:cNvSpPr txBox="1"/>
          <p:nvPr/>
        </p:nvSpPr>
        <p:spPr>
          <a:xfrm>
            <a:off x="6217920" y="42428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6839712" y="420624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rule</a:t>
            </a:r>
            <a:endParaRPr lang="en-US" sz="1500" dirty="0"/>
          </a:p>
        </p:txBody>
      </p:sp>
      <p:sp>
        <p:nvSpPr>
          <p:cNvPr id="19" name="Text 17"/>
          <p:cNvSpPr txBox="1"/>
          <p:nvPr/>
        </p:nvSpPr>
        <p:spPr>
          <a:xfrm>
            <a:off x="6839712" y="4535424"/>
            <a:ext cx="459028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A studio can pay us for volume. It can never pay us for position. That constraint is the product.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Where it actually is, today.</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Said plainly, because everyone in this room is going to find out anyway.</a:t>
            </a:r>
            <a:endParaRPr lang="en-US" sz="1700" dirty="0"/>
          </a:p>
        </p:txBody>
      </p:sp>
      <p:sp>
        <p:nvSpPr>
          <p:cNvPr id="4" name="Shape 2"/>
          <p:cNvSpPr/>
          <p:nvPr/>
        </p:nvSpPr>
        <p:spPr>
          <a:xfrm>
            <a:off x="640080" y="2606040"/>
            <a:ext cx="2615184" cy="2286000"/>
          </a:xfrm>
          <a:prstGeom prst="roundRect">
            <a:avLst>
              <a:gd name="adj" fmla="val 3200"/>
            </a:avLst>
          </a:prstGeom>
          <a:solidFill>
            <a:srgbClr val="FBF7F0"/>
          </a:solidFill>
          <a:ln w="12700">
            <a:solidFill>
              <a:srgbClr val="E3DCD2"/>
            </a:solidFill>
            <a:prstDash val="solid"/>
          </a:ln>
        </p:spPr>
      </p:sp>
      <p:sp>
        <p:nvSpPr>
          <p:cNvPr id="5" name="Text 3"/>
          <p:cNvSpPr txBox="1"/>
          <p:nvPr/>
        </p:nvSpPr>
        <p:spPr>
          <a:xfrm>
            <a:off x="859536" y="2798064"/>
            <a:ext cx="2176272" cy="457200"/>
          </a:xfrm>
          <a:prstGeom prst="rect">
            <a:avLst/>
          </a:prstGeom>
          <a:noFill/>
          <a:ln/>
        </p:spPr>
        <p:txBody>
          <a:bodyPr wrap="square" lIns="0" tIns="0" rIns="0" bIns="0" rtlCol="0" anchor="t"/>
          <a:lstStyle/>
          <a:p>
            <a:pPr indent="0" marL="0">
              <a:buNone/>
            </a:pPr>
            <a:r>
              <a:rPr lang="en-US" sz="1700" b="1" dirty="0">
                <a:solidFill>
                  <a:srgbClr val="1A6068"/>
                </a:solidFill>
                <a:latin typeface="Cambria" pitchFamily="34" charset="0"/>
                <a:ea typeface="Cambria" pitchFamily="34" charset="-122"/>
                <a:cs typeface="Cambria" pitchFamily="34" charset="-120"/>
              </a:rPr>
              <a:t>Built</a:t>
            </a:r>
            <a:endParaRPr lang="en-US" sz="1700" dirty="0"/>
          </a:p>
        </p:txBody>
      </p:sp>
      <p:sp>
        <p:nvSpPr>
          <p:cNvPr id="6" name="Text 4"/>
          <p:cNvSpPr txBox="1"/>
          <p:nvPr/>
        </p:nvSpPr>
        <p:spPr>
          <a:xfrm>
            <a:off x="859536" y="3291840"/>
            <a:ext cx="2176272" cy="146304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The whole funnel runs: brief, matching, quotes, comparison, expert call, prep pack. Plus the studio dashboard and the ops console.</a:t>
            </a:r>
            <a:endParaRPr lang="en-US" sz="1200" dirty="0"/>
          </a:p>
        </p:txBody>
      </p:sp>
      <p:sp>
        <p:nvSpPr>
          <p:cNvPr id="7" name="Shape 5"/>
          <p:cNvSpPr/>
          <p:nvPr/>
        </p:nvSpPr>
        <p:spPr>
          <a:xfrm>
            <a:off x="3401568" y="2606040"/>
            <a:ext cx="2615184" cy="2286000"/>
          </a:xfrm>
          <a:prstGeom prst="roundRect">
            <a:avLst>
              <a:gd name="adj" fmla="val 3200"/>
            </a:avLst>
          </a:prstGeom>
          <a:solidFill>
            <a:srgbClr val="FBF7F0"/>
          </a:solidFill>
          <a:ln w="12700">
            <a:solidFill>
              <a:srgbClr val="E3DCD2"/>
            </a:solidFill>
            <a:prstDash val="solid"/>
          </a:ln>
        </p:spPr>
      </p:sp>
      <p:sp>
        <p:nvSpPr>
          <p:cNvPr id="8" name="Text 6"/>
          <p:cNvSpPr txBox="1"/>
          <p:nvPr/>
        </p:nvSpPr>
        <p:spPr>
          <a:xfrm>
            <a:off x="3621024" y="2798064"/>
            <a:ext cx="2176272" cy="457200"/>
          </a:xfrm>
          <a:prstGeom prst="rect">
            <a:avLst/>
          </a:prstGeom>
          <a:noFill/>
          <a:ln/>
        </p:spPr>
        <p:txBody>
          <a:bodyPr wrap="square" lIns="0" tIns="0" rIns="0" bIns="0" rtlCol="0" anchor="t"/>
          <a:lstStyle/>
          <a:p>
            <a:pPr indent="0" marL="0">
              <a:buNone/>
            </a:pPr>
            <a:r>
              <a:rPr lang="en-US" sz="1700" b="1" dirty="0">
                <a:solidFill>
                  <a:srgbClr val="1A6068"/>
                </a:solidFill>
                <a:latin typeface="Cambria" pitchFamily="34" charset="0"/>
                <a:ea typeface="Cambria" pitchFamily="34" charset="-122"/>
                <a:cs typeface="Cambria" pitchFamily="34" charset="-120"/>
              </a:rPr>
              <a:t>Not launched</a:t>
            </a:r>
            <a:endParaRPr lang="en-US" sz="1700" dirty="0"/>
          </a:p>
        </p:txBody>
      </p:sp>
      <p:sp>
        <p:nvSpPr>
          <p:cNvPr id="9" name="Text 7"/>
          <p:cNvSpPr txBox="1"/>
          <p:nvPr/>
        </p:nvSpPr>
        <p:spPr>
          <a:xfrm>
            <a:off x="3621024" y="3291840"/>
            <a:ext cx="2176272" cy="146304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Zero customers. Zero revenue. Zero live studios. The waitlist opens 16 September.</a:t>
            </a:r>
            <a:endParaRPr lang="en-US" sz="1200" dirty="0"/>
          </a:p>
        </p:txBody>
      </p:sp>
      <p:sp>
        <p:nvSpPr>
          <p:cNvPr id="10" name="Shape 8"/>
          <p:cNvSpPr/>
          <p:nvPr/>
        </p:nvSpPr>
        <p:spPr>
          <a:xfrm>
            <a:off x="6163056" y="2606040"/>
            <a:ext cx="2615184" cy="2286000"/>
          </a:xfrm>
          <a:prstGeom prst="roundRect">
            <a:avLst>
              <a:gd name="adj" fmla="val 3200"/>
            </a:avLst>
          </a:prstGeom>
          <a:solidFill>
            <a:srgbClr val="FAEDE6"/>
          </a:solidFill>
          <a:ln w="12700">
            <a:solidFill>
              <a:srgbClr val="E8C9B8"/>
            </a:solidFill>
            <a:prstDash val="solid"/>
          </a:ln>
        </p:spPr>
      </p:sp>
      <p:sp>
        <p:nvSpPr>
          <p:cNvPr id="11" name="Text 9"/>
          <p:cNvSpPr txBox="1"/>
          <p:nvPr/>
        </p:nvSpPr>
        <p:spPr>
          <a:xfrm>
            <a:off x="6382512" y="2798064"/>
            <a:ext cx="2176272" cy="457200"/>
          </a:xfrm>
          <a:prstGeom prst="rect">
            <a:avLst/>
          </a:prstGeom>
          <a:noFill/>
          <a:ln/>
        </p:spPr>
        <p:txBody>
          <a:bodyPr wrap="square" lIns="0" tIns="0" rIns="0" bIns="0" rtlCol="0" anchor="t"/>
          <a:lstStyle/>
          <a:p>
            <a:pPr indent="0" marL="0">
              <a:buNone/>
            </a:pPr>
            <a:r>
              <a:rPr lang="en-US" sz="1700" b="1" dirty="0">
                <a:solidFill>
                  <a:srgbClr val="BC6440"/>
                </a:solidFill>
                <a:latin typeface="Cambria" pitchFamily="34" charset="0"/>
                <a:ea typeface="Cambria" pitchFamily="34" charset="-122"/>
                <a:cs typeface="Cambria" pitchFamily="34" charset="-120"/>
              </a:rPr>
              <a:t>One thing missing</a:t>
            </a:r>
            <a:endParaRPr lang="en-US" sz="1700" dirty="0"/>
          </a:p>
        </p:txBody>
      </p:sp>
      <p:sp>
        <p:nvSpPr>
          <p:cNvPr id="12" name="Text 10"/>
          <p:cNvSpPr txBox="1"/>
          <p:nvPr/>
        </p:nvSpPr>
        <p:spPr>
          <a:xfrm>
            <a:off x="6382512" y="3291840"/>
            <a:ext cx="2176272" cy="146304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On day one the product cannot produce a quote — because no studio has entered a rate card, and the pricing code refuses to invent one.</a:t>
            </a:r>
            <a:endParaRPr lang="en-US" sz="1200" dirty="0"/>
          </a:p>
        </p:txBody>
      </p:sp>
      <p:sp>
        <p:nvSpPr>
          <p:cNvPr id="13" name="Shape 11"/>
          <p:cNvSpPr/>
          <p:nvPr/>
        </p:nvSpPr>
        <p:spPr>
          <a:xfrm>
            <a:off x="8924544" y="2606040"/>
            <a:ext cx="2615184" cy="2286000"/>
          </a:xfrm>
          <a:prstGeom prst="roundRect">
            <a:avLst>
              <a:gd name="adj" fmla="val 3200"/>
            </a:avLst>
          </a:prstGeom>
          <a:solidFill>
            <a:srgbClr val="FBF7F0"/>
          </a:solidFill>
          <a:ln w="12700">
            <a:solidFill>
              <a:srgbClr val="E3DCD2"/>
            </a:solidFill>
            <a:prstDash val="solid"/>
          </a:ln>
        </p:spPr>
      </p:sp>
      <p:sp>
        <p:nvSpPr>
          <p:cNvPr id="14" name="Text 12"/>
          <p:cNvSpPr txBox="1"/>
          <p:nvPr/>
        </p:nvSpPr>
        <p:spPr>
          <a:xfrm>
            <a:off x="9144000" y="2798064"/>
            <a:ext cx="2176272" cy="457200"/>
          </a:xfrm>
          <a:prstGeom prst="rect">
            <a:avLst/>
          </a:prstGeom>
          <a:noFill/>
          <a:ln/>
        </p:spPr>
        <p:txBody>
          <a:bodyPr wrap="square" lIns="0" tIns="0" rIns="0" bIns="0" rtlCol="0" anchor="t"/>
          <a:lstStyle/>
          <a:p>
            <a:pPr indent="0" marL="0">
              <a:buNone/>
            </a:pPr>
            <a:r>
              <a:rPr lang="en-US" sz="1700" b="1" dirty="0">
                <a:solidFill>
                  <a:srgbClr val="1A6068"/>
                </a:solidFill>
                <a:latin typeface="Cambria" pitchFamily="34" charset="0"/>
                <a:ea typeface="Cambria" pitchFamily="34" charset="-122"/>
                <a:cs typeface="Cambria" pitchFamily="34" charset="-120"/>
              </a:rPr>
              <a:t>Twenty minutes</a:t>
            </a:r>
            <a:endParaRPr lang="en-US" sz="1700" dirty="0"/>
          </a:p>
        </p:txBody>
      </p:sp>
      <p:sp>
        <p:nvSpPr>
          <p:cNvPr id="15" name="Text 13"/>
          <p:cNvSpPr txBox="1"/>
          <p:nvPr/>
        </p:nvSpPr>
        <p:spPr>
          <a:xfrm>
            <a:off x="9144000" y="3291840"/>
            <a:ext cx="2176272" cy="146304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That is what it takes to fix, once one studio sits down with us. It is the single highest-leverage action in the plan.</a:t>
            </a:r>
            <a:endParaRPr lang="en-US" sz="1200" dirty="0"/>
          </a:p>
        </p:txBody>
      </p:sp>
      <p:sp>
        <p:nvSpPr>
          <p:cNvPr id="16" name="Text 14"/>
          <p:cNvSpPr txBox="1"/>
          <p:nvPr/>
        </p:nvSpPr>
        <p:spPr>
          <a:xfrm>
            <a:off x="640080" y="5212080"/>
            <a:ext cx="10908792" cy="548640"/>
          </a:xfrm>
          <a:prstGeom prst="rect">
            <a:avLst/>
          </a:prstGeom>
          <a:noFill/>
          <a:ln/>
        </p:spPr>
        <p:txBody>
          <a:bodyPr wrap="square" lIns="0" tIns="0" rIns="0" bIns="0" rtlCol="0" anchor="t"/>
          <a:lstStyle/>
          <a:p>
            <a:pPr indent="0" marL="0">
              <a:buNone/>
            </a:pPr>
            <a:r>
              <a:rPr lang="en-US" sz="1350" i="1" dirty="0">
                <a:solidFill>
                  <a:srgbClr val="8B847C"/>
                </a:solidFill>
                <a:latin typeface="Calibri" pitchFamily="34" charset="0"/>
                <a:ea typeface="Calibri" pitchFamily="34" charset="-122"/>
                <a:cs typeface="Calibri" pitchFamily="34" charset="-120"/>
              </a:rPr>
              <a:t>Nothing on this slide is a surprise to anyone who has been close to it. It is here so nobody signs on a different picture than the one that exists.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How the money works.</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Three months of commission only, then a subscription that scales with project size.</a:t>
            </a:r>
            <a:endParaRPr lang="en-US" sz="1700" dirty="0"/>
          </a:p>
        </p:txBody>
      </p:sp>
      <p:sp>
        <p:nvSpPr>
          <p:cNvPr id="4" name="Shape 2"/>
          <p:cNvSpPr/>
          <p:nvPr/>
        </p:nvSpPr>
        <p:spPr>
          <a:xfrm>
            <a:off x="640080" y="2560320"/>
            <a:ext cx="10908792" cy="640080"/>
          </a:xfrm>
          <a:prstGeom prst="roundRect">
            <a:avLst>
              <a:gd name="adj" fmla="val 11429"/>
            </a:avLst>
          </a:prstGeom>
          <a:solidFill>
            <a:srgbClr val="FBF7F0"/>
          </a:solidFill>
          <a:ln w="12700">
            <a:solidFill>
              <a:srgbClr val="E3DCD2"/>
            </a:solidFill>
            <a:prstDash val="solid"/>
          </a:ln>
        </p:spPr>
      </p:sp>
      <p:sp>
        <p:nvSpPr>
          <p:cNvPr id="5" name="Text 3"/>
          <p:cNvSpPr txBox="1"/>
          <p:nvPr/>
        </p:nvSpPr>
        <p:spPr>
          <a:xfrm>
            <a:off x="914400" y="2560320"/>
            <a:ext cx="3017520" cy="640080"/>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Pilot · months 1–3</a:t>
            </a:r>
            <a:endParaRPr lang="en-US" sz="1400" dirty="0"/>
          </a:p>
        </p:txBody>
      </p:sp>
      <p:sp>
        <p:nvSpPr>
          <p:cNvPr id="6" name="Text 4"/>
          <p:cNvSpPr txBox="1"/>
          <p:nvPr/>
        </p:nvSpPr>
        <p:spPr>
          <a:xfrm>
            <a:off x="4023360" y="2560320"/>
            <a:ext cx="2926080" cy="640080"/>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5% commission only</a:t>
            </a:r>
            <a:endParaRPr lang="en-US" sz="1400" dirty="0"/>
          </a:p>
        </p:txBody>
      </p:sp>
      <p:sp>
        <p:nvSpPr>
          <p:cNvPr id="7" name="Text 5"/>
          <p:cNvSpPr txBox="1"/>
          <p:nvPr/>
        </p:nvSpPr>
        <p:spPr>
          <a:xfrm>
            <a:off x="7132320" y="2560320"/>
            <a:ext cx="4297680" cy="640080"/>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Nothing at all unless a project closes</a:t>
            </a:r>
            <a:endParaRPr lang="en-US" sz="1250" dirty="0"/>
          </a:p>
        </p:txBody>
      </p:sp>
      <p:sp>
        <p:nvSpPr>
          <p:cNvPr id="8" name="Shape 6"/>
          <p:cNvSpPr/>
          <p:nvPr/>
        </p:nvSpPr>
        <p:spPr>
          <a:xfrm>
            <a:off x="640080" y="3273552"/>
            <a:ext cx="10908792" cy="640080"/>
          </a:xfrm>
          <a:prstGeom prst="roundRect">
            <a:avLst>
              <a:gd name="adj" fmla="val 11429"/>
            </a:avLst>
          </a:prstGeom>
          <a:solidFill>
            <a:srgbClr val="FFFFFF"/>
          </a:solidFill>
          <a:ln w="12700">
            <a:solidFill>
              <a:srgbClr val="E3DCD2"/>
            </a:solidFill>
            <a:prstDash val="solid"/>
          </a:ln>
        </p:spPr>
      </p:sp>
      <p:sp>
        <p:nvSpPr>
          <p:cNvPr id="9" name="Text 7"/>
          <p:cNvSpPr txBox="1"/>
          <p:nvPr/>
        </p:nvSpPr>
        <p:spPr>
          <a:xfrm>
            <a:off x="914400" y="3273552"/>
            <a:ext cx="3017520" cy="640080"/>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Essential</a:t>
            </a:r>
            <a:endParaRPr lang="en-US" sz="1400" dirty="0"/>
          </a:p>
        </p:txBody>
      </p:sp>
      <p:sp>
        <p:nvSpPr>
          <p:cNvPr id="10" name="Text 8"/>
          <p:cNvSpPr txBox="1"/>
          <p:nvPr/>
        </p:nvSpPr>
        <p:spPr>
          <a:xfrm>
            <a:off x="4023360" y="3273552"/>
            <a:ext cx="2926080" cy="640080"/>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₹25,000/mo + 5%</a:t>
            </a:r>
            <a:endParaRPr lang="en-US" sz="1400" dirty="0"/>
          </a:p>
        </p:txBody>
      </p:sp>
      <p:sp>
        <p:nvSpPr>
          <p:cNvPr id="11" name="Text 9"/>
          <p:cNvSpPr txBox="1"/>
          <p:nvPr/>
        </p:nvSpPr>
        <p:spPr>
          <a:xfrm>
            <a:off x="7132320" y="3273552"/>
            <a:ext cx="4297680" cy="640080"/>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Studios averaging ₹7 lakh projects</a:t>
            </a:r>
            <a:endParaRPr lang="en-US" sz="1250" dirty="0"/>
          </a:p>
        </p:txBody>
      </p:sp>
      <p:sp>
        <p:nvSpPr>
          <p:cNvPr id="12" name="Shape 10"/>
          <p:cNvSpPr/>
          <p:nvPr/>
        </p:nvSpPr>
        <p:spPr>
          <a:xfrm>
            <a:off x="640080" y="3986784"/>
            <a:ext cx="10908792" cy="640080"/>
          </a:xfrm>
          <a:prstGeom prst="roundRect">
            <a:avLst>
              <a:gd name="adj" fmla="val 11429"/>
            </a:avLst>
          </a:prstGeom>
          <a:solidFill>
            <a:srgbClr val="FBF7F0"/>
          </a:solidFill>
          <a:ln w="12700">
            <a:solidFill>
              <a:srgbClr val="E3DCD2"/>
            </a:solidFill>
            <a:prstDash val="solid"/>
          </a:ln>
        </p:spPr>
      </p:sp>
      <p:sp>
        <p:nvSpPr>
          <p:cNvPr id="13" name="Text 11"/>
          <p:cNvSpPr txBox="1"/>
          <p:nvPr/>
        </p:nvSpPr>
        <p:spPr>
          <a:xfrm>
            <a:off x="914400" y="3986784"/>
            <a:ext cx="3017520" cy="640080"/>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Premium</a:t>
            </a:r>
            <a:endParaRPr lang="en-US" sz="1400" dirty="0"/>
          </a:p>
        </p:txBody>
      </p:sp>
      <p:sp>
        <p:nvSpPr>
          <p:cNvPr id="14" name="Text 12"/>
          <p:cNvSpPr txBox="1"/>
          <p:nvPr/>
        </p:nvSpPr>
        <p:spPr>
          <a:xfrm>
            <a:off x="4023360" y="3986784"/>
            <a:ext cx="2926080" cy="640080"/>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₹50,000/mo + 5%</a:t>
            </a:r>
            <a:endParaRPr lang="en-US" sz="1400" dirty="0"/>
          </a:p>
        </p:txBody>
      </p:sp>
      <p:sp>
        <p:nvSpPr>
          <p:cNvPr id="15" name="Text 13"/>
          <p:cNvSpPr txBox="1"/>
          <p:nvPr/>
        </p:nvSpPr>
        <p:spPr>
          <a:xfrm>
            <a:off x="7132320" y="3986784"/>
            <a:ext cx="4297680" cy="640080"/>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Studios averaging ₹12 lakh projects</a:t>
            </a:r>
            <a:endParaRPr lang="en-US" sz="1250" dirty="0"/>
          </a:p>
        </p:txBody>
      </p:sp>
      <p:sp>
        <p:nvSpPr>
          <p:cNvPr id="16" name="Shape 14"/>
          <p:cNvSpPr/>
          <p:nvPr/>
        </p:nvSpPr>
        <p:spPr>
          <a:xfrm>
            <a:off x="640080" y="4700016"/>
            <a:ext cx="10908792" cy="640080"/>
          </a:xfrm>
          <a:prstGeom prst="roundRect">
            <a:avLst>
              <a:gd name="adj" fmla="val 11429"/>
            </a:avLst>
          </a:prstGeom>
          <a:solidFill>
            <a:srgbClr val="FFFFFF"/>
          </a:solidFill>
          <a:ln w="12700">
            <a:solidFill>
              <a:srgbClr val="E3DCD2"/>
            </a:solidFill>
            <a:prstDash val="solid"/>
          </a:ln>
        </p:spPr>
      </p:sp>
      <p:sp>
        <p:nvSpPr>
          <p:cNvPr id="17" name="Text 15"/>
          <p:cNvSpPr txBox="1"/>
          <p:nvPr/>
        </p:nvSpPr>
        <p:spPr>
          <a:xfrm>
            <a:off x="914400" y="4700016"/>
            <a:ext cx="3017520" cy="640080"/>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Luxury</a:t>
            </a:r>
            <a:endParaRPr lang="en-US" sz="1400" dirty="0"/>
          </a:p>
        </p:txBody>
      </p:sp>
      <p:sp>
        <p:nvSpPr>
          <p:cNvPr id="18" name="Text 16"/>
          <p:cNvSpPr txBox="1"/>
          <p:nvPr/>
        </p:nvSpPr>
        <p:spPr>
          <a:xfrm>
            <a:off x="4023360" y="4700016"/>
            <a:ext cx="2926080" cy="640080"/>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₹1,00,000/mo + 5%</a:t>
            </a:r>
            <a:endParaRPr lang="en-US" sz="1400" dirty="0"/>
          </a:p>
        </p:txBody>
      </p:sp>
      <p:sp>
        <p:nvSpPr>
          <p:cNvPr id="19" name="Text 17"/>
          <p:cNvSpPr txBox="1"/>
          <p:nvPr/>
        </p:nvSpPr>
        <p:spPr>
          <a:xfrm>
            <a:off x="7132320" y="4700016"/>
            <a:ext cx="4297680" cy="640080"/>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Studios averaging ₹20 lakh projects</a:t>
            </a:r>
            <a:endParaRPr lang="en-US" sz="1250" dirty="0"/>
          </a:p>
        </p:txBody>
      </p:sp>
      <p:sp>
        <p:nvSpPr>
          <p:cNvPr id="20" name="Text 18"/>
          <p:cNvSpPr txBox="1"/>
          <p:nvPr/>
        </p:nvSpPr>
        <p:spPr>
          <a:xfrm>
            <a:off x="640080" y="5486400"/>
            <a:ext cx="2743200" cy="685800"/>
          </a:xfrm>
          <a:prstGeom prst="rect">
            <a:avLst/>
          </a:prstGeom>
          <a:noFill/>
          <a:ln/>
        </p:spPr>
        <p:txBody>
          <a:bodyPr wrap="square" lIns="0" tIns="0" rIns="0" bIns="0" rtlCol="0" anchor="ctr"/>
          <a:lstStyle/>
          <a:p>
            <a:pPr indent="0" marL="0">
              <a:buNone/>
            </a:pPr>
            <a:r>
              <a:rPr lang="en-US" sz="3400" b="1" dirty="0">
                <a:solidFill>
                  <a:srgbClr val="1A6068"/>
                </a:solidFill>
                <a:latin typeface="Cambria" pitchFamily="34" charset="0"/>
                <a:ea typeface="Cambria" pitchFamily="34" charset="-122"/>
                <a:cs typeface="Cambria" pitchFamily="34" charset="-120"/>
              </a:rPr>
              <a:t>₹4.36 Cr</a:t>
            </a:r>
            <a:endParaRPr lang="en-US" sz="3400" dirty="0"/>
          </a:p>
        </p:txBody>
      </p:sp>
      <p:sp>
        <p:nvSpPr>
          <p:cNvPr id="21" name="Text 19"/>
          <p:cNvSpPr txBox="1"/>
          <p:nvPr/>
        </p:nvSpPr>
        <p:spPr>
          <a:xfrm>
            <a:off x="640080" y="6163056"/>
            <a:ext cx="2743200" cy="603504"/>
          </a:xfrm>
          <a:prstGeom prst="rect">
            <a:avLst/>
          </a:prstGeom>
          <a:noFill/>
          <a:ln/>
        </p:spPr>
        <p:txBody>
          <a:bodyPr wrap="square" lIns="0" tIns="0" rIns="0" bIns="0" rtlCol="0" anchor="t"/>
          <a:lstStyle/>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year-one gross revenue, if the</a:t>
            </a:r>
            <a:endParaRPr lang="en-US" sz="1150" dirty="0"/>
          </a:p>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assumptions hold</a:t>
            </a:r>
            <a:endParaRPr lang="en-US" sz="1150" dirty="0"/>
          </a:p>
        </p:txBody>
      </p:sp>
      <p:sp>
        <p:nvSpPr>
          <p:cNvPr id="22" name="Text 20"/>
          <p:cNvSpPr txBox="1"/>
          <p:nvPr/>
        </p:nvSpPr>
        <p:spPr>
          <a:xfrm>
            <a:off x="3474720" y="5486400"/>
            <a:ext cx="2743200" cy="685800"/>
          </a:xfrm>
          <a:prstGeom prst="rect">
            <a:avLst/>
          </a:prstGeom>
          <a:noFill/>
          <a:ln/>
        </p:spPr>
        <p:txBody>
          <a:bodyPr wrap="square" lIns="0" tIns="0" rIns="0" bIns="0" rtlCol="0" anchor="ctr"/>
          <a:lstStyle/>
          <a:p>
            <a:pPr indent="0" marL="0">
              <a:buNone/>
            </a:pPr>
            <a:r>
              <a:rPr lang="en-US" sz="3400" b="1" dirty="0">
                <a:solidFill>
                  <a:srgbClr val="1A6068"/>
                </a:solidFill>
                <a:latin typeface="Cambria" pitchFamily="34" charset="0"/>
                <a:ea typeface="Cambria" pitchFamily="34" charset="-122"/>
                <a:cs typeface="Cambria" pitchFamily="34" charset="-120"/>
              </a:rPr>
              <a:t>553</a:t>
            </a:r>
            <a:endParaRPr lang="en-US" sz="3400" dirty="0"/>
          </a:p>
        </p:txBody>
      </p:sp>
      <p:sp>
        <p:nvSpPr>
          <p:cNvPr id="23" name="Text 21"/>
          <p:cNvSpPr txBox="1"/>
          <p:nvPr/>
        </p:nvSpPr>
        <p:spPr>
          <a:xfrm>
            <a:off x="3474720" y="6163056"/>
            <a:ext cx="2743200" cy="603504"/>
          </a:xfrm>
          <a:prstGeom prst="rect">
            <a:avLst/>
          </a:prstGeom>
          <a:noFill/>
          <a:ln/>
        </p:spPr>
        <p:txBody>
          <a:bodyPr wrap="square" lIns="0" tIns="0" rIns="0" bIns="0" rtlCol="0" anchor="t"/>
          <a:lstStyle/>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projects placed</a:t>
            </a:r>
            <a:endParaRPr lang="en-US" sz="1150" dirty="0"/>
          </a:p>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₹70.5 Cr of work</a:t>
            </a:r>
            <a:endParaRPr lang="en-US" sz="1150" dirty="0"/>
          </a:p>
        </p:txBody>
      </p:sp>
      <p:sp>
        <p:nvSpPr>
          <p:cNvPr id="24" name="Text 22"/>
          <p:cNvSpPr txBox="1"/>
          <p:nvPr/>
        </p:nvSpPr>
        <p:spPr>
          <a:xfrm>
            <a:off x="6309360" y="5486400"/>
            <a:ext cx="2743200" cy="685800"/>
          </a:xfrm>
          <a:prstGeom prst="rect">
            <a:avLst/>
          </a:prstGeom>
          <a:noFill/>
          <a:ln/>
        </p:spPr>
        <p:txBody>
          <a:bodyPr wrap="square" lIns="0" tIns="0" rIns="0" bIns="0" rtlCol="0" anchor="ctr"/>
          <a:lstStyle/>
          <a:p>
            <a:pPr indent="0" marL="0">
              <a:buNone/>
            </a:pPr>
            <a:r>
              <a:rPr lang="en-US" sz="3400" b="1" dirty="0">
                <a:solidFill>
                  <a:srgbClr val="BC6440"/>
                </a:solidFill>
                <a:latin typeface="Cambria" pitchFamily="34" charset="0"/>
                <a:ea typeface="Cambria" pitchFamily="34" charset="-122"/>
                <a:cs typeface="Cambria" pitchFamily="34" charset="-120"/>
              </a:rPr>
              <a:t>24</a:t>
            </a:r>
            <a:endParaRPr lang="en-US" sz="3400" dirty="0"/>
          </a:p>
        </p:txBody>
      </p:sp>
      <p:sp>
        <p:nvSpPr>
          <p:cNvPr id="25" name="Text 23"/>
          <p:cNvSpPr txBox="1"/>
          <p:nvPr/>
        </p:nvSpPr>
        <p:spPr>
          <a:xfrm>
            <a:off x="6309360" y="6163056"/>
            <a:ext cx="2743200" cy="603504"/>
          </a:xfrm>
          <a:prstGeom prst="rect">
            <a:avLst/>
          </a:prstGeom>
          <a:noFill/>
          <a:ln/>
        </p:spPr>
        <p:txBody>
          <a:bodyPr wrap="square" lIns="0" tIns="0" rIns="0" bIns="0" rtlCol="0" anchor="t"/>
          <a:lstStyle/>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studios at month twelve —</a:t>
            </a:r>
            <a:endParaRPr lang="en-US" sz="1150" dirty="0"/>
          </a:p>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not the 50 the plan assumed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Three relationships, not one.</a:t>
            </a:r>
            <a:endParaRPr lang="en-US" sz="3400" dirty="0"/>
          </a:p>
        </p:txBody>
      </p:sp>
      <p:sp>
        <p:nvSpPr>
          <p:cNvPr id="3" name="Text 1"/>
          <p:cNvSpPr txBox="1"/>
          <p:nvPr/>
        </p:nvSpPr>
        <p:spPr>
          <a:xfrm>
            <a:off x="640080" y="1463040"/>
            <a:ext cx="10424160" cy="91440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You are the investor, the first pilot studio, and eventually the supplier. Each one is worth something different, and it is worth being clear which is which.</a:t>
            </a:r>
            <a:endParaRPr lang="en-US" sz="1700" dirty="0"/>
          </a:p>
        </p:txBody>
      </p:sp>
      <p:sp>
        <p:nvSpPr>
          <p:cNvPr id="4" name="Shape 2"/>
          <p:cNvSpPr/>
          <p:nvPr/>
        </p:nvSpPr>
        <p:spPr>
          <a:xfrm>
            <a:off x="640080" y="2734056"/>
            <a:ext cx="420624" cy="420624"/>
          </a:xfrm>
          <a:prstGeom prst="ellipse">
            <a:avLst/>
          </a:prstGeom>
          <a:solidFill>
            <a:srgbClr val="1A6068"/>
          </a:solidFill>
          <a:ln/>
        </p:spPr>
      </p:sp>
      <p:sp>
        <p:nvSpPr>
          <p:cNvPr id="5" name="Text 3"/>
          <p:cNvSpPr txBox="1"/>
          <p:nvPr/>
        </p:nvSpPr>
        <p:spPr>
          <a:xfrm>
            <a:off x="640080"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61872" y="269748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investor</a:t>
            </a:r>
            <a:endParaRPr lang="en-US" sz="1500" dirty="0"/>
          </a:p>
        </p:txBody>
      </p:sp>
      <p:sp>
        <p:nvSpPr>
          <p:cNvPr id="7" name="Text 5"/>
          <p:cNvSpPr txBox="1"/>
          <p:nvPr/>
        </p:nvSpPr>
        <p:spPr>
          <a:xfrm>
            <a:off x="1261872" y="3026664"/>
            <a:ext cx="4590288" cy="96012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₹20 lakh for 20% at ₹1 crore post-money. The cheque that funds the first ninety days and the measurement that decides the year.</a:t>
            </a:r>
            <a:endParaRPr lang="en-US" sz="1300" dirty="0"/>
          </a:p>
        </p:txBody>
      </p:sp>
      <p:sp>
        <p:nvSpPr>
          <p:cNvPr id="8" name="Shape 6"/>
          <p:cNvSpPr/>
          <p:nvPr/>
        </p:nvSpPr>
        <p:spPr>
          <a:xfrm>
            <a:off x="6217920" y="2734056"/>
            <a:ext cx="420624" cy="420624"/>
          </a:xfrm>
          <a:prstGeom prst="ellipse">
            <a:avLst/>
          </a:prstGeom>
          <a:solidFill>
            <a:srgbClr val="1A6068"/>
          </a:solidFill>
          <a:ln/>
        </p:spPr>
      </p:sp>
      <p:sp>
        <p:nvSpPr>
          <p:cNvPr id="9" name="Text 7"/>
          <p:cNvSpPr txBox="1"/>
          <p:nvPr/>
        </p:nvSpPr>
        <p:spPr>
          <a:xfrm>
            <a:off x="6217920"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6839712" y="269748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pilot studio</a:t>
            </a:r>
            <a:endParaRPr lang="en-US" sz="1500" dirty="0"/>
          </a:p>
        </p:txBody>
      </p:sp>
      <p:sp>
        <p:nvSpPr>
          <p:cNvPr id="11" name="Text 9"/>
          <p:cNvSpPr txBox="1"/>
          <p:nvPr/>
        </p:nvSpPr>
        <p:spPr>
          <a:xfrm>
            <a:off x="6839712" y="3026664"/>
            <a:ext cx="4590288" cy="96012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Studio number one on the roster. Your rate card is what unblocks the entire quote engine — twenty minutes of work that nothing else can substitute for.</a:t>
            </a:r>
            <a:endParaRPr lang="en-US" sz="1300" dirty="0"/>
          </a:p>
        </p:txBody>
      </p:sp>
      <p:sp>
        <p:nvSpPr>
          <p:cNvPr id="12" name="Shape 10"/>
          <p:cNvSpPr/>
          <p:nvPr/>
        </p:nvSpPr>
        <p:spPr>
          <a:xfrm>
            <a:off x="640080" y="4288536"/>
            <a:ext cx="420624" cy="420624"/>
          </a:xfrm>
          <a:prstGeom prst="ellipse">
            <a:avLst/>
          </a:prstGeom>
          <a:solidFill>
            <a:srgbClr val="1A6068"/>
          </a:solidFill>
          <a:ln/>
        </p:spPr>
      </p:sp>
      <p:sp>
        <p:nvSpPr>
          <p:cNvPr id="13" name="Text 11"/>
          <p:cNvSpPr txBox="1"/>
          <p:nvPr/>
        </p:nvSpPr>
        <p:spPr>
          <a:xfrm>
            <a:off x="640080" y="42885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261872" y="425196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supplier</a:t>
            </a:r>
            <a:endParaRPr lang="en-US" sz="1500" dirty="0"/>
          </a:p>
        </p:txBody>
      </p:sp>
      <p:sp>
        <p:nvSpPr>
          <p:cNvPr id="15" name="Text 13"/>
          <p:cNvSpPr txBox="1"/>
          <p:nvPr/>
        </p:nvSpPr>
        <p:spPr>
          <a:xfrm>
            <a:off x="1261872" y="4581144"/>
            <a:ext cx="4590288" cy="96012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The factory. Selling product through the platform’s studios is the second business, and it is yours to take first.</a:t>
            </a:r>
            <a:endParaRPr lang="en-US" sz="1300" dirty="0"/>
          </a:p>
        </p:txBody>
      </p:sp>
      <p:sp>
        <p:nvSpPr>
          <p:cNvPr id="16" name="Shape 14"/>
          <p:cNvSpPr/>
          <p:nvPr/>
        </p:nvSpPr>
        <p:spPr>
          <a:xfrm>
            <a:off x="6217920" y="4288536"/>
            <a:ext cx="420624" cy="420624"/>
          </a:xfrm>
          <a:prstGeom prst="ellipse">
            <a:avLst/>
          </a:prstGeom>
          <a:solidFill>
            <a:srgbClr val="1A6068"/>
          </a:solidFill>
          <a:ln/>
        </p:spPr>
      </p:sp>
      <p:sp>
        <p:nvSpPr>
          <p:cNvPr id="17" name="Text 15"/>
          <p:cNvSpPr txBox="1"/>
          <p:nvPr/>
        </p:nvSpPr>
        <p:spPr>
          <a:xfrm>
            <a:off x="6217920" y="42885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6839712" y="425196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reference</a:t>
            </a:r>
            <a:endParaRPr lang="en-US" sz="1500" dirty="0"/>
          </a:p>
        </p:txBody>
      </p:sp>
      <p:sp>
        <p:nvSpPr>
          <p:cNvPr id="19" name="Text 17"/>
          <p:cNvSpPr txBox="1"/>
          <p:nvPr/>
        </p:nvSpPr>
        <p:spPr>
          <a:xfrm>
            <a:off x="6839712" y="4581144"/>
            <a:ext cx="4590288" cy="96012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980 real quotation files already shaped the pricing engine. That structure came from your business and nobody else had it.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454B"/>
        </a:solidFill>
      </p:bgPr>
    </p:bg>
    <p:spTree>
      <p:nvGrpSpPr>
        <p:cNvPr id="1" name=""/>
        <p:cNvGrpSpPr/>
        <p:nvPr/>
      </p:nvGrpSpPr>
      <p:grpSpPr>
        <a:xfrm>
          <a:off x="0" y="0"/>
          <a:ext cx="0" cy="0"/>
          <a:chOff x="0" y="0"/>
          <a:chExt cx="0" cy="0"/>
        </a:xfrm>
      </p:grpSpPr>
      <p:sp>
        <p:nvSpPr>
          <p:cNvPr id="2" name="Text 0"/>
          <p:cNvSpPr txBox="1"/>
          <p:nvPr/>
        </p:nvSpPr>
        <p:spPr>
          <a:xfrm>
            <a:off x="640080" y="685800"/>
            <a:ext cx="10908792"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What you get.</a:t>
            </a:r>
            <a:endParaRPr lang="en-US" sz="3800" dirty="0"/>
          </a:p>
        </p:txBody>
      </p:sp>
      <p:sp>
        <p:nvSpPr>
          <p:cNvPr id="3" name="Text 1"/>
          <p:cNvSpPr txBox="1"/>
          <p:nvPr/>
        </p:nvSpPr>
        <p:spPr>
          <a:xfrm>
            <a:off x="640080" y="1508760"/>
            <a:ext cx="10332720" cy="640080"/>
          </a:xfrm>
          <a:prstGeom prst="rect">
            <a:avLst/>
          </a:prstGeom>
          <a:noFill/>
          <a:ln/>
        </p:spPr>
        <p:txBody>
          <a:bodyPr wrap="square" lIns="0" tIns="0" rIns="0" bIns="0" rtlCol="0" anchor="ctr"/>
          <a:lstStyle/>
          <a:p>
            <a:pPr indent="0" marL="0">
              <a:lnSpc>
                <a:spcPct val="125000"/>
              </a:lnSpc>
              <a:buNone/>
            </a:pPr>
            <a:r>
              <a:rPr lang="en-US" sz="1600" dirty="0">
                <a:solidFill>
                  <a:srgbClr val="CFE0E2"/>
                </a:solidFill>
                <a:latin typeface="Calibri" pitchFamily="34" charset="0"/>
                <a:ea typeface="Calibri" pitchFamily="34" charset="-122"/>
                <a:cs typeface="Calibri" pitchFamily="34" charset="-120"/>
              </a:rPr>
              <a:t>₹20 lakh for a fifth of the company, and three things that are not equity.</a:t>
            </a:r>
            <a:endParaRPr lang="en-US" sz="1600" dirty="0"/>
          </a:p>
        </p:txBody>
      </p:sp>
      <p:sp>
        <p:nvSpPr>
          <p:cNvPr id="4" name="Shape 2"/>
          <p:cNvSpPr/>
          <p:nvPr/>
        </p:nvSpPr>
        <p:spPr>
          <a:xfrm>
            <a:off x="640080" y="2377440"/>
            <a:ext cx="2590038" cy="1691640"/>
          </a:xfrm>
          <a:prstGeom prst="roundRect">
            <a:avLst>
              <a:gd name="adj" fmla="val 4324"/>
            </a:avLst>
          </a:prstGeom>
          <a:solidFill>
            <a:srgbClr val="1A6068"/>
          </a:solidFill>
          <a:ln w="12700">
            <a:solidFill>
              <a:srgbClr val="2E7D85"/>
            </a:solidFill>
            <a:prstDash val="solid"/>
          </a:ln>
        </p:spPr>
      </p:sp>
      <p:sp>
        <p:nvSpPr>
          <p:cNvPr id="5" name="Text 3"/>
          <p:cNvSpPr txBox="1"/>
          <p:nvPr/>
        </p:nvSpPr>
        <p:spPr>
          <a:xfrm>
            <a:off x="877824" y="2560320"/>
            <a:ext cx="2114550" cy="548640"/>
          </a:xfrm>
          <a:prstGeom prst="rect">
            <a:avLst/>
          </a:prstGeom>
          <a:noFill/>
          <a:ln/>
        </p:spPr>
        <p:txBody>
          <a:bodyPr wrap="square" lIns="0" tIns="0" rIns="0" bIns="0" rtlCol="0" anchor="ctr"/>
          <a:lstStyle/>
          <a:p>
            <a:pPr indent="0" marL="0">
              <a:buNone/>
            </a:pPr>
            <a:r>
              <a:rPr lang="en-US" sz="2400" b="1" dirty="0">
                <a:solidFill>
                  <a:srgbClr val="C9922A"/>
                </a:solidFill>
                <a:latin typeface="Cambria" pitchFamily="34" charset="0"/>
                <a:ea typeface="Cambria" pitchFamily="34" charset="-122"/>
                <a:cs typeface="Cambria" pitchFamily="34" charset="-120"/>
              </a:rPr>
              <a:t>20%</a:t>
            </a:r>
            <a:endParaRPr lang="en-US" sz="2400" dirty="0"/>
          </a:p>
        </p:txBody>
      </p:sp>
      <p:sp>
        <p:nvSpPr>
          <p:cNvPr id="6" name="Text 4"/>
          <p:cNvSpPr txBox="1"/>
          <p:nvPr/>
        </p:nvSpPr>
        <p:spPr>
          <a:xfrm>
            <a:off x="877824" y="3127248"/>
            <a:ext cx="2114550" cy="822960"/>
          </a:xfrm>
          <a:prstGeom prst="rect">
            <a:avLst/>
          </a:prstGeom>
          <a:noFill/>
          <a:ln/>
        </p:spPr>
        <p:txBody>
          <a:bodyPr wrap="square" lIns="0" tIns="0" rIns="0" bIns="0" rtlCol="0" anchor="t"/>
          <a:lstStyle/>
          <a:p>
            <a:pPr indent="0" marL="0">
              <a:lnSpc>
                <a:spcPct val="118000"/>
              </a:lnSpc>
              <a:buNone/>
            </a:pPr>
            <a:r>
              <a:rPr lang="en-US" sz="1200" dirty="0">
                <a:solidFill>
                  <a:srgbClr val="DCEAEB"/>
                </a:solidFill>
                <a:latin typeface="Calibri" pitchFamily="34" charset="0"/>
                <a:ea typeface="Calibri" pitchFamily="34" charset="-122"/>
                <a:cs typeface="Calibri" pitchFamily="34" charset="-120"/>
              </a:rPr>
              <a:t>of the company at ₹1 crore post-money</a:t>
            </a:r>
            <a:endParaRPr lang="en-US" sz="1200" dirty="0"/>
          </a:p>
        </p:txBody>
      </p:sp>
      <p:sp>
        <p:nvSpPr>
          <p:cNvPr id="7" name="Shape 5"/>
          <p:cNvSpPr/>
          <p:nvPr/>
        </p:nvSpPr>
        <p:spPr>
          <a:xfrm>
            <a:off x="3412998" y="2377440"/>
            <a:ext cx="2590038" cy="1691640"/>
          </a:xfrm>
          <a:prstGeom prst="roundRect">
            <a:avLst>
              <a:gd name="adj" fmla="val 4324"/>
            </a:avLst>
          </a:prstGeom>
          <a:solidFill>
            <a:srgbClr val="1A6068"/>
          </a:solidFill>
          <a:ln w="12700">
            <a:solidFill>
              <a:srgbClr val="2E7D85"/>
            </a:solidFill>
            <a:prstDash val="solid"/>
          </a:ln>
        </p:spPr>
      </p:sp>
      <p:sp>
        <p:nvSpPr>
          <p:cNvPr id="8" name="Text 6"/>
          <p:cNvSpPr txBox="1"/>
          <p:nvPr/>
        </p:nvSpPr>
        <p:spPr>
          <a:xfrm>
            <a:off x="3650742" y="2560320"/>
            <a:ext cx="2114550" cy="548640"/>
          </a:xfrm>
          <a:prstGeom prst="rect">
            <a:avLst/>
          </a:prstGeom>
          <a:noFill/>
          <a:ln/>
        </p:spPr>
        <p:txBody>
          <a:bodyPr wrap="square" lIns="0" tIns="0" rIns="0" bIns="0" rtlCol="0" anchor="ctr"/>
          <a:lstStyle/>
          <a:p>
            <a:pPr indent="0" marL="0">
              <a:buNone/>
            </a:pPr>
            <a:r>
              <a:rPr lang="en-US" sz="2400" b="1" dirty="0">
                <a:solidFill>
                  <a:srgbClr val="C9922A"/>
                </a:solidFill>
                <a:latin typeface="Cambria" pitchFamily="34" charset="0"/>
                <a:ea typeface="Cambria" pitchFamily="34" charset="-122"/>
                <a:cs typeface="Cambria" pitchFamily="34" charset="-120"/>
              </a:rPr>
              <a:t>Free forever</a:t>
            </a:r>
            <a:endParaRPr lang="en-US" sz="2400" dirty="0"/>
          </a:p>
        </p:txBody>
      </p:sp>
      <p:sp>
        <p:nvSpPr>
          <p:cNvPr id="9" name="Text 7"/>
          <p:cNvSpPr txBox="1"/>
          <p:nvPr/>
        </p:nvSpPr>
        <p:spPr>
          <a:xfrm>
            <a:off x="3650742" y="3127248"/>
            <a:ext cx="2114550" cy="822960"/>
          </a:xfrm>
          <a:prstGeom prst="rect">
            <a:avLst/>
          </a:prstGeom>
          <a:noFill/>
          <a:ln/>
        </p:spPr>
        <p:txBody>
          <a:bodyPr wrap="square" lIns="0" tIns="0" rIns="0" bIns="0" rtlCol="0" anchor="t"/>
          <a:lstStyle/>
          <a:p>
            <a:pPr indent="0" marL="0">
              <a:lnSpc>
                <a:spcPct val="118000"/>
              </a:lnSpc>
              <a:buNone/>
            </a:pPr>
            <a:r>
              <a:rPr lang="en-US" sz="1200" dirty="0">
                <a:solidFill>
                  <a:srgbClr val="DCEAEB"/>
                </a:solidFill>
                <a:latin typeface="Calibri" pitchFamily="34" charset="0"/>
                <a:ea typeface="Calibri" pitchFamily="34" charset="-122"/>
                <a:cs typeface="Calibri" pitchFamily="34" charset="-120"/>
              </a:rPr>
              <a:t>the ₹1,00,000/month Luxury listing, at no cost</a:t>
            </a:r>
            <a:endParaRPr lang="en-US" sz="1200" dirty="0"/>
          </a:p>
        </p:txBody>
      </p:sp>
      <p:sp>
        <p:nvSpPr>
          <p:cNvPr id="10" name="Shape 8"/>
          <p:cNvSpPr/>
          <p:nvPr/>
        </p:nvSpPr>
        <p:spPr>
          <a:xfrm>
            <a:off x="6185916" y="2377440"/>
            <a:ext cx="2590038" cy="1691640"/>
          </a:xfrm>
          <a:prstGeom prst="roundRect">
            <a:avLst>
              <a:gd name="adj" fmla="val 4324"/>
            </a:avLst>
          </a:prstGeom>
          <a:solidFill>
            <a:srgbClr val="1A6068"/>
          </a:solidFill>
          <a:ln w="12700">
            <a:solidFill>
              <a:srgbClr val="2E7D85"/>
            </a:solidFill>
            <a:prstDash val="solid"/>
          </a:ln>
        </p:spPr>
      </p:sp>
      <p:sp>
        <p:nvSpPr>
          <p:cNvPr id="11" name="Text 9"/>
          <p:cNvSpPr txBox="1"/>
          <p:nvPr/>
        </p:nvSpPr>
        <p:spPr>
          <a:xfrm>
            <a:off x="6423660" y="2560320"/>
            <a:ext cx="2114550" cy="548640"/>
          </a:xfrm>
          <a:prstGeom prst="rect">
            <a:avLst/>
          </a:prstGeom>
          <a:noFill/>
          <a:ln/>
        </p:spPr>
        <p:txBody>
          <a:bodyPr wrap="square" lIns="0" tIns="0" rIns="0" bIns="0" rtlCol="0" anchor="ctr"/>
          <a:lstStyle/>
          <a:p>
            <a:pPr indent="0" marL="0">
              <a:buNone/>
            </a:pPr>
            <a:r>
              <a:rPr lang="en-US" sz="2400" b="1" dirty="0">
                <a:solidFill>
                  <a:srgbClr val="C9922A"/>
                </a:solidFill>
                <a:latin typeface="Cambria" pitchFamily="34" charset="0"/>
                <a:ea typeface="Cambria" pitchFamily="34" charset="-122"/>
                <a:cs typeface="Cambria" pitchFamily="34" charset="-120"/>
              </a:rPr>
              <a:t>Premium flow</a:t>
            </a:r>
            <a:endParaRPr lang="en-US" sz="2400" dirty="0"/>
          </a:p>
        </p:txBody>
      </p:sp>
      <p:sp>
        <p:nvSpPr>
          <p:cNvPr id="12" name="Text 10"/>
          <p:cNvSpPr txBox="1"/>
          <p:nvPr/>
        </p:nvSpPr>
        <p:spPr>
          <a:xfrm>
            <a:off x="6423660" y="3127248"/>
            <a:ext cx="2114550" cy="822960"/>
          </a:xfrm>
          <a:prstGeom prst="rect">
            <a:avLst/>
          </a:prstGeom>
          <a:noFill/>
          <a:ln/>
        </p:spPr>
        <p:txBody>
          <a:bodyPr wrap="square" lIns="0" tIns="0" rIns="0" bIns="0" rtlCol="0" anchor="t"/>
          <a:lstStyle/>
          <a:p>
            <a:pPr indent="0" marL="0">
              <a:lnSpc>
                <a:spcPct val="118000"/>
              </a:lnSpc>
              <a:buNone/>
            </a:pPr>
            <a:r>
              <a:rPr lang="en-US" sz="1200" dirty="0">
                <a:solidFill>
                  <a:srgbClr val="DCEAEB"/>
                </a:solidFill>
                <a:latin typeface="Calibri" pitchFamily="34" charset="0"/>
                <a:ea typeface="Calibri" pitchFamily="34" charset="-122"/>
                <a:cs typeface="Calibri" pitchFamily="34" charset="-120"/>
              </a:rPr>
              <a:t>first access to the best clients on the platform</a:t>
            </a:r>
            <a:endParaRPr lang="en-US" sz="1200" dirty="0"/>
          </a:p>
        </p:txBody>
      </p:sp>
      <p:sp>
        <p:nvSpPr>
          <p:cNvPr id="13" name="Shape 11"/>
          <p:cNvSpPr/>
          <p:nvPr/>
        </p:nvSpPr>
        <p:spPr>
          <a:xfrm>
            <a:off x="8958834" y="2377440"/>
            <a:ext cx="2590038" cy="1691640"/>
          </a:xfrm>
          <a:prstGeom prst="roundRect">
            <a:avLst>
              <a:gd name="adj" fmla="val 4324"/>
            </a:avLst>
          </a:prstGeom>
          <a:solidFill>
            <a:srgbClr val="1A6068"/>
          </a:solidFill>
          <a:ln w="12700">
            <a:solidFill>
              <a:srgbClr val="2E7D85"/>
            </a:solidFill>
            <a:prstDash val="solid"/>
          </a:ln>
        </p:spPr>
      </p:sp>
      <p:sp>
        <p:nvSpPr>
          <p:cNvPr id="14" name="Text 12"/>
          <p:cNvSpPr txBox="1"/>
          <p:nvPr/>
        </p:nvSpPr>
        <p:spPr>
          <a:xfrm>
            <a:off x="9196578" y="2560320"/>
            <a:ext cx="2114550" cy="548640"/>
          </a:xfrm>
          <a:prstGeom prst="rect">
            <a:avLst/>
          </a:prstGeom>
          <a:noFill/>
          <a:ln/>
        </p:spPr>
        <p:txBody>
          <a:bodyPr wrap="square" lIns="0" tIns="0" rIns="0" bIns="0" rtlCol="0" anchor="ctr"/>
          <a:lstStyle/>
          <a:p>
            <a:pPr indent="0" marL="0">
              <a:buNone/>
            </a:pPr>
            <a:r>
              <a:rPr lang="en-US" sz="2400" b="1" dirty="0">
                <a:solidFill>
                  <a:srgbClr val="C9922A"/>
                </a:solidFill>
                <a:latin typeface="Cambria" pitchFamily="34" charset="0"/>
                <a:ea typeface="Cambria" pitchFamily="34" charset="-122"/>
                <a:cs typeface="Cambria" pitchFamily="34" charset="-120"/>
              </a:rPr>
              <a:t>The factory</a:t>
            </a:r>
            <a:endParaRPr lang="en-US" sz="2400" dirty="0"/>
          </a:p>
        </p:txBody>
      </p:sp>
      <p:sp>
        <p:nvSpPr>
          <p:cNvPr id="15" name="Text 13"/>
          <p:cNvSpPr txBox="1"/>
          <p:nvPr/>
        </p:nvSpPr>
        <p:spPr>
          <a:xfrm>
            <a:off x="9196578" y="3127248"/>
            <a:ext cx="2114550" cy="822960"/>
          </a:xfrm>
          <a:prstGeom prst="rect">
            <a:avLst/>
          </a:prstGeom>
          <a:noFill/>
          <a:ln/>
        </p:spPr>
        <p:txBody>
          <a:bodyPr wrap="square" lIns="0" tIns="0" rIns="0" bIns="0" rtlCol="0" anchor="t"/>
          <a:lstStyle/>
          <a:p>
            <a:pPr indent="0" marL="0">
              <a:lnSpc>
                <a:spcPct val="118000"/>
              </a:lnSpc>
              <a:buNone/>
            </a:pPr>
            <a:r>
              <a:rPr lang="en-US" sz="1200" dirty="0">
                <a:solidFill>
                  <a:srgbClr val="DCEAEB"/>
                </a:solidFill>
                <a:latin typeface="Calibri" pitchFamily="34" charset="0"/>
                <a:ea typeface="Calibri" pitchFamily="34" charset="-122"/>
                <a:cs typeface="Calibri" pitchFamily="34" charset="-120"/>
              </a:rPr>
              <a:t>first refusal on supplying product through the roster</a:t>
            </a:r>
            <a:endParaRPr lang="en-US" sz="1200" dirty="0"/>
          </a:p>
        </p:txBody>
      </p:sp>
      <p:sp>
        <p:nvSpPr>
          <p:cNvPr id="16" name="Text 14"/>
          <p:cNvSpPr txBox="1"/>
          <p:nvPr/>
        </p:nvSpPr>
        <p:spPr>
          <a:xfrm>
            <a:off x="640080" y="4343400"/>
            <a:ext cx="10908792" cy="457200"/>
          </a:xfrm>
          <a:prstGeom prst="rect">
            <a:avLst/>
          </a:prstGeom>
          <a:noFill/>
          <a:ln/>
        </p:spPr>
        <p:txBody>
          <a:bodyPr wrap="square" lIns="0" tIns="0" rIns="0" bIns="0" rtlCol="0" anchor="t"/>
          <a:lstStyle/>
          <a:p>
            <a:pPr indent="0" marL="0">
              <a:buNone/>
            </a:pPr>
            <a:r>
              <a:rPr lang="en-US" sz="2100" b="1" dirty="0">
                <a:solidFill>
                  <a:srgbClr val="C9922A"/>
                </a:solidFill>
                <a:latin typeface="Cambria" pitchFamily="34" charset="0"/>
                <a:ea typeface="Cambria" pitchFamily="34" charset="-122"/>
                <a:cs typeface="Cambria" pitchFamily="34" charset="-120"/>
              </a:rPr>
              <a:t>What the perks are worth, in rupees</a:t>
            </a:r>
            <a:endParaRPr lang="en-US" sz="2100" dirty="0"/>
          </a:p>
        </p:txBody>
      </p:sp>
      <p:sp>
        <p:nvSpPr>
          <p:cNvPr id="17" name="Text 15"/>
          <p:cNvSpPr txBox="1"/>
          <p:nvPr/>
        </p:nvSpPr>
        <p:spPr>
          <a:xfrm>
            <a:off x="640080" y="4846320"/>
            <a:ext cx="10424160" cy="1371600"/>
          </a:xfrm>
          <a:prstGeom prst="rect">
            <a:avLst/>
          </a:prstGeom>
          <a:noFill/>
          <a:ln/>
        </p:spPr>
        <p:txBody>
          <a:bodyPr wrap="square" lIns="0" tIns="0" rIns="0" bIns="0" rtlCol="0" anchor="t"/>
          <a:lstStyle/>
          <a:p>
            <a:pPr indent="0" marL="0">
              <a:lnSpc>
                <a:spcPct val="130000"/>
              </a:lnSpc>
              <a:buNone/>
            </a:pPr>
            <a:r>
              <a:rPr lang="en-US" sz="1400" dirty="0">
                <a:solidFill>
                  <a:srgbClr val="DCEAEB"/>
                </a:solidFill>
                <a:latin typeface="Calibri" pitchFamily="34" charset="0"/>
                <a:ea typeface="Calibri" pitchFamily="34" charset="-122"/>
                <a:cs typeface="Calibri" pitchFamily="34" charset="-120"/>
              </a:rPr>
              <a:t>The Luxury tier is ₹1,00,000 a month. Waived permanently, that is ₹12 lakh a year — more than half the cheque back in year one alone, before a single project closes and before the equity is worth anything.</a:t>
            </a:r>
            <a:endParaRPr lang="en-US" sz="1400" dirty="0"/>
          </a:p>
          <a:p>
            <a:pPr indent="0" marL="0">
              <a:lnSpc>
                <a:spcPct val="130000"/>
              </a:lnSpc>
              <a:buNone/>
            </a:pPr>
            <a:endParaRPr lang="en-US" sz="1400" dirty="0"/>
          </a:p>
          <a:p>
            <a:pPr indent="0" marL="0">
              <a:lnSpc>
                <a:spcPct val="130000"/>
              </a:lnSpc>
              <a:buNone/>
            </a:pPr>
            <a:r>
              <a:rPr lang="en-US" sz="1400" dirty="0">
                <a:solidFill>
                  <a:srgbClr val="DCEAEB"/>
                </a:solidFill>
                <a:latin typeface="Calibri" pitchFamily="34" charset="0"/>
                <a:ea typeface="Calibri" pitchFamily="34" charset="-122"/>
                <a:cs typeface="Calibri" pitchFamily="34" charset="-120"/>
              </a:rPr>
              <a:t>Premium client flow and the factory supply route are on top of that, and neither is available to any other studio at any price.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What is expected of you.</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Three things, and the first one is the whole of the next fortnight.</a:t>
            </a:r>
            <a:endParaRPr lang="en-US" sz="1700" dirty="0"/>
          </a:p>
        </p:txBody>
      </p:sp>
      <p:sp>
        <p:nvSpPr>
          <p:cNvPr id="4" name="Text 2"/>
          <p:cNvSpPr txBox="1"/>
          <p:nvPr/>
        </p:nvSpPr>
        <p:spPr>
          <a:xfrm>
            <a:off x="640080" y="2560320"/>
            <a:ext cx="10908792" cy="237744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500" dirty="0">
                <a:solidFill>
                  <a:srgbClr val="5A544E"/>
                </a:solidFill>
                <a:latin typeface="Calibri" pitchFamily="34" charset="0"/>
                <a:ea typeface="Calibri" pitchFamily="34" charset="-122"/>
                <a:cs typeface="Calibri" pitchFamily="34" charset="-120"/>
              </a:rPr>
              <a:t>The rate card. Twenty minutes entering real rates, and it unblocks the quote engine for every customer on the platform.</a:t>
            </a:r>
            <a:endParaRPr lang="en-US" sz="1500" dirty="0"/>
          </a:p>
          <a:p>
            <a:pPr marL="342900" indent="-342900">
              <a:lnSpc>
                <a:spcPct val="120000"/>
              </a:lnSpc>
              <a:spcAft>
                <a:spcPts val="1200"/>
              </a:spcAft>
              <a:buSzPct val="100000"/>
              <a:buChar char="•"/>
            </a:pPr>
            <a:r>
              <a:rPr lang="en-US" sz="1500" dirty="0">
                <a:solidFill>
                  <a:srgbClr val="5A544E"/>
                </a:solidFill>
                <a:latin typeface="Calibri" pitchFamily="34" charset="0"/>
                <a:ea typeface="Calibri" pitchFamily="34" charset="-122"/>
                <a:cs typeface="Calibri" pitchFamily="34" charset="-120"/>
              </a:rPr>
              <a:t>The ₹20 lakh, on terms — the first ₹25,000 of it has one job, which is measuring what a customer actually costs.</a:t>
            </a:r>
            <a:endParaRPr lang="en-US" sz="1500" dirty="0"/>
          </a:p>
          <a:p>
            <a:pPr marL="342900" indent="-342900">
              <a:lnSpc>
                <a:spcPct val="120000"/>
              </a:lnSpc>
              <a:spcAft>
                <a:spcPts val="1200"/>
              </a:spcAft>
              <a:buSzPct val="100000"/>
              <a:buChar char="•"/>
            </a:pPr>
            <a:r>
              <a:rPr lang="en-US" sz="1500" dirty="0">
                <a:solidFill>
                  <a:srgbClr val="5A544E"/>
                </a:solidFill>
                <a:latin typeface="Calibri" pitchFamily="34" charset="0"/>
                <a:ea typeface="Calibri" pitchFamily="34" charset="-122"/>
                <a:cs typeface="Calibri" pitchFamily="34" charset="-120"/>
              </a:rPr>
              <a:t>An honest answer on milestone-gated payment: will a studio accept being paid against milestones rather than up front? It is the load-bearing assumption of the model.</a:t>
            </a:r>
            <a:endParaRPr lang="en-US" sz="1500" dirty="0"/>
          </a:p>
          <a:p>
            <a:pPr marL="342900" indent="-342900">
              <a:lnSpc>
                <a:spcPct val="120000"/>
              </a:lnSpc>
              <a:spcAft>
                <a:spcPts val="1200"/>
              </a:spcAft>
              <a:buSzPct val="100000"/>
              <a:buChar char="•"/>
            </a:pPr>
            <a:r>
              <a:rPr lang="en-US" sz="1500" dirty="0">
                <a:solidFill>
                  <a:srgbClr val="5A544E"/>
                </a:solidFill>
                <a:latin typeface="Calibri" pitchFamily="34" charset="0"/>
                <a:ea typeface="Calibri" pitchFamily="34" charset="-122"/>
                <a:cs typeface="Calibri" pitchFamily="34" charset="-120"/>
              </a:rPr>
              <a:t>And being studio number one properly — going through verification like everyone else, so the roster has a precedent worth copying.</a:t>
            </a:r>
            <a:endParaRPr lang="en-US" sz="1500" dirty="0"/>
          </a:p>
        </p:txBody>
      </p:sp>
      <p:sp>
        <p:nvSpPr>
          <p:cNvPr id="5" name="Shape 3"/>
          <p:cNvSpPr/>
          <p:nvPr/>
        </p:nvSpPr>
        <p:spPr>
          <a:xfrm>
            <a:off x="640080" y="5120640"/>
            <a:ext cx="10908792" cy="1188720"/>
          </a:xfrm>
          <a:prstGeom prst="roundRect">
            <a:avLst>
              <a:gd name="adj" fmla="val 6154"/>
            </a:avLst>
          </a:prstGeom>
          <a:solidFill>
            <a:srgbClr val="FAEDE6"/>
          </a:solidFill>
          <a:ln w="12700">
            <a:solidFill>
              <a:srgbClr val="E8C9B8"/>
            </a:solidFill>
            <a:prstDash val="solid"/>
          </a:ln>
        </p:spPr>
      </p:sp>
      <p:sp>
        <p:nvSpPr>
          <p:cNvPr id="6" name="Text 4"/>
          <p:cNvSpPr txBox="1"/>
          <p:nvPr/>
        </p:nvSpPr>
        <p:spPr>
          <a:xfrm>
            <a:off x="932688" y="5303520"/>
            <a:ext cx="10323576" cy="868680"/>
          </a:xfrm>
          <a:prstGeom prst="rect">
            <a:avLst/>
          </a:prstGeom>
          <a:noFill/>
          <a:ln/>
        </p:spPr>
        <p:txBody>
          <a:bodyPr wrap="square" lIns="0" tIns="0" rIns="0" bIns="0" rtlCol="0" anchor="t"/>
          <a:lstStyle/>
          <a:p>
            <a:pPr indent="0" marL="0">
              <a:lnSpc>
                <a:spcPct val="122000"/>
              </a:lnSpc>
              <a:buNone/>
            </a:pPr>
            <a:r>
              <a:rPr lang="en-US" sz="1350" dirty="0">
                <a:solidFill>
                  <a:srgbClr val="2A2622"/>
                </a:solidFill>
                <a:latin typeface="Calibri" pitchFamily="34" charset="0"/>
                <a:ea typeface="Calibri" pitchFamily="34" charset="-122"/>
                <a:cs typeface="Calibri" pitchFamily="34" charset="-120"/>
              </a:rPr>
              <a:t>On 16 September the product cannot produce a quote, because no studio has entered a rate card and the pricing code refuses to invent one. That refusal is the whole trust proposition. Your rate card is the thing that turns a finished product into a working one, and it is the single highest-leverage action in the plan.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The cap table.</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₹30 lakh at ₹1 crore post-money. Everyone in one table, in every deck.</a:t>
            </a:r>
            <a:endParaRPr lang="en-US" sz="1700" dirty="0"/>
          </a:p>
        </p:txBody>
      </p:sp>
      <p:sp>
        <p:nvSpPr>
          <p:cNvPr id="4" name="Shape 2"/>
          <p:cNvSpPr/>
          <p:nvPr/>
        </p:nvSpPr>
        <p:spPr>
          <a:xfrm>
            <a:off x="640080" y="2331720"/>
            <a:ext cx="10908792" cy="731520"/>
          </a:xfrm>
          <a:prstGeom prst="roundRect">
            <a:avLst>
              <a:gd name="adj" fmla="val 10000"/>
            </a:avLst>
          </a:prstGeom>
          <a:solidFill>
            <a:srgbClr val="FBF7F0"/>
          </a:solidFill>
          <a:ln w="12700">
            <a:solidFill>
              <a:srgbClr val="E3DCD2"/>
            </a:solidFill>
            <a:prstDash val="solid"/>
          </a:ln>
        </p:spPr>
      </p:sp>
      <p:sp>
        <p:nvSpPr>
          <p:cNvPr id="5" name="Text 3"/>
          <p:cNvSpPr txBox="1"/>
          <p:nvPr/>
        </p:nvSpPr>
        <p:spPr>
          <a:xfrm>
            <a:off x="932688" y="2331720"/>
            <a:ext cx="2743200" cy="749808"/>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Yogesh</a:t>
            </a:r>
            <a:endParaRPr lang="en-US" sz="1500" dirty="0"/>
          </a:p>
        </p:txBody>
      </p:sp>
      <p:sp>
        <p:nvSpPr>
          <p:cNvPr id="6" name="Text 4"/>
          <p:cNvSpPr txBox="1"/>
          <p:nvPr/>
        </p:nvSpPr>
        <p:spPr>
          <a:xfrm>
            <a:off x="3749040" y="2331720"/>
            <a:ext cx="1280160" cy="749808"/>
          </a:xfrm>
          <a:prstGeom prst="rect">
            <a:avLst/>
          </a:prstGeom>
          <a:noFill/>
          <a:ln/>
        </p:spPr>
        <p:txBody>
          <a:bodyPr wrap="square" lIns="0" tIns="0" rIns="0" bIns="0" rtlCol="0" anchor="ctr"/>
          <a:lstStyle/>
          <a:p>
            <a:pPr indent="0" marL="0">
              <a:buNone/>
            </a:pPr>
            <a:r>
              <a:rPr lang="en-US" sz="2000" b="1" dirty="0">
                <a:solidFill>
                  <a:srgbClr val="5A544E"/>
                </a:solidFill>
                <a:latin typeface="Cambria" pitchFamily="34" charset="0"/>
                <a:ea typeface="Cambria" pitchFamily="34" charset="-122"/>
                <a:cs typeface="Cambria" pitchFamily="34" charset="-120"/>
              </a:rPr>
              <a:t>40%</a:t>
            </a:r>
            <a:endParaRPr lang="en-US" sz="2000" dirty="0"/>
          </a:p>
        </p:txBody>
      </p:sp>
      <p:sp>
        <p:nvSpPr>
          <p:cNvPr id="7" name="Text 5"/>
          <p:cNvSpPr txBox="1"/>
          <p:nvPr/>
        </p:nvSpPr>
        <p:spPr>
          <a:xfrm>
            <a:off x="5212080" y="2331720"/>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Founder — the idea, the direction, the decisions</a:t>
            </a:r>
            <a:endParaRPr lang="en-US" sz="1300" dirty="0"/>
          </a:p>
        </p:txBody>
      </p:sp>
      <p:sp>
        <p:nvSpPr>
          <p:cNvPr id="8" name="Shape 6"/>
          <p:cNvSpPr/>
          <p:nvPr/>
        </p:nvSpPr>
        <p:spPr>
          <a:xfrm>
            <a:off x="640080" y="3136392"/>
            <a:ext cx="10908792" cy="731520"/>
          </a:xfrm>
          <a:prstGeom prst="roundRect">
            <a:avLst>
              <a:gd name="adj" fmla="val 10000"/>
            </a:avLst>
          </a:prstGeom>
          <a:solidFill>
            <a:srgbClr val="FBF7F0"/>
          </a:solidFill>
          <a:ln w="12700">
            <a:solidFill>
              <a:srgbClr val="E3DCD2"/>
            </a:solidFill>
            <a:prstDash val="solid"/>
          </a:ln>
        </p:spPr>
      </p:sp>
      <p:sp>
        <p:nvSpPr>
          <p:cNvPr id="9" name="Text 7"/>
          <p:cNvSpPr txBox="1"/>
          <p:nvPr/>
        </p:nvSpPr>
        <p:spPr>
          <a:xfrm>
            <a:off x="932688" y="3136392"/>
            <a:ext cx="2743200" cy="749808"/>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Sanyam</a:t>
            </a:r>
            <a:endParaRPr lang="en-US" sz="1500" dirty="0"/>
          </a:p>
        </p:txBody>
      </p:sp>
      <p:sp>
        <p:nvSpPr>
          <p:cNvPr id="10" name="Text 8"/>
          <p:cNvSpPr txBox="1"/>
          <p:nvPr/>
        </p:nvSpPr>
        <p:spPr>
          <a:xfrm>
            <a:off x="3749040" y="3136392"/>
            <a:ext cx="1280160" cy="749808"/>
          </a:xfrm>
          <a:prstGeom prst="rect">
            <a:avLst/>
          </a:prstGeom>
          <a:noFill/>
          <a:ln/>
        </p:spPr>
        <p:txBody>
          <a:bodyPr wrap="square" lIns="0" tIns="0" rIns="0" bIns="0" rtlCol="0" anchor="ctr"/>
          <a:lstStyle/>
          <a:p>
            <a:pPr indent="0" marL="0">
              <a:buNone/>
            </a:pPr>
            <a:r>
              <a:rPr lang="en-US" sz="2000" b="1" dirty="0">
                <a:solidFill>
                  <a:srgbClr val="5A544E"/>
                </a:solidFill>
                <a:latin typeface="Cambria" pitchFamily="34" charset="0"/>
                <a:ea typeface="Cambria" pitchFamily="34" charset="-122"/>
                <a:cs typeface="Cambria" pitchFamily="34" charset="-120"/>
              </a:rPr>
              <a:t>20%</a:t>
            </a:r>
            <a:endParaRPr lang="en-US" sz="2000" dirty="0"/>
          </a:p>
        </p:txBody>
      </p:sp>
      <p:sp>
        <p:nvSpPr>
          <p:cNvPr id="11" name="Text 9"/>
          <p:cNvSpPr txBox="1"/>
          <p:nvPr/>
        </p:nvSpPr>
        <p:spPr>
          <a:xfrm>
            <a:off x="5212080" y="3136392"/>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Execution — product, studios, customers, operations</a:t>
            </a:r>
            <a:endParaRPr lang="en-US" sz="1300" dirty="0"/>
          </a:p>
        </p:txBody>
      </p:sp>
      <p:sp>
        <p:nvSpPr>
          <p:cNvPr id="12" name="Shape 10"/>
          <p:cNvSpPr/>
          <p:nvPr/>
        </p:nvSpPr>
        <p:spPr>
          <a:xfrm>
            <a:off x="640080" y="3941064"/>
            <a:ext cx="10908792" cy="731520"/>
          </a:xfrm>
          <a:prstGeom prst="roundRect">
            <a:avLst>
              <a:gd name="adj" fmla="val 10000"/>
            </a:avLst>
          </a:prstGeom>
          <a:solidFill>
            <a:srgbClr val="E8F0F0"/>
          </a:solidFill>
          <a:ln w="12700">
            <a:solidFill>
              <a:srgbClr val="1A6068"/>
            </a:solidFill>
            <a:prstDash val="solid"/>
          </a:ln>
        </p:spPr>
      </p:sp>
      <p:sp>
        <p:nvSpPr>
          <p:cNvPr id="13" name="Text 11"/>
          <p:cNvSpPr txBox="1"/>
          <p:nvPr/>
        </p:nvSpPr>
        <p:spPr>
          <a:xfrm>
            <a:off x="932688" y="3941064"/>
            <a:ext cx="2743200" cy="749808"/>
          </a:xfrm>
          <a:prstGeom prst="rect">
            <a:avLst/>
          </a:prstGeom>
          <a:noFill/>
          <a:ln/>
        </p:spPr>
        <p:txBody>
          <a:bodyPr wrap="square" lIns="0" tIns="0" rIns="0" bIns="0" rtlCol="0" anchor="ctr"/>
          <a:lstStyle/>
          <a:p>
            <a:pPr indent="0" marL="0">
              <a:buNone/>
            </a:pPr>
            <a:r>
              <a:rPr lang="en-US" sz="1500" b="1" dirty="0">
                <a:solidFill>
                  <a:srgbClr val="1A6068"/>
                </a:solidFill>
                <a:latin typeface="Calibri" pitchFamily="34" charset="0"/>
                <a:ea typeface="Calibri" pitchFamily="34" charset="-122"/>
                <a:cs typeface="Calibri" pitchFamily="34" charset="-120"/>
              </a:rPr>
              <a:t>Hauspire</a:t>
            </a:r>
            <a:endParaRPr lang="en-US" sz="1500" dirty="0"/>
          </a:p>
        </p:txBody>
      </p:sp>
      <p:sp>
        <p:nvSpPr>
          <p:cNvPr id="14" name="Text 12"/>
          <p:cNvSpPr txBox="1"/>
          <p:nvPr/>
        </p:nvSpPr>
        <p:spPr>
          <a:xfrm>
            <a:off x="3749040" y="3941064"/>
            <a:ext cx="1280160" cy="749808"/>
          </a:xfrm>
          <a:prstGeom prst="rect">
            <a:avLst/>
          </a:prstGeom>
          <a:noFill/>
          <a:ln/>
        </p:spPr>
        <p:txBody>
          <a:bodyPr wrap="square" lIns="0" tIns="0" rIns="0" bIns="0" rtlCol="0" anchor="ctr"/>
          <a:lstStyle/>
          <a:p>
            <a:pPr indent="0" marL="0">
              <a:buNone/>
            </a:pPr>
            <a:r>
              <a:rPr lang="en-US" sz="2000" b="1" dirty="0">
                <a:solidFill>
                  <a:srgbClr val="1A6068"/>
                </a:solidFill>
                <a:latin typeface="Cambria" pitchFamily="34" charset="0"/>
                <a:ea typeface="Cambria" pitchFamily="34" charset="-122"/>
                <a:cs typeface="Cambria" pitchFamily="34" charset="-120"/>
              </a:rPr>
              <a:t>20%</a:t>
            </a:r>
            <a:endParaRPr lang="en-US" sz="2000" dirty="0"/>
          </a:p>
        </p:txBody>
      </p:sp>
      <p:sp>
        <p:nvSpPr>
          <p:cNvPr id="15" name="Text 13"/>
          <p:cNvSpPr txBox="1"/>
          <p:nvPr/>
        </p:nvSpPr>
        <p:spPr>
          <a:xfrm>
            <a:off x="5212080" y="3941064"/>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Investor — ₹20 lakh, and the first pilot studio</a:t>
            </a:r>
            <a:endParaRPr lang="en-US" sz="1300" dirty="0"/>
          </a:p>
        </p:txBody>
      </p:sp>
      <p:sp>
        <p:nvSpPr>
          <p:cNvPr id="16" name="Shape 14"/>
          <p:cNvSpPr/>
          <p:nvPr/>
        </p:nvSpPr>
        <p:spPr>
          <a:xfrm>
            <a:off x="640080" y="4745736"/>
            <a:ext cx="10908792" cy="731520"/>
          </a:xfrm>
          <a:prstGeom prst="roundRect">
            <a:avLst>
              <a:gd name="adj" fmla="val 10000"/>
            </a:avLst>
          </a:prstGeom>
          <a:solidFill>
            <a:srgbClr val="FBF7F0"/>
          </a:solidFill>
          <a:ln w="12700">
            <a:solidFill>
              <a:srgbClr val="E3DCD2"/>
            </a:solidFill>
            <a:prstDash val="solid"/>
          </a:ln>
        </p:spPr>
      </p:sp>
      <p:sp>
        <p:nvSpPr>
          <p:cNvPr id="17" name="Text 15"/>
          <p:cNvSpPr txBox="1"/>
          <p:nvPr/>
        </p:nvSpPr>
        <p:spPr>
          <a:xfrm>
            <a:off x="932688" y="4745736"/>
            <a:ext cx="2743200" cy="749808"/>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Swarupa</a:t>
            </a:r>
            <a:endParaRPr lang="en-US" sz="1500" dirty="0"/>
          </a:p>
        </p:txBody>
      </p:sp>
      <p:sp>
        <p:nvSpPr>
          <p:cNvPr id="18" name="Text 16"/>
          <p:cNvSpPr txBox="1"/>
          <p:nvPr/>
        </p:nvSpPr>
        <p:spPr>
          <a:xfrm>
            <a:off x="3749040" y="4745736"/>
            <a:ext cx="1280160" cy="749808"/>
          </a:xfrm>
          <a:prstGeom prst="rect">
            <a:avLst/>
          </a:prstGeom>
          <a:noFill/>
          <a:ln/>
        </p:spPr>
        <p:txBody>
          <a:bodyPr wrap="square" lIns="0" tIns="0" rIns="0" bIns="0" rtlCol="0" anchor="ctr"/>
          <a:lstStyle/>
          <a:p>
            <a:pPr indent="0" marL="0">
              <a:buNone/>
            </a:pPr>
            <a:r>
              <a:rPr lang="en-US" sz="2000" b="1" dirty="0">
                <a:solidFill>
                  <a:srgbClr val="5A544E"/>
                </a:solidFill>
                <a:latin typeface="Cambria" pitchFamily="34" charset="0"/>
                <a:ea typeface="Cambria" pitchFamily="34" charset="-122"/>
                <a:cs typeface="Cambria" pitchFamily="34" charset="-120"/>
              </a:rPr>
              <a:t>10%</a:t>
            </a:r>
            <a:endParaRPr lang="en-US" sz="2000" dirty="0"/>
          </a:p>
        </p:txBody>
      </p:sp>
      <p:sp>
        <p:nvSpPr>
          <p:cNvPr id="19" name="Text 17"/>
          <p:cNvSpPr txBox="1"/>
          <p:nvPr/>
        </p:nvSpPr>
        <p:spPr>
          <a:xfrm>
            <a:off x="5212080" y="4745736"/>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Investor — ₹10 lakh, and marketing</a:t>
            </a:r>
            <a:endParaRPr lang="en-US" sz="1300" dirty="0"/>
          </a:p>
        </p:txBody>
      </p:sp>
      <p:sp>
        <p:nvSpPr>
          <p:cNvPr id="20" name="Shape 18"/>
          <p:cNvSpPr/>
          <p:nvPr/>
        </p:nvSpPr>
        <p:spPr>
          <a:xfrm>
            <a:off x="640080" y="5550408"/>
            <a:ext cx="10908792" cy="731520"/>
          </a:xfrm>
          <a:prstGeom prst="roundRect">
            <a:avLst>
              <a:gd name="adj" fmla="val 10000"/>
            </a:avLst>
          </a:prstGeom>
          <a:solidFill>
            <a:srgbClr val="FBF7F0"/>
          </a:solidFill>
          <a:ln w="12700">
            <a:solidFill>
              <a:srgbClr val="E3DCD2"/>
            </a:solidFill>
            <a:prstDash val="solid"/>
          </a:ln>
        </p:spPr>
      </p:sp>
      <p:sp>
        <p:nvSpPr>
          <p:cNvPr id="21" name="Text 19"/>
          <p:cNvSpPr txBox="1"/>
          <p:nvPr/>
        </p:nvSpPr>
        <p:spPr>
          <a:xfrm>
            <a:off x="932688" y="5550408"/>
            <a:ext cx="2743200" cy="749808"/>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ESOP pool</a:t>
            </a:r>
            <a:endParaRPr lang="en-US" sz="1500" dirty="0"/>
          </a:p>
        </p:txBody>
      </p:sp>
      <p:sp>
        <p:nvSpPr>
          <p:cNvPr id="22" name="Text 20"/>
          <p:cNvSpPr txBox="1"/>
          <p:nvPr/>
        </p:nvSpPr>
        <p:spPr>
          <a:xfrm>
            <a:off x="3749040" y="5550408"/>
            <a:ext cx="1280160" cy="749808"/>
          </a:xfrm>
          <a:prstGeom prst="rect">
            <a:avLst/>
          </a:prstGeom>
          <a:noFill/>
          <a:ln/>
        </p:spPr>
        <p:txBody>
          <a:bodyPr wrap="square" lIns="0" tIns="0" rIns="0" bIns="0" rtlCol="0" anchor="ctr"/>
          <a:lstStyle/>
          <a:p>
            <a:pPr indent="0" marL="0">
              <a:buNone/>
            </a:pPr>
            <a:r>
              <a:rPr lang="en-US" sz="2000" b="1" dirty="0">
                <a:solidFill>
                  <a:srgbClr val="5A544E"/>
                </a:solidFill>
                <a:latin typeface="Cambria" pitchFamily="34" charset="0"/>
                <a:ea typeface="Cambria" pitchFamily="34" charset="-122"/>
                <a:cs typeface="Cambria" pitchFamily="34" charset="-120"/>
              </a:rPr>
              <a:t>10%</a:t>
            </a:r>
            <a:endParaRPr lang="en-US" sz="2000" dirty="0"/>
          </a:p>
        </p:txBody>
      </p:sp>
      <p:sp>
        <p:nvSpPr>
          <p:cNvPr id="23" name="Text 21"/>
          <p:cNvSpPr txBox="1"/>
          <p:nvPr/>
        </p:nvSpPr>
        <p:spPr>
          <a:xfrm>
            <a:off x="5212080" y="5550408"/>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Reserved for hires the plan already needs</a:t>
            </a:r>
            <a:endParaRPr lang="en-US" sz="1300" dirty="0"/>
          </a:p>
        </p:txBody>
      </p:sp>
      <p:sp>
        <p:nvSpPr>
          <p:cNvPr id="24" name="Text 22"/>
          <p:cNvSpPr txBox="1"/>
          <p:nvPr/>
        </p:nvSpPr>
        <p:spPr>
          <a:xfrm>
            <a:off x="640080" y="6035040"/>
            <a:ext cx="10908792" cy="640080"/>
          </a:xfrm>
          <a:prstGeom prst="rect">
            <a:avLst/>
          </a:prstGeom>
          <a:noFill/>
          <a:ln/>
        </p:spPr>
        <p:txBody>
          <a:bodyPr wrap="square" lIns="0" tIns="0" rIns="0" bIns="0" rtlCol="0" anchor="t"/>
          <a:lstStyle/>
          <a:p>
            <a:pPr indent="0" marL="0">
              <a:lnSpc>
                <a:spcPct val="120000"/>
              </a:lnSpc>
              <a:buNone/>
            </a:pPr>
            <a:r>
              <a:rPr lang="en-US" sz="1300" dirty="0">
                <a:solidFill>
                  <a:srgbClr val="8B847C"/>
                </a:solidFill>
                <a:latin typeface="Calibri" pitchFamily="34" charset="0"/>
                <a:ea typeface="Calibri" pitchFamily="34" charset="-122"/>
                <a:cs typeface="Calibri" pitchFamily="34" charset="-120"/>
              </a:rPr>
              <a:t>The 10% pool is reserved, not held by anyone. The plan needs an expert, an ops person per city and engineers — reserving now is far cheaper than diluting everybody later. ₹30 lakh in, 30% sold, ₹70 lakh pre-money.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What would make this fail — for you.</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Every one of these is measurable inside ninety days.</a:t>
            </a:r>
            <a:endParaRPr lang="en-US" sz="1700" dirty="0"/>
          </a:p>
        </p:txBody>
      </p:sp>
      <p:sp>
        <p:nvSpPr>
          <p:cNvPr id="4" name="Shape 2"/>
          <p:cNvSpPr/>
          <p:nvPr/>
        </p:nvSpPr>
        <p:spPr>
          <a:xfrm>
            <a:off x="640080" y="2560320"/>
            <a:ext cx="10908792" cy="1024128"/>
          </a:xfrm>
          <a:prstGeom prst="roundRect">
            <a:avLst>
              <a:gd name="adj" fmla="val 7143"/>
            </a:avLst>
          </a:prstGeom>
          <a:solidFill>
            <a:srgbClr val="FFFFFF"/>
          </a:solidFill>
          <a:ln w="12700">
            <a:solidFill>
              <a:srgbClr val="E3DCD2"/>
            </a:solidFill>
            <a:prstDash val="solid"/>
          </a:ln>
        </p:spPr>
      </p:sp>
      <p:sp>
        <p:nvSpPr>
          <p:cNvPr id="5" name="Text 3"/>
          <p:cNvSpPr txBox="1"/>
          <p:nvPr/>
        </p:nvSpPr>
        <p:spPr>
          <a:xfrm>
            <a:off x="914400" y="2615184"/>
            <a:ext cx="4023360" cy="914400"/>
          </a:xfrm>
          <a:prstGeom prst="rect">
            <a:avLst/>
          </a:prstGeom>
          <a:noFill/>
          <a:ln/>
        </p:spPr>
        <p:txBody>
          <a:bodyPr wrap="square" lIns="0" tIns="0" rIns="0" bIns="0" rtlCol="0" anchor="ctr"/>
          <a:lstStyle/>
          <a:p>
            <a:pPr indent="0" marL="0">
              <a:lnSpc>
                <a:spcPct val="110000"/>
              </a:lnSpc>
              <a:buNone/>
            </a:pPr>
            <a:r>
              <a:rPr lang="en-US" sz="1400" b="1" dirty="0">
                <a:solidFill>
                  <a:srgbClr val="2A2622"/>
                </a:solidFill>
                <a:latin typeface="Calibri" pitchFamily="34" charset="0"/>
                <a:ea typeface="Calibri" pitchFamily="34" charset="-122"/>
                <a:cs typeface="Calibri" pitchFamily="34" charset="-120"/>
              </a:rPr>
              <a:t>The round buys a measurement, not a business</a:t>
            </a:r>
            <a:endParaRPr lang="en-US" sz="1400" dirty="0"/>
          </a:p>
        </p:txBody>
      </p:sp>
      <p:sp>
        <p:nvSpPr>
          <p:cNvPr id="6" name="Text 4"/>
          <p:cNvSpPr txBox="1"/>
          <p:nvPr/>
        </p:nvSpPr>
        <p:spPr>
          <a:xfrm>
            <a:off x="5212080" y="2615184"/>
            <a:ext cx="6126480" cy="914400"/>
          </a:xfrm>
          <a:prstGeom prst="rect">
            <a:avLst/>
          </a:prstGeom>
          <a:noFill/>
          <a:ln/>
        </p:spPr>
        <p:txBody>
          <a:bodyPr wrap="square" lIns="0" tIns="0" rIns="0" bIns="0" rtlCol="0" anchor="ctr"/>
          <a:lstStyle/>
          <a:p>
            <a:pPr indent="0" marL="0">
              <a:lnSpc>
                <a:spcPct val="118000"/>
              </a:lnSpc>
              <a:buNone/>
            </a:pPr>
            <a:r>
              <a:rPr lang="en-US" sz="1250" dirty="0">
                <a:solidFill>
                  <a:srgbClr val="5A544E"/>
                </a:solidFill>
                <a:latin typeface="Calibri" pitchFamily="34" charset="0"/>
                <a:ea typeface="Calibri" pitchFamily="34" charset="-122"/>
                <a:cs typeface="Calibri" pitchFamily="34" charset="-120"/>
              </a:rPr>
              <a:t>₹30 lakh funds ninety days and one number: what a customer costs. If that number is twelve times the model, the year is replanned rather than executed.</a:t>
            </a:r>
            <a:endParaRPr lang="en-US" sz="1250" dirty="0"/>
          </a:p>
        </p:txBody>
      </p:sp>
      <p:sp>
        <p:nvSpPr>
          <p:cNvPr id="7" name="Shape 5"/>
          <p:cNvSpPr/>
          <p:nvPr/>
        </p:nvSpPr>
        <p:spPr>
          <a:xfrm>
            <a:off x="640080" y="3657600"/>
            <a:ext cx="10908792" cy="1024128"/>
          </a:xfrm>
          <a:prstGeom prst="roundRect">
            <a:avLst>
              <a:gd name="adj" fmla="val 7143"/>
            </a:avLst>
          </a:prstGeom>
          <a:solidFill>
            <a:srgbClr val="FFFFFF"/>
          </a:solidFill>
          <a:ln w="12700">
            <a:solidFill>
              <a:srgbClr val="E3DCD2"/>
            </a:solidFill>
            <a:prstDash val="solid"/>
          </a:ln>
        </p:spPr>
      </p:sp>
      <p:sp>
        <p:nvSpPr>
          <p:cNvPr id="8" name="Text 6"/>
          <p:cNvSpPr txBox="1"/>
          <p:nvPr/>
        </p:nvSpPr>
        <p:spPr>
          <a:xfrm>
            <a:off x="914400" y="3712464"/>
            <a:ext cx="4023360" cy="914400"/>
          </a:xfrm>
          <a:prstGeom prst="rect">
            <a:avLst/>
          </a:prstGeom>
          <a:noFill/>
          <a:ln/>
        </p:spPr>
        <p:txBody>
          <a:bodyPr wrap="square" lIns="0" tIns="0" rIns="0" bIns="0" rtlCol="0" anchor="ctr"/>
          <a:lstStyle/>
          <a:p>
            <a:pPr indent="0" marL="0">
              <a:lnSpc>
                <a:spcPct val="110000"/>
              </a:lnSpc>
              <a:buNone/>
            </a:pPr>
            <a:r>
              <a:rPr lang="en-US" sz="1400" b="1" dirty="0">
                <a:solidFill>
                  <a:srgbClr val="2A2622"/>
                </a:solidFill>
                <a:latin typeface="Calibri" pitchFamily="34" charset="0"/>
                <a:ea typeface="Calibri" pitchFamily="34" charset="-122"/>
                <a:cs typeface="Calibri" pitchFamily="34" charset="-120"/>
              </a:rPr>
              <a:t>Acquisition costs ₹25,000, not ₹2,000</a:t>
            </a:r>
            <a:endParaRPr lang="en-US" sz="1400" dirty="0"/>
          </a:p>
        </p:txBody>
      </p:sp>
      <p:sp>
        <p:nvSpPr>
          <p:cNvPr id="9" name="Text 7"/>
          <p:cNvSpPr txBox="1"/>
          <p:nvPr/>
        </p:nvSpPr>
        <p:spPr>
          <a:xfrm>
            <a:off x="5212080" y="3712464"/>
            <a:ext cx="6126480" cy="914400"/>
          </a:xfrm>
          <a:prstGeom prst="rect">
            <a:avLst/>
          </a:prstGeom>
          <a:noFill/>
          <a:ln/>
        </p:spPr>
        <p:txBody>
          <a:bodyPr wrap="square" lIns="0" tIns="0" rIns="0" bIns="0" rtlCol="0" anchor="ctr"/>
          <a:lstStyle/>
          <a:p>
            <a:pPr indent="0" marL="0">
              <a:lnSpc>
                <a:spcPct val="118000"/>
              </a:lnSpc>
              <a:buNone/>
            </a:pPr>
            <a:r>
              <a:rPr lang="en-US" sz="1250" dirty="0">
                <a:solidFill>
                  <a:srgbClr val="5A544E"/>
                </a:solidFill>
                <a:latin typeface="Calibri" pitchFamily="34" charset="0"/>
                <a:ea typeface="Calibri" pitchFamily="34" charset="-122"/>
                <a:cs typeface="Calibri" pitchFamily="34" charset="-120"/>
              </a:rPr>
              <a:t>The model says one, the kill-criteria say the other, and only one can be the plan. Week three tells us which.</a:t>
            </a:r>
            <a:endParaRPr lang="en-US" sz="1250" dirty="0"/>
          </a:p>
        </p:txBody>
      </p:sp>
      <p:sp>
        <p:nvSpPr>
          <p:cNvPr id="10" name="Shape 8"/>
          <p:cNvSpPr/>
          <p:nvPr/>
        </p:nvSpPr>
        <p:spPr>
          <a:xfrm>
            <a:off x="640080" y="4754880"/>
            <a:ext cx="10908792" cy="1024128"/>
          </a:xfrm>
          <a:prstGeom prst="roundRect">
            <a:avLst>
              <a:gd name="adj" fmla="val 7143"/>
            </a:avLst>
          </a:prstGeom>
          <a:solidFill>
            <a:srgbClr val="FFFFFF"/>
          </a:solidFill>
          <a:ln w="12700">
            <a:solidFill>
              <a:srgbClr val="E3DCD2"/>
            </a:solidFill>
            <a:prstDash val="solid"/>
          </a:ln>
        </p:spPr>
      </p:sp>
      <p:sp>
        <p:nvSpPr>
          <p:cNvPr id="11" name="Text 9"/>
          <p:cNvSpPr txBox="1"/>
          <p:nvPr/>
        </p:nvSpPr>
        <p:spPr>
          <a:xfrm>
            <a:off x="914400" y="4809744"/>
            <a:ext cx="4023360" cy="914400"/>
          </a:xfrm>
          <a:prstGeom prst="rect">
            <a:avLst/>
          </a:prstGeom>
          <a:noFill/>
          <a:ln/>
        </p:spPr>
        <p:txBody>
          <a:bodyPr wrap="square" lIns="0" tIns="0" rIns="0" bIns="0" rtlCol="0" anchor="ctr"/>
          <a:lstStyle/>
          <a:p>
            <a:pPr indent="0" marL="0">
              <a:lnSpc>
                <a:spcPct val="110000"/>
              </a:lnSpc>
              <a:buNone/>
            </a:pPr>
            <a:r>
              <a:rPr lang="en-US" sz="1400" b="1" dirty="0">
                <a:solidFill>
                  <a:srgbClr val="2A2622"/>
                </a:solidFill>
                <a:latin typeface="Calibri" pitchFamily="34" charset="0"/>
                <a:ea typeface="Calibri" pitchFamily="34" charset="-122"/>
                <a:cs typeface="Calibri" pitchFamily="34" charset="-120"/>
              </a:rPr>
              <a:t>Studios refuse milestone payment</a:t>
            </a:r>
            <a:endParaRPr lang="en-US" sz="1400" dirty="0"/>
          </a:p>
        </p:txBody>
      </p:sp>
      <p:sp>
        <p:nvSpPr>
          <p:cNvPr id="12" name="Text 10"/>
          <p:cNvSpPr txBox="1"/>
          <p:nvPr/>
        </p:nvSpPr>
        <p:spPr>
          <a:xfrm>
            <a:off x="5212080" y="4809744"/>
            <a:ext cx="6126480" cy="914400"/>
          </a:xfrm>
          <a:prstGeom prst="rect">
            <a:avLst/>
          </a:prstGeom>
          <a:noFill/>
          <a:ln/>
        </p:spPr>
        <p:txBody>
          <a:bodyPr wrap="square" lIns="0" tIns="0" rIns="0" bIns="0" rtlCol="0" anchor="ctr"/>
          <a:lstStyle/>
          <a:p>
            <a:pPr indent="0" marL="0">
              <a:lnSpc>
                <a:spcPct val="118000"/>
              </a:lnSpc>
              <a:buNone/>
            </a:pPr>
            <a:r>
              <a:rPr lang="en-US" sz="1250" dirty="0">
                <a:solidFill>
                  <a:srgbClr val="5A544E"/>
                </a:solidFill>
                <a:latin typeface="Calibri" pitchFamily="34" charset="0"/>
                <a:ea typeface="Calibri" pitchFamily="34" charset="-122"/>
                <a:cs typeface="Calibri" pitchFamily="34" charset="-120"/>
              </a:rPr>
              <a:t>The assumption most likely to be false, and you are one of the two people who can answer it for free, today.</a:t>
            </a:r>
            <a:endParaRPr lang="en-US" sz="1250" dirty="0"/>
          </a:p>
        </p:txBody>
      </p:sp>
      <p:sp>
        <p:nvSpPr>
          <p:cNvPr id="13" name="Shape 11"/>
          <p:cNvSpPr/>
          <p:nvPr/>
        </p:nvSpPr>
        <p:spPr>
          <a:xfrm>
            <a:off x="640080" y="5852160"/>
            <a:ext cx="10908792" cy="1024128"/>
          </a:xfrm>
          <a:prstGeom prst="roundRect">
            <a:avLst>
              <a:gd name="adj" fmla="val 7143"/>
            </a:avLst>
          </a:prstGeom>
          <a:solidFill>
            <a:srgbClr val="FFFFFF"/>
          </a:solidFill>
          <a:ln w="12700">
            <a:solidFill>
              <a:srgbClr val="E3DCD2"/>
            </a:solidFill>
            <a:prstDash val="solid"/>
          </a:ln>
        </p:spPr>
      </p:sp>
      <p:sp>
        <p:nvSpPr>
          <p:cNvPr id="14" name="Text 12"/>
          <p:cNvSpPr txBox="1"/>
          <p:nvPr/>
        </p:nvSpPr>
        <p:spPr>
          <a:xfrm>
            <a:off x="914400" y="5907024"/>
            <a:ext cx="4023360" cy="914400"/>
          </a:xfrm>
          <a:prstGeom prst="rect">
            <a:avLst/>
          </a:prstGeom>
          <a:noFill/>
          <a:ln/>
        </p:spPr>
        <p:txBody>
          <a:bodyPr wrap="square" lIns="0" tIns="0" rIns="0" bIns="0" rtlCol="0" anchor="ctr"/>
          <a:lstStyle/>
          <a:p>
            <a:pPr indent="0" marL="0">
              <a:lnSpc>
                <a:spcPct val="110000"/>
              </a:lnSpc>
              <a:buNone/>
            </a:pPr>
            <a:r>
              <a:rPr lang="en-US" sz="1400" b="1" dirty="0">
                <a:solidFill>
                  <a:srgbClr val="2A2622"/>
                </a:solidFill>
                <a:latin typeface="Calibri" pitchFamily="34" charset="0"/>
                <a:ea typeface="Calibri" pitchFamily="34" charset="-122"/>
                <a:cs typeface="Calibri" pitchFamily="34" charset="-120"/>
              </a:rPr>
              <a:t>Escrow is not legal for us</a:t>
            </a:r>
            <a:endParaRPr lang="en-US" sz="1400" dirty="0"/>
          </a:p>
        </p:txBody>
      </p:sp>
      <p:sp>
        <p:nvSpPr>
          <p:cNvPr id="15" name="Text 13"/>
          <p:cNvSpPr txBox="1"/>
          <p:nvPr/>
        </p:nvSpPr>
        <p:spPr>
          <a:xfrm>
            <a:off x="5212080" y="5907024"/>
            <a:ext cx="6126480" cy="914400"/>
          </a:xfrm>
          <a:prstGeom prst="rect">
            <a:avLst/>
          </a:prstGeom>
          <a:noFill/>
          <a:ln/>
        </p:spPr>
        <p:txBody>
          <a:bodyPr wrap="square" lIns="0" tIns="0" rIns="0" bIns="0" rtlCol="0" anchor="ctr"/>
          <a:lstStyle/>
          <a:p>
            <a:pPr indent="0" marL="0">
              <a:lnSpc>
                <a:spcPct val="118000"/>
              </a:lnSpc>
              <a:buNone/>
            </a:pPr>
            <a:r>
              <a:rPr lang="en-US" sz="1250" dirty="0">
                <a:solidFill>
                  <a:srgbClr val="5A544E"/>
                </a:solidFill>
                <a:latin typeface="Calibri" pitchFamily="34" charset="0"/>
                <a:ea typeface="Calibri" pitchFamily="34" charset="-122"/>
                <a:cs typeface="Calibri" pitchFamily="34" charset="-120"/>
              </a:rPr>
              <a:t>Removes 14% of year-two revenue. Year one is unaffected; the repositioning is not.</a:t>
            </a:r>
            <a:endParaRPr lang="en-US" sz="1250" dirty="0"/>
          </a:p>
        </p:txBody>
      </p:sp>
      <p:sp>
        <p:nvSpPr>
          <p:cNvPr id="16" name="Text 14"/>
          <p:cNvSpPr txBox="1"/>
          <p:nvPr/>
        </p:nvSpPr>
        <p:spPr>
          <a:xfrm>
            <a:off x="640080" y="7178040"/>
            <a:ext cx="10908792" cy="548640"/>
          </a:xfrm>
          <a:prstGeom prst="rect">
            <a:avLst/>
          </a:prstGeom>
          <a:noFill/>
          <a:ln/>
        </p:spPr>
        <p:txBody>
          <a:bodyPr wrap="square" lIns="0" tIns="0" rIns="0" bIns="0" rtlCol="0" anchor="t"/>
          <a:lstStyle/>
          <a:p>
            <a:pPr indent="0" marL="0">
              <a:buNone/>
            </a:pPr>
            <a:r>
              <a:rPr lang="en-US" sz="1600" b="1" dirty="0">
                <a:solidFill>
                  <a:srgbClr val="1A6068"/>
                </a:solidFill>
                <a:latin typeface="Cambria" pitchFamily="34" charset="0"/>
                <a:ea typeface="Cambria" pitchFamily="34" charset="-122"/>
                <a:cs typeface="Cambria" pitchFamily="34" charset="-120"/>
              </a:rPr>
              <a:t>Ninety days and ₹30 lakh to find out, rather than two crore and a year.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454B"/>
        </a:solidFill>
      </p:bgPr>
    </p:bg>
    <p:spTree>
      <p:nvGrpSpPr>
        <p:cNvPr id="1" name=""/>
        <p:cNvGrpSpPr/>
        <p:nvPr/>
      </p:nvGrpSpPr>
      <p:grpSpPr>
        <a:xfrm>
          <a:off x="0" y="0"/>
          <a:ext cx="0" cy="0"/>
          <a:chOff x="0" y="0"/>
          <a:chExt cx="0" cy="0"/>
        </a:xfrm>
      </p:grpSpPr>
      <p:sp>
        <p:nvSpPr>
          <p:cNvPr id="2" name="Text 0"/>
          <p:cNvSpPr txBox="1"/>
          <p:nvPr/>
        </p:nvSpPr>
        <p:spPr>
          <a:xfrm>
            <a:off x="640080" y="1920240"/>
            <a:ext cx="10515600" cy="1463040"/>
          </a:xfrm>
          <a:prstGeom prst="rect">
            <a:avLst/>
          </a:prstGeom>
          <a:noFill/>
          <a:ln/>
        </p:spPr>
        <p:txBody>
          <a:bodyPr wrap="square" lIns="0" tIns="0" rIns="0" bIns="0" rtlCol="0" anchor="ctr"/>
          <a:lstStyle/>
          <a:p>
            <a:pPr indent="0" marL="0">
              <a:lnSpc>
                <a:spcPct val="112000"/>
              </a:lnSpc>
              <a:buNone/>
            </a:pPr>
            <a:r>
              <a:rPr lang="en-US" sz="3800" b="1" dirty="0">
                <a:solidFill>
                  <a:srgbClr val="FFFFFF"/>
                </a:solidFill>
                <a:latin typeface="Cambria" pitchFamily="34" charset="0"/>
                <a:ea typeface="Cambria" pitchFamily="34" charset="-122"/>
                <a:cs typeface="Cambria" pitchFamily="34" charset="-120"/>
              </a:rPr>
              <a:t>₹20 lakh, 20%,</a:t>
            </a:r>
            <a:endParaRPr lang="en-US" sz="3800" dirty="0"/>
          </a:p>
          <a:p>
            <a:pPr indent="0" marL="0">
              <a:lnSpc>
                <a:spcPct val="112000"/>
              </a:lnSpc>
              <a:buNone/>
            </a:pPr>
            <a:r>
              <a:rPr lang="en-US" sz="3800" b="1" dirty="0">
                <a:solidFill>
                  <a:srgbClr val="FFFFFF"/>
                </a:solidFill>
                <a:latin typeface="Cambria" pitchFamily="34" charset="0"/>
                <a:ea typeface="Cambria" pitchFamily="34" charset="-122"/>
                <a:cs typeface="Cambria" pitchFamily="34" charset="-120"/>
              </a:rPr>
              <a:t>and a permanent seat on the roster.</a:t>
            </a:r>
            <a:endParaRPr lang="en-US" sz="3800" dirty="0"/>
          </a:p>
        </p:txBody>
      </p:sp>
      <p:sp>
        <p:nvSpPr>
          <p:cNvPr id="3" name="Text 1"/>
          <p:cNvSpPr txBox="1"/>
          <p:nvPr/>
        </p:nvSpPr>
        <p:spPr>
          <a:xfrm>
            <a:off x="640080" y="3566160"/>
            <a:ext cx="9692640" cy="1645920"/>
          </a:xfrm>
          <a:prstGeom prst="rect">
            <a:avLst/>
          </a:prstGeom>
          <a:noFill/>
          <a:ln/>
        </p:spPr>
        <p:txBody>
          <a:bodyPr wrap="square" lIns="0" tIns="0" rIns="0" bIns="0" rtlCol="0" anchor="ctr"/>
          <a:lstStyle/>
          <a:p>
            <a:pPr indent="0" marL="0">
              <a:lnSpc>
                <a:spcPct val="130000"/>
              </a:lnSpc>
              <a:buNone/>
            </a:pPr>
            <a:r>
              <a:rPr lang="en-US" sz="1600" dirty="0">
                <a:solidFill>
                  <a:srgbClr val="CFE0E2"/>
                </a:solidFill>
                <a:latin typeface="Calibri" pitchFamily="34" charset="0"/>
                <a:ea typeface="Calibri" pitchFamily="34" charset="-122"/>
                <a:cs typeface="Calibri" pitchFamily="34" charset="-120"/>
              </a:rPr>
              <a:t>The Luxury listing alone returns more than half the cheque in the first year. The equity is the upside on top of it, and the factory route is the second business after that.</a:t>
            </a:r>
            <a:endParaRPr lang="en-US" sz="1600" dirty="0"/>
          </a:p>
          <a:p>
            <a:pPr indent="0" marL="0">
              <a:lnSpc>
                <a:spcPct val="130000"/>
              </a:lnSpc>
              <a:buNone/>
            </a:pPr>
            <a:endParaRPr lang="en-US" sz="1600" dirty="0"/>
          </a:p>
          <a:p>
            <a:pPr indent="0" marL="0">
              <a:lnSpc>
                <a:spcPct val="130000"/>
              </a:lnSpc>
              <a:buNone/>
            </a:pPr>
            <a:r>
              <a:rPr lang="en-US" sz="1600" dirty="0">
                <a:solidFill>
                  <a:srgbClr val="CFE0E2"/>
                </a:solidFill>
                <a:latin typeface="Calibri" pitchFamily="34" charset="0"/>
                <a:ea typeface="Calibri" pitchFamily="34" charset="-122"/>
                <a:cs typeface="Calibri" pitchFamily="34" charset="-120"/>
              </a:rPr>
              <a:t>What it needs from you this week is not the money — it is twenty minutes with a rate card.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Interiors — Hauspire</dc:title>
  <dc:subject>PptxGenJS Presentation</dc:subject>
  <dc:creator>One Interiors</dc:creator>
  <cp:lastModifiedBy>One Interiors</cp:lastModifiedBy>
  <cp:revision>1</cp:revision>
  <dcterms:created xsi:type="dcterms:W3CDTF">2026-09-13T14:57:20Z</dcterms:created>
  <dcterms:modified xsi:type="dcterms:W3CDTF">2026-09-13T14:57:20Z</dcterms:modified>
</cp:coreProperties>
</file>