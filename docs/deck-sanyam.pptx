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about the role with the most hours in it and the least optionality. Be straight about both halves.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in the room. Everybody here already knows what the company is; this slide exists so the three decks start from the same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this. A shareholder who discovers it later stops believing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24 is on this slide on purpose. Our own model says the roster does not reach 50 at the churn we assumed, and everyone signing should have seen that number before they 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out loud: this is four jobs. The plan assumes 0.9 full-time experts in year one and does not name who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salary number is not on this slide because it is not settled. Do not present a figure you have not 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salary gap was the biggest quiet risk in this relationship. The ₹30 lakh round closes it — but only if the number is actually agreed, not left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table in all three decks, deliberately. Anyone comparing their copy with another should find the facts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failure modes for Sanyam specifically are organisational, not market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ask: settle the salary and the cover plan before 16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454B"/>
        </a:solidFill>
      </p:bgPr>
    </p:bg>
    <p:spTree>
      <p:nvGrpSpPr>
        <p:cNvPr id="1" name=""/>
        <p:cNvGrpSpPr/>
        <p:nvPr/>
      </p:nvGrpSpPr>
      <p:grpSpPr>
        <a:xfrm>
          <a:off x="0" y="0"/>
          <a:ext cx="0" cy="0"/>
          <a:chOff x="0" y="0"/>
          <a:chExt cx="0" cy="0"/>
        </a:xfrm>
      </p:grpSpPr>
      <p:sp>
        <p:nvSpPr>
          <p:cNvPr id="2" name="Text 0"/>
          <p:cNvSpPr txBox="1"/>
          <p:nvPr/>
        </p:nvSpPr>
        <p:spPr>
          <a:xfrm>
            <a:off x="640080" y="1828800"/>
            <a:ext cx="10908792"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Sanyam</a:t>
            </a:r>
            <a:endParaRPr lang="en-US" sz="4600" dirty="0"/>
          </a:p>
        </p:txBody>
      </p:sp>
      <p:sp>
        <p:nvSpPr>
          <p:cNvPr id="3" name="Text 1"/>
          <p:cNvSpPr txBox="1"/>
          <p:nvPr/>
        </p:nvSpPr>
        <p:spPr>
          <a:xfrm>
            <a:off x="640080" y="2697480"/>
            <a:ext cx="9144000" cy="548640"/>
          </a:xfrm>
          <a:prstGeom prst="rect">
            <a:avLst/>
          </a:prstGeom>
          <a:noFill/>
          <a:ln/>
        </p:spPr>
        <p:txBody>
          <a:bodyPr wrap="square" lIns="0" tIns="0" rIns="0" bIns="0" rtlCol="0" anchor="ctr"/>
          <a:lstStyle/>
          <a:p>
            <a:pPr indent="0" marL="0">
              <a:buNone/>
            </a:pPr>
            <a:r>
              <a:rPr lang="en-US" sz="2400" i="1" dirty="0">
                <a:solidFill>
                  <a:srgbClr val="C9922A"/>
                </a:solidFill>
                <a:latin typeface="Cambria" pitchFamily="34" charset="0"/>
                <a:ea typeface="Cambria" pitchFamily="34" charset="-122"/>
                <a:cs typeface="Cambria" pitchFamily="34" charset="-120"/>
              </a:rPr>
              <a:t>Execution — everything that has to actually happen</a:t>
            </a:r>
            <a:endParaRPr lang="en-US" sz="2400" dirty="0"/>
          </a:p>
        </p:txBody>
      </p:sp>
      <p:sp>
        <p:nvSpPr>
          <p:cNvPr id="4" name="Text 2"/>
          <p:cNvSpPr txBox="1"/>
          <p:nvPr/>
        </p:nvSpPr>
        <p:spPr>
          <a:xfrm>
            <a:off x="640080" y="3474720"/>
            <a:ext cx="8046720" cy="1280160"/>
          </a:xfrm>
          <a:prstGeom prst="rect">
            <a:avLst/>
          </a:prstGeom>
          <a:noFill/>
          <a:ln/>
        </p:spPr>
        <p:txBody>
          <a:bodyPr wrap="square" lIns="0" tIns="0" rIns="0" bIns="0" rtlCol="0" anchor="ctr"/>
          <a:lstStyle/>
          <a:p>
            <a:pPr indent="0" marL="0">
              <a:lnSpc>
                <a:spcPct val="130000"/>
              </a:lnSpc>
              <a:buNone/>
            </a:pPr>
            <a:r>
              <a:rPr lang="en-US" sz="1600" dirty="0">
                <a:solidFill>
                  <a:srgbClr val="CFE0E2"/>
                </a:solidFill>
                <a:latin typeface="Calibri" pitchFamily="34" charset="0"/>
                <a:ea typeface="Calibri" pitchFamily="34" charset="-122"/>
                <a:cs typeface="Calibri" pitchFamily="34" charset="-120"/>
              </a:rPr>
              <a:t>The product is built. What decides whether this works now is studios signed, briefs collected and calls run — and that is one person’s job.</a:t>
            </a:r>
            <a:endParaRPr lang="en-US" sz="1600" dirty="0"/>
          </a:p>
        </p:txBody>
      </p:sp>
      <p:sp>
        <p:nvSpPr>
          <p:cNvPr id="5" name="Text 3"/>
          <p:cNvSpPr txBox="1"/>
          <p:nvPr/>
        </p:nvSpPr>
        <p:spPr>
          <a:xfrm>
            <a:off x="640080" y="5394960"/>
            <a:ext cx="82296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One Interiors  ·  Pune  ·  September 2026</a:t>
            </a:r>
            <a:endParaRPr lang="en-US" sz="1400" dirty="0"/>
          </a:p>
        </p:txBody>
      </p:sp>
      <p:sp>
        <p:nvSpPr>
          <p:cNvPr id="6" name="Text 4"/>
          <p:cNvSpPr txBox="1"/>
          <p:nvPr/>
        </p:nvSpPr>
        <p:spPr>
          <a:xfrm>
            <a:off x="640080" y="5852160"/>
            <a:ext cx="9601200" cy="411480"/>
          </a:xfrm>
          <a:prstGeom prst="rect">
            <a:avLst/>
          </a:prstGeom>
          <a:noFill/>
          <a:ln/>
        </p:spPr>
        <p:txBody>
          <a:bodyPr wrap="square" lIns="0" tIns="0" rIns="0" bIns="0" rtlCol="0" anchor="ctr"/>
          <a:lstStyle/>
          <a:p>
            <a:pPr indent="0" marL="0">
              <a:buNone/>
            </a:pPr>
            <a:r>
              <a:rPr lang="en-US" sz="1100" i="1" dirty="0">
                <a:solidFill>
                  <a:srgbClr val="8FB3B6"/>
                </a:solidFill>
                <a:latin typeface="Calibri" pitchFamily="34" charset="0"/>
                <a:ea typeface="Calibri" pitchFamily="34" charset="-122"/>
                <a:cs typeface="Calibri" pitchFamily="34" charset="-120"/>
              </a:rPr>
              <a:t>Working name. The permanent name is being settled this week — nothing in the product hardcodes 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What we are building.</a:t>
            </a:r>
            <a:endParaRPr lang="en-US" sz="3400" dirty="0"/>
          </a:p>
        </p:txBody>
      </p:sp>
      <p:sp>
        <p:nvSpPr>
          <p:cNvPr id="3" name="Text 1"/>
          <p:cNvSpPr txBox="1"/>
          <p:nvPr/>
        </p:nvSpPr>
        <p:spPr>
          <a:xfrm>
            <a:off x="640080" y="1463040"/>
            <a:ext cx="10424160" cy="100584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A curated marketplace for interior design in Pune. Nine questions, matched to verified studios, a real price from each studio’s own rates, and a neutral expert on the phone before anyone is introduced.</a:t>
            </a:r>
            <a:endParaRPr lang="en-US" sz="1700" dirty="0"/>
          </a:p>
        </p:txBody>
      </p:sp>
      <p:sp>
        <p:nvSpPr>
          <p:cNvPr id="4" name="Shape 2"/>
          <p:cNvSpPr/>
          <p:nvPr/>
        </p:nvSpPr>
        <p:spPr>
          <a:xfrm>
            <a:off x="640080" y="2734056"/>
            <a:ext cx="420624" cy="420624"/>
          </a:xfrm>
          <a:prstGeom prst="ellipse">
            <a:avLst/>
          </a:prstGeom>
          <a:solidFill>
            <a:srgbClr val="1A6068"/>
          </a:solidFill>
          <a:ln/>
        </p:spPr>
      </p:sp>
      <p:sp>
        <p:nvSpPr>
          <p:cNvPr id="5" name="Text 3"/>
          <p:cNvSpPr txBox="1"/>
          <p:nvPr/>
        </p:nvSpPr>
        <p:spPr>
          <a:xfrm>
            <a:off x="640080"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61872" y="269748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problem</a:t>
            </a:r>
            <a:endParaRPr lang="en-US" sz="1500" dirty="0"/>
          </a:p>
        </p:txBody>
      </p:sp>
      <p:sp>
        <p:nvSpPr>
          <p:cNvPr id="7" name="Text 5"/>
          <p:cNvSpPr txBox="1"/>
          <p:nvPr/>
        </p:nvSpPr>
        <p:spPr>
          <a:xfrm>
            <a:off x="1261872" y="3026664"/>
            <a:ext cx="459028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Not finding a designer — you can find forty in an afternoon. Telling which one will still be answering the phone in month four.</a:t>
            </a:r>
            <a:endParaRPr lang="en-US" sz="1300" dirty="0"/>
          </a:p>
        </p:txBody>
      </p:sp>
      <p:sp>
        <p:nvSpPr>
          <p:cNvPr id="8" name="Shape 6"/>
          <p:cNvSpPr/>
          <p:nvPr/>
        </p:nvSpPr>
        <p:spPr>
          <a:xfrm>
            <a:off x="6217920" y="2734056"/>
            <a:ext cx="420624" cy="420624"/>
          </a:xfrm>
          <a:prstGeom prst="ellipse">
            <a:avLst/>
          </a:prstGeom>
          <a:solidFill>
            <a:srgbClr val="1A6068"/>
          </a:solidFill>
          <a:ln/>
        </p:spPr>
      </p:sp>
      <p:sp>
        <p:nvSpPr>
          <p:cNvPr id="9" name="Text 7"/>
          <p:cNvSpPr txBox="1"/>
          <p:nvPr/>
        </p:nvSpPr>
        <p:spPr>
          <a:xfrm>
            <a:off x="6217920"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6839712" y="269748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What we sell</a:t>
            </a:r>
            <a:endParaRPr lang="en-US" sz="1500" dirty="0"/>
          </a:p>
        </p:txBody>
      </p:sp>
      <p:sp>
        <p:nvSpPr>
          <p:cNvPr id="11" name="Text 9"/>
          <p:cNvSpPr txBox="1"/>
          <p:nvPr/>
        </p:nvSpPr>
        <p:spPr>
          <a:xfrm>
            <a:off x="6839712" y="3026664"/>
            <a:ext cx="459028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Certainty, not taste. Every complaint in this trade is an execution failure, not a matching failure.</a:t>
            </a:r>
            <a:endParaRPr lang="en-US" sz="1300" dirty="0"/>
          </a:p>
        </p:txBody>
      </p:sp>
      <p:sp>
        <p:nvSpPr>
          <p:cNvPr id="12" name="Shape 10"/>
          <p:cNvSpPr/>
          <p:nvPr/>
        </p:nvSpPr>
        <p:spPr>
          <a:xfrm>
            <a:off x="640080" y="4242816"/>
            <a:ext cx="420624" cy="420624"/>
          </a:xfrm>
          <a:prstGeom prst="ellipse">
            <a:avLst/>
          </a:prstGeom>
          <a:solidFill>
            <a:srgbClr val="1A6068"/>
          </a:solidFill>
          <a:ln/>
        </p:spPr>
      </p:sp>
      <p:sp>
        <p:nvSpPr>
          <p:cNvPr id="13" name="Text 11"/>
          <p:cNvSpPr txBox="1"/>
          <p:nvPr/>
        </p:nvSpPr>
        <p:spPr>
          <a:xfrm>
            <a:off x="640080" y="42428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261872" y="420624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size of it</a:t>
            </a:r>
            <a:endParaRPr lang="en-US" sz="1500" dirty="0"/>
          </a:p>
        </p:txBody>
      </p:sp>
      <p:sp>
        <p:nvSpPr>
          <p:cNvPr id="15" name="Text 13"/>
          <p:cNvSpPr txBox="1"/>
          <p:nvPr/>
        </p:nvSpPr>
        <p:spPr>
          <a:xfrm>
            <a:off x="1261872" y="4535424"/>
            <a:ext cx="459028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₹7–27 lakh a project. The largest discretionary purchase most Indian households make after the flat itself.</a:t>
            </a:r>
            <a:endParaRPr lang="en-US" sz="1300" dirty="0"/>
          </a:p>
        </p:txBody>
      </p:sp>
      <p:sp>
        <p:nvSpPr>
          <p:cNvPr id="16" name="Shape 14"/>
          <p:cNvSpPr/>
          <p:nvPr/>
        </p:nvSpPr>
        <p:spPr>
          <a:xfrm>
            <a:off x="6217920" y="4242816"/>
            <a:ext cx="420624" cy="420624"/>
          </a:xfrm>
          <a:prstGeom prst="ellipse">
            <a:avLst/>
          </a:prstGeom>
          <a:solidFill>
            <a:srgbClr val="1A6068"/>
          </a:solidFill>
          <a:ln/>
        </p:spPr>
      </p:sp>
      <p:sp>
        <p:nvSpPr>
          <p:cNvPr id="17" name="Text 15"/>
          <p:cNvSpPr txBox="1"/>
          <p:nvPr/>
        </p:nvSpPr>
        <p:spPr>
          <a:xfrm>
            <a:off x="6217920" y="42428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6839712" y="420624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rule</a:t>
            </a:r>
            <a:endParaRPr lang="en-US" sz="1500" dirty="0"/>
          </a:p>
        </p:txBody>
      </p:sp>
      <p:sp>
        <p:nvSpPr>
          <p:cNvPr id="19" name="Text 17"/>
          <p:cNvSpPr txBox="1"/>
          <p:nvPr/>
        </p:nvSpPr>
        <p:spPr>
          <a:xfrm>
            <a:off x="6839712" y="4535424"/>
            <a:ext cx="459028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A studio can pay us for volume. It can never pay us for position. That constraint is the product.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Where it actually is, today.</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Said plainly, because everyone in this room is going to find out anyway.</a:t>
            </a:r>
            <a:endParaRPr lang="en-US" sz="1700" dirty="0"/>
          </a:p>
        </p:txBody>
      </p:sp>
      <p:sp>
        <p:nvSpPr>
          <p:cNvPr id="4" name="Shape 2"/>
          <p:cNvSpPr/>
          <p:nvPr/>
        </p:nvSpPr>
        <p:spPr>
          <a:xfrm>
            <a:off x="640080" y="2606040"/>
            <a:ext cx="2615184" cy="2286000"/>
          </a:xfrm>
          <a:prstGeom prst="roundRect">
            <a:avLst>
              <a:gd name="adj" fmla="val 3200"/>
            </a:avLst>
          </a:prstGeom>
          <a:solidFill>
            <a:srgbClr val="FBF7F0"/>
          </a:solidFill>
          <a:ln w="12700">
            <a:solidFill>
              <a:srgbClr val="E3DCD2"/>
            </a:solidFill>
            <a:prstDash val="solid"/>
          </a:ln>
        </p:spPr>
      </p:sp>
      <p:sp>
        <p:nvSpPr>
          <p:cNvPr id="5" name="Text 3"/>
          <p:cNvSpPr txBox="1"/>
          <p:nvPr/>
        </p:nvSpPr>
        <p:spPr>
          <a:xfrm>
            <a:off x="859536" y="2798064"/>
            <a:ext cx="2176272" cy="457200"/>
          </a:xfrm>
          <a:prstGeom prst="rect">
            <a:avLst/>
          </a:prstGeom>
          <a:noFill/>
          <a:ln/>
        </p:spPr>
        <p:txBody>
          <a:bodyPr wrap="square" lIns="0" tIns="0" rIns="0" bIns="0" rtlCol="0" anchor="t"/>
          <a:lstStyle/>
          <a:p>
            <a:pPr indent="0" marL="0">
              <a:buNone/>
            </a:pPr>
            <a:r>
              <a:rPr lang="en-US" sz="1700" b="1" dirty="0">
                <a:solidFill>
                  <a:srgbClr val="1A6068"/>
                </a:solidFill>
                <a:latin typeface="Cambria" pitchFamily="34" charset="0"/>
                <a:ea typeface="Cambria" pitchFamily="34" charset="-122"/>
                <a:cs typeface="Cambria" pitchFamily="34" charset="-120"/>
              </a:rPr>
              <a:t>Built</a:t>
            </a:r>
            <a:endParaRPr lang="en-US" sz="1700" dirty="0"/>
          </a:p>
        </p:txBody>
      </p:sp>
      <p:sp>
        <p:nvSpPr>
          <p:cNvPr id="6" name="Text 4"/>
          <p:cNvSpPr txBox="1"/>
          <p:nvPr/>
        </p:nvSpPr>
        <p:spPr>
          <a:xfrm>
            <a:off x="859536" y="3291840"/>
            <a:ext cx="2176272" cy="146304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The whole funnel runs: brief, matching, quotes, comparison, expert call, prep pack. Plus the studio dashboard and the ops console.</a:t>
            </a:r>
            <a:endParaRPr lang="en-US" sz="1200" dirty="0"/>
          </a:p>
        </p:txBody>
      </p:sp>
      <p:sp>
        <p:nvSpPr>
          <p:cNvPr id="7" name="Shape 5"/>
          <p:cNvSpPr/>
          <p:nvPr/>
        </p:nvSpPr>
        <p:spPr>
          <a:xfrm>
            <a:off x="3401568" y="2606040"/>
            <a:ext cx="2615184" cy="2286000"/>
          </a:xfrm>
          <a:prstGeom prst="roundRect">
            <a:avLst>
              <a:gd name="adj" fmla="val 3200"/>
            </a:avLst>
          </a:prstGeom>
          <a:solidFill>
            <a:srgbClr val="FBF7F0"/>
          </a:solidFill>
          <a:ln w="12700">
            <a:solidFill>
              <a:srgbClr val="E3DCD2"/>
            </a:solidFill>
            <a:prstDash val="solid"/>
          </a:ln>
        </p:spPr>
      </p:sp>
      <p:sp>
        <p:nvSpPr>
          <p:cNvPr id="8" name="Text 6"/>
          <p:cNvSpPr txBox="1"/>
          <p:nvPr/>
        </p:nvSpPr>
        <p:spPr>
          <a:xfrm>
            <a:off x="3621024" y="2798064"/>
            <a:ext cx="2176272" cy="457200"/>
          </a:xfrm>
          <a:prstGeom prst="rect">
            <a:avLst/>
          </a:prstGeom>
          <a:noFill/>
          <a:ln/>
        </p:spPr>
        <p:txBody>
          <a:bodyPr wrap="square" lIns="0" tIns="0" rIns="0" bIns="0" rtlCol="0" anchor="t"/>
          <a:lstStyle/>
          <a:p>
            <a:pPr indent="0" marL="0">
              <a:buNone/>
            </a:pPr>
            <a:r>
              <a:rPr lang="en-US" sz="1700" b="1" dirty="0">
                <a:solidFill>
                  <a:srgbClr val="1A6068"/>
                </a:solidFill>
                <a:latin typeface="Cambria" pitchFamily="34" charset="0"/>
                <a:ea typeface="Cambria" pitchFamily="34" charset="-122"/>
                <a:cs typeface="Cambria" pitchFamily="34" charset="-120"/>
              </a:rPr>
              <a:t>Not launched</a:t>
            </a:r>
            <a:endParaRPr lang="en-US" sz="1700" dirty="0"/>
          </a:p>
        </p:txBody>
      </p:sp>
      <p:sp>
        <p:nvSpPr>
          <p:cNvPr id="9" name="Text 7"/>
          <p:cNvSpPr txBox="1"/>
          <p:nvPr/>
        </p:nvSpPr>
        <p:spPr>
          <a:xfrm>
            <a:off x="3621024" y="3291840"/>
            <a:ext cx="2176272" cy="146304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Zero customers. Zero revenue. Zero live studios. The waitlist opens 16 September.</a:t>
            </a:r>
            <a:endParaRPr lang="en-US" sz="1200" dirty="0"/>
          </a:p>
        </p:txBody>
      </p:sp>
      <p:sp>
        <p:nvSpPr>
          <p:cNvPr id="10" name="Shape 8"/>
          <p:cNvSpPr/>
          <p:nvPr/>
        </p:nvSpPr>
        <p:spPr>
          <a:xfrm>
            <a:off x="6163056" y="2606040"/>
            <a:ext cx="2615184" cy="2286000"/>
          </a:xfrm>
          <a:prstGeom prst="roundRect">
            <a:avLst>
              <a:gd name="adj" fmla="val 3200"/>
            </a:avLst>
          </a:prstGeom>
          <a:solidFill>
            <a:srgbClr val="FAEDE6"/>
          </a:solidFill>
          <a:ln w="12700">
            <a:solidFill>
              <a:srgbClr val="E8C9B8"/>
            </a:solidFill>
            <a:prstDash val="solid"/>
          </a:ln>
        </p:spPr>
      </p:sp>
      <p:sp>
        <p:nvSpPr>
          <p:cNvPr id="11" name="Text 9"/>
          <p:cNvSpPr txBox="1"/>
          <p:nvPr/>
        </p:nvSpPr>
        <p:spPr>
          <a:xfrm>
            <a:off x="6382512" y="2798064"/>
            <a:ext cx="2176272" cy="457200"/>
          </a:xfrm>
          <a:prstGeom prst="rect">
            <a:avLst/>
          </a:prstGeom>
          <a:noFill/>
          <a:ln/>
        </p:spPr>
        <p:txBody>
          <a:bodyPr wrap="square" lIns="0" tIns="0" rIns="0" bIns="0" rtlCol="0" anchor="t"/>
          <a:lstStyle/>
          <a:p>
            <a:pPr indent="0" marL="0">
              <a:buNone/>
            </a:pPr>
            <a:r>
              <a:rPr lang="en-US" sz="1700" b="1" dirty="0">
                <a:solidFill>
                  <a:srgbClr val="BC6440"/>
                </a:solidFill>
                <a:latin typeface="Cambria" pitchFamily="34" charset="0"/>
                <a:ea typeface="Cambria" pitchFamily="34" charset="-122"/>
                <a:cs typeface="Cambria" pitchFamily="34" charset="-120"/>
              </a:rPr>
              <a:t>One thing missing</a:t>
            </a:r>
            <a:endParaRPr lang="en-US" sz="1700" dirty="0"/>
          </a:p>
        </p:txBody>
      </p:sp>
      <p:sp>
        <p:nvSpPr>
          <p:cNvPr id="12" name="Text 10"/>
          <p:cNvSpPr txBox="1"/>
          <p:nvPr/>
        </p:nvSpPr>
        <p:spPr>
          <a:xfrm>
            <a:off x="6382512" y="3291840"/>
            <a:ext cx="2176272" cy="146304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On day one the product cannot produce a quote — because no studio has entered a rate card, and the pricing code refuses to invent one.</a:t>
            </a:r>
            <a:endParaRPr lang="en-US" sz="1200" dirty="0"/>
          </a:p>
        </p:txBody>
      </p:sp>
      <p:sp>
        <p:nvSpPr>
          <p:cNvPr id="13" name="Shape 11"/>
          <p:cNvSpPr/>
          <p:nvPr/>
        </p:nvSpPr>
        <p:spPr>
          <a:xfrm>
            <a:off x="8924544" y="2606040"/>
            <a:ext cx="2615184" cy="2286000"/>
          </a:xfrm>
          <a:prstGeom prst="roundRect">
            <a:avLst>
              <a:gd name="adj" fmla="val 3200"/>
            </a:avLst>
          </a:prstGeom>
          <a:solidFill>
            <a:srgbClr val="FBF7F0"/>
          </a:solidFill>
          <a:ln w="12700">
            <a:solidFill>
              <a:srgbClr val="E3DCD2"/>
            </a:solidFill>
            <a:prstDash val="solid"/>
          </a:ln>
        </p:spPr>
      </p:sp>
      <p:sp>
        <p:nvSpPr>
          <p:cNvPr id="14" name="Text 12"/>
          <p:cNvSpPr txBox="1"/>
          <p:nvPr/>
        </p:nvSpPr>
        <p:spPr>
          <a:xfrm>
            <a:off x="9144000" y="2798064"/>
            <a:ext cx="2176272" cy="457200"/>
          </a:xfrm>
          <a:prstGeom prst="rect">
            <a:avLst/>
          </a:prstGeom>
          <a:noFill/>
          <a:ln/>
        </p:spPr>
        <p:txBody>
          <a:bodyPr wrap="square" lIns="0" tIns="0" rIns="0" bIns="0" rtlCol="0" anchor="t"/>
          <a:lstStyle/>
          <a:p>
            <a:pPr indent="0" marL="0">
              <a:buNone/>
            </a:pPr>
            <a:r>
              <a:rPr lang="en-US" sz="1700" b="1" dirty="0">
                <a:solidFill>
                  <a:srgbClr val="1A6068"/>
                </a:solidFill>
                <a:latin typeface="Cambria" pitchFamily="34" charset="0"/>
                <a:ea typeface="Cambria" pitchFamily="34" charset="-122"/>
                <a:cs typeface="Cambria" pitchFamily="34" charset="-120"/>
              </a:rPr>
              <a:t>Twenty minutes</a:t>
            </a:r>
            <a:endParaRPr lang="en-US" sz="1700" dirty="0"/>
          </a:p>
        </p:txBody>
      </p:sp>
      <p:sp>
        <p:nvSpPr>
          <p:cNvPr id="15" name="Text 13"/>
          <p:cNvSpPr txBox="1"/>
          <p:nvPr/>
        </p:nvSpPr>
        <p:spPr>
          <a:xfrm>
            <a:off x="9144000" y="3291840"/>
            <a:ext cx="2176272" cy="146304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That is what it takes to fix, once one studio sits down with us. It is the single highest-leverage action in the plan.</a:t>
            </a:r>
            <a:endParaRPr lang="en-US" sz="1200" dirty="0"/>
          </a:p>
        </p:txBody>
      </p:sp>
      <p:sp>
        <p:nvSpPr>
          <p:cNvPr id="16" name="Text 14"/>
          <p:cNvSpPr txBox="1"/>
          <p:nvPr/>
        </p:nvSpPr>
        <p:spPr>
          <a:xfrm>
            <a:off x="640080" y="5212080"/>
            <a:ext cx="10908792" cy="548640"/>
          </a:xfrm>
          <a:prstGeom prst="rect">
            <a:avLst/>
          </a:prstGeom>
          <a:noFill/>
          <a:ln/>
        </p:spPr>
        <p:txBody>
          <a:bodyPr wrap="square" lIns="0" tIns="0" rIns="0" bIns="0" rtlCol="0" anchor="t"/>
          <a:lstStyle/>
          <a:p>
            <a:pPr indent="0" marL="0">
              <a:buNone/>
            </a:pPr>
            <a:r>
              <a:rPr lang="en-US" sz="1350" i="1" dirty="0">
                <a:solidFill>
                  <a:srgbClr val="8B847C"/>
                </a:solidFill>
                <a:latin typeface="Calibri" pitchFamily="34" charset="0"/>
                <a:ea typeface="Calibri" pitchFamily="34" charset="-122"/>
                <a:cs typeface="Calibri" pitchFamily="34" charset="-120"/>
              </a:rPr>
              <a:t>Nothing on this slide is a surprise to anyone who has been close to it. It is here so nobody signs on a different picture than the one that exists.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How the money works.</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Three months of commission only, then a subscription that scales with project size.</a:t>
            </a:r>
            <a:endParaRPr lang="en-US" sz="1700" dirty="0"/>
          </a:p>
        </p:txBody>
      </p:sp>
      <p:sp>
        <p:nvSpPr>
          <p:cNvPr id="4" name="Shape 2"/>
          <p:cNvSpPr/>
          <p:nvPr/>
        </p:nvSpPr>
        <p:spPr>
          <a:xfrm>
            <a:off x="640080" y="2560320"/>
            <a:ext cx="10908792" cy="640080"/>
          </a:xfrm>
          <a:prstGeom prst="roundRect">
            <a:avLst>
              <a:gd name="adj" fmla="val 11429"/>
            </a:avLst>
          </a:prstGeom>
          <a:solidFill>
            <a:srgbClr val="FBF7F0"/>
          </a:solidFill>
          <a:ln w="12700">
            <a:solidFill>
              <a:srgbClr val="E3DCD2"/>
            </a:solidFill>
            <a:prstDash val="solid"/>
          </a:ln>
        </p:spPr>
      </p:sp>
      <p:sp>
        <p:nvSpPr>
          <p:cNvPr id="5" name="Text 3"/>
          <p:cNvSpPr txBox="1"/>
          <p:nvPr/>
        </p:nvSpPr>
        <p:spPr>
          <a:xfrm>
            <a:off x="914400" y="2560320"/>
            <a:ext cx="3017520" cy="640080"/>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Pilot · months 1–3</a:t>
            </a:r>
            <a:endParaRPr lang="en-US" sz="1400" dirty="0"/>
          </a:p>
        </p:txBody>
      </p:sp>
      <p:sp>
        <p:nvSpPr>
          <p:cNvPr id="6" name="Text 4"/>
          <p:cNvSpPr txBox="1"/>
          <p:nvPr/>
        </p:nvSpPr>
        <p:spPr>
          <a:xfrm>
            <a:off x="4023360" y="2560320"/>
            <a:ext cx="2926080" cy="640080"/>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5% commission only</a:t>
            </a:r>
            <a:endParaRPr lang="en-US" sz="1400" dirty="0"/>
          </a:p>
        </p:txBody>
      </p:sp>
      <p:sp>
        <p:nvSpPr>
          <p:cNvPr id="7" name="Text 5"/>
          <p:cNvSpPr txBox="1"/>
          <p:nvPr/>
        </p:nvSpPr>
        <p:spPr>
          <a:xfrm>
            <a:off x="7132320" y="2560320"/>
            <a:ext cx="4297680" cy="640080"/>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Nothing at all unless a project closes</a:t>
            </a:r>
            <a:endParaRPr lang="en-US" sz="1250" dirty="0"/>
          </a:p>
        </p:txBody>
      </p:sp>
      <p:sp>
        <p:nvSpPr>
          <p:cNvPr id="8" name="Shape 6"/>
          <p:cNvSpPr/>
          <p:nvPr/>
        </p:nvSpPr>
        <p:spPr>
          <a:xfrm>
            <a:off x="640080" y="3273552"/>
            <a:ext cx="10908792" cy="640080"/>
          </a:xfrm>
          <a:prstGeom prst="roundRect">
            <a:avLst>
              <a:gd name="adj" fmla="val 11429"/>
            </a:avLst>
          </a:prstGeom>
          <a:solidFill>
            <a:srgbClr val="FFFFFF"/>
          </a:solidFill>
          <a:ln w="12700">
            <a:solidFill>
              <a:srgbClr val="E3DCD2"/>
            </a:solidFill>
            <a:prstDash val="solid"/>
          </a:ln>
        </p:spPr>
      </p:sp>
      <p:sp>
        <p:nvSpPr>
          <p:cNvPr id="9" name="Text 7"/>
          <p:cNvSpPr txBox="1"/>
          <p:nvPr/>
        </p:nvSpPr>
        <p:spPr>
          <a:xfrm>
            <a:off x="914400" y="3273552"/>
            <a:ext cx="3017520" cy="640080"/>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Essential</a:t>
            </a:r>
            <a:endParaRPr lang="en-US" sz="1400" dirty="0"/>
          </a:p>
        </p:txBody>
      </p:sp>
      <p:sp>
        <p:nvSpPr>
          <p:cNvPr id="10" name="Text 8"/>
          <p:cNvSpPr txBox="1"/>
          <p:nvPr/>
        </p:nvSpPr>
        <p:spPr>
          <a:xfrm>
            <a:off x="4023360" y="3273552"/>
            <a:ext cx="2926080" cy="640080"/>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₹25,000/mo + 5%</a:t>
            </a:r>
            <a:endParaRPr lang="en-US" sz="1400" dirty="0"/>
          </a:p>
        </p:txBody>
      </p:sp>
      <p:sp>
        <p:nvSpPr>
          <p:cNvPr id="11" name="Text 9"/>
          <p:cNvSpPr txBox="1"/>
          <p:nvPr/>
        </p:nvSpPr>
        <p:spPr>
          <a:xfrm>
            <a:off x="7132320" y="3273552"/>
            <a:ext cx="4297680" cy="640080"/>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Studios averaging ₹7 lakh projects</a:t>
            </a:r>
            <a:endParaRPr lang="en-US" sz="1250" dirty="0"/>
          </a:p>
        </p:txBody>
      </p:sp>
      <p:sp>
        <p:nvSpPr>
          <p:cNvPr id="12" name="Shape 10"/>
          <p:cNvSpPr/>
          <p:nvPr/>
        </p:nvSpPr>
        <p:spPr>
          <a:xfrm>
            <a:off x="640080" y="3986784"/>
            <a:ext cx="10908792" cy="640080"/>
          </a:xfrm>
          <a:prstGeom prst="roundRect">
            <a:avLst>
              <a:gd name="adj" fmla="val 11429"/>
            </a:avLst>
          </a:prstGeom>
          <a:solidFill>
            <a:srgbClr val="FBF7F0"/>
          </a:solidFill>
          <a:ln w="12700">
            <a:solidFill>
              <a:srgbClr val="E3DCD2"/>
            </a:solidFill>
            <a:prstDash val="solid"/>
          </a:ln>
        </p:spPr>
      </p:sp>
      <p:sp>
        <p:nvSpPr>
          <p:cNvPr id="13" name="Text 11"/>
          <p:cNvSpPr txBox="1"/>
          <p:nvPr/>
        </p:nvSpPr>
        <p:spPr>
          <a:xfrm>
            <a:off x="914400" y="3986784"/>
            <a:ext cx="3017520" cy="640080"/>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Premium</a:t>
            </a:r>
            <a:endParaRPr lang="en-US" sz="1400" dirty="0"/>
          </a:p>
        </p:txBody>
      </p:sp>
      <p:sp>
        <p:nvSpPr>
          <p:cNvPr id="14" name="Text 12"/>
          <p:cNvSpPr txBox="1"/>
          <p:nvPr/>
        </p:nvSpPr>
        <p:spPr>
          <a:xfrm>
            <a:off x="4023360" y="3986784"/>
            <a:ext cx="2926080" cy="640080"/>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₹50,000/mo + 5%</a:t>
            </a:r>
            <a:endParaRPr lang="en-US" sz="1400" dirty="0"/>
          </a:p>
        </p:txBody>
      </p:sp>
      <p:sp>
        <p:nvSpPr>
          <p:cNvPr id="15" name="Text 13"/>
          <p:cNvSpPr txBox="1"/>
          <p:nvPr/>
        </p:nvSpPr>
        <p:spPr>
          <a:xfrm>
            <a:off x="7132320" y="3986784"/>
            <a:ext cx="4297680" cy="640080"/>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Studios averaging ₹12 lakh projects</a:t>
            </a:r>
            <a:endParaRPr lang="en-US" sz="1250" dirty="0"/>
          </a:p>
        </p:txBody>
      </p:sp>
      <p:sp>
        <p:nvSpPr>
          <p:cNvPr id="16" name="Shape 14"/>
          <p:cNvSpPr/>
          <p:nvPr/>
        </p:nvSpPr>
        <p:spPr>
          <a:xfrm>
            <a:off x="640080" y="4700016"/>
            <a:ext cx="10908792" cy="640080"/>
          </a:xfrm>
          <a:prstGeom prst="roundRect">
            <a:avLst>
              <a:gd name="adj" fmla="val 11429"/>
            </a:avLst>
          </a:prstGeom>
          <a:solidFill>
            <a:srgbClr val="FFFFFF"/>
          </a:solidFill>
          <a:ln w="12700">
            <a:solidFill>
              <a:srgbClr val="E3DCD2"/>
            </a:solidFill>
            <a:prstDash val="solid"/>
          </a:ln>
        </p:spPr>
      </p:sp>
      <p:sp>
        <p:nvSpPr>
          <p:cNvPr id="17" name="Text 15"/>
          <p:cNvSpPr txBox="1"/>
          <p:nvPr/>
        </p:nvSpPr>
        <p:spPr>
          <a:xfrm>
            <a:off x="914400" y="4700016"/>
            <a:ext cx="3017520" cy="640080"/>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Luxury</a:t>
            </a:r>
            <a:endParaRPr lang="en-US" sz="1400" dirty="0"/>
          </a:p>
        </p:txBody>
      </p:sp>
      <p:sp>
        <p:nvSpPr>
          <p:cNvPr id="18" name="Text 16"/>
          <p:cNvSpPr txBox="1"/>
          <p:nvPr/>
        </p:nvSpPr>
        <p:spPr>
          <a:xfrm>
            <a:off x="4023360" y="4700016"/>
            <a:ext cx="2926080" cy="640080"/>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₹1,00,000/mo + 5%</a:t>
            </a:r>
            <a:endParaRPr lang="en-US" sz="1400" dirty="0"/>
          </a:p>
        </p:txBody>
      </p:sp>
      <p:sp>
        <p:nvSpPr>
          <p:cNvPr id="19" name="Text 17"/>
          <p:cNvSpPr txBox="1"/>
          <p:nvPr/>
        </p:nvSpPr>
        <p:spPr>
          <a:xfrm>
            <a:off x="7132320" y="4700016"/>
            <a:ext cx="4297680" cy="640080"/>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Studios averaging ₹20 lakh projects</a:t>
            </a:r>
            <a:endParaRPr lang="en-US" sz="1250" dirty="0"/>
          </a:p>
        </p:txBody>
      </p:sp>
      <p:sp>
        <p:nvSpPr>
          <p:cNvPr id="20" name="Text 18"/>
          <p:cNvSpPr txBox="1"/>
          <p:nvPr/>
        </p:nvSpPr>
        <p:spPr>
          <a:xfrm>
            <a:off x="640080" y="5486400"/>
            <a:ext cx="2743200" cy="685800"/>
          </a:xfrm>
          <a:prstGeom prst="rect">
            <a:avLst/>
          </a:prstGeom>
          <a:noFill/>
          <a:ln/>
        </p:spPr>
        <p:txBody>
          <a:bodyPr wrap="square" lIns="0" tIns="0" rIns="0" bIns="0" rtlCol="0" anchor="ctr"/>
          <a:lstStyle/>
          <a:p>
            <a:pPr indent="0" marL="0">
              <a:buNone/>
            </a:pPr>
            <a:r>
              <a:rPr lang="en-US" sz="3400" b="1" dirty="0">
                <a:solidFill>
                  <a:srgbClr val="1A6068"/>
                </a:solidFill>
                <a:latin typeface="Cambria" pitchFamily="34" charset="0"/>
                <a:ea typeface="Cambria" pitchFamily="34" charset="-122"/>
                <a:cs typeface="Cambria" pitchFamily="34" charset="-120"/>
              </a:rPr>
              <a:t>₹4.36 Cr</a:t>
            </a:r>
            <a:endParaRPr lang="en-US" sz="3400" dirty="0"/>
          </a:p>
        </p:txBody>
      </p:sp>
      <p:sp>
        <p:nvSpPr>
          <p:cNvPr id="21" name="Text 19"/>
          <p:cNvSpPr txBox="1"/>
          <p:nvPr/>
        </p:nvSpPr>
        <p:spPr>
          <a:xfrm>
            <a:off x="640080" y="6163056"/>
            <a:ext cx="2743200" cy="603504"/>
          </a:xfrm>
          <a:prstGeom prst="rect">
            <a:avLst/>
          </a:prstGeom>
          <a:noFill/>
          <a:ln/>
        </p:spPr>
        <p:txBody>
          <a:bodyPr wrap="square" lIns="0" tIns="0" rIns="0" bIns="0" rtlCol="0" anchor="t"/>
          <a:lstStyle/>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year-one gross revenue, if the</a:t>
            </a:r>
            <a:endParaRPr lang="en-US" sz="1150" dirty="0"/>
          </a:p>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assumptions hold</a:t>
            </a:r>
            <a:endParaRPr lang="en-US" sz="1150" dirty="0"/>
          </a:p>
        </p:txBody>
      </p:sp>
      <p:sp>
        <p:nvSpPr>
          <p:cNvPr id="22" name="Text 20"/>
          <p:cNvSpPr txBox="1"/>
          <p:nvPr/>
        </p:nvSpPr>
        <p:spPr>
          <a:xfrm>
            <a:off x="3474720" y="5486400"/>
            <a:ext cx="2743200" cy="685800"/>
          </a:xfrm>
          <a:prstGeom prst="rect">
            <a:avLst/>
          </a:prstGeom>
          <a:noFill/>
          <a:ln/>
        </p:spPr>
        <p:txBody>
          <a:bodyPr wrap="square" lIns="0" tIns="0" rIns="0" bIns="0" rtlCol="0" anchor="ctr"/>
          <a:lstStyle/>
          <a:p>
            <a:pPr indent="0" marL="0">
              <a:buNone/>
            </a:pPr>
            <a:r>
              <a:rPr lang="en-US" sz="3400" b="1" dirty="0">
                <a:solidFill>
                  <a:srgbClr val="1A6068"/>
                </a:solidFill>
                <a:latin typeface="Cambria" pitchFamily="34" charset="0"/>
                <a:ea typeface="Cambria" pitchFamily="34" charset="-122"/>
                <a:cs typeface="Cambria" pitchFamily="34" charset="-120"/>
              </a:rPr>
              <a:t>553</a:t>
            </a:r>
            <a:endParaRPr lang="en-US" sz="3400" dirty="0"/>
          </a:p>
        </p:txBody>
      </p:sp>
      <p:sp>
        <p:nvSpPr>
          <p:cNvPr id="23" name="Text 21"/>
          <p:cNvSpPr txBox="1"/>
          <p:nvPr/>
        </p:nvSpPr>
        <p:spPr>
          <a:xfrm>
            <a:off x="3474720" y="6163056"/>
            <a:ext cx="2743200" cy="603504"/>
          </a:xfrm>
          <a:prstGeom prst="rect">
            <a:avLst/>
          </a:prstGeom>
          <a:noFill/>
          <a:ln/>
        </p:spPr>
        <p:txBody>
          <a:bodyPr wrap="square" lIns="0" tIns="0" rIns="0" bIns="0" rtlCol="0" anchor="t"/>
          <a:lstStyle/>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projects placed</a:t>
            </a:r>
            <a:endParaRPr lang="en-US" sz="1150" dirty="0"/>
          </a:p>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₹70.5 Cr of work</a:t>
            </a:r>
            <a:endParaRPr lang="en-US" sz="1150" dirty="0"/>
          </a:p>
        </p:txBody>
      </p:sp>
      <p:sp>
        <p:nvSpPr>
          <p:cNvPr id="24" name="Text 22"/>
          <p:cNvSpPr txBox="1"/>
          <p:nvPr/>
        </p:nvSpPr>
        <p:spPr>
          <a:xfrm>
            <a:off x="6309360" y="5486400"/>
            <a:ext cx="2743200" cy="685800"/>
          </a:xfrm>
          <a:prstGeom prst="rect">
            <a:avLst/>
          </a:prstGeom>
          <a:noFill/>
          <a:ln/>
        </p:spPr>
        <p:txBody>
          <a:bodyPr wrap="square" lIns="0" tIns="0" rIns="0" bIns="0" rtlCol="0" anchor="ctr"/>
          <a:lstStyle/>
          <a:p>
            <a:pPr indent="0" marL="0">
              <a:buNone/>
            </a:pPr>
            <a:r>
              <a:rPr lang="en-US" sz="3400" b="1" dirty="0">
                <a:solidFill>
                  <a:srgbClr val="BC6440"/>
                </a:solidFill>
                <a:latin typeface="Cambria" pitchFamily="34" charset="0"/>
                <a:ea typeface="Cambria" pitchFamily="34" charset="-122"/>
                <a:cs typeface="Cambria" pitchFamily="34" charset="-120"/>
              </a:rPr>
              <a:t>24</a:t>
            </a:r>
            <a:endParaRPr lang="en-US" sz="3400" dirty="0"/>
          </a:p>
        </p:txBody>
      </p:sp>
      <p:sp>
        <p:nvSpPr>
          <p:cNvPr id="25" name="Text 23"/>
          <p:cNvSpPr txBox="1"/>
          <p:nvPr/>
        </p:nvSpPr>
        <p:spPr>
          <a:xfrm>
            <a:off x="6309360" y="6163056"/>
            <a:ext cx="2743200" cy="603504"/>
          </a:xfrm>
          <a:prstGeom prst="rect">
            <a:avLst/>
          </a:prstGeom>
          <a:noFill/>
          <a:ln/>
        </p:spPr>
        <p:txBody>
          <a:bodyPr wrap="square" lIns="0" tIns="0" rIns="0" bIns="0" rtlCol="0" anchor="t"/>
          <a:lstStyle/>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studios at month twelve —</a:t>
            </a:r>
            <a:endParaRPr lang="en-US" sz="1150" dirty="0"/>
          </a:p>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not the 50 the plan assumed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You run it.</a:t>
            </a:r>
            <a:endParaRPr lang="en-US" sz="3400" dirty="0"/>
          </a:p>
        </p:txBody>
      </p:sp>
      <p:sp>
        <p:nvSpPr>
          <p:cNvPr id="3" name="Text 1"/>
          <p:cNvSpPr txBox="1"/>
          <p:nvPr/>
        </p:nvSpPr>
        <p:spPr>
          <a:xfrm>
            <a:off x="640080" y="1463040"/>
            <a:ext cx="10424160" cy="91440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Not a department — the operating half of the company. Four jobs that in a bigger business would be four people, and for the first year they are you.</a:t>
            </a:r>
            <a:endParaRPr lang="en-US" sz="1700" dirty="0"/>
          </a:p>
        </p:txBody>
      </p:sp>
      <p:sp>
        <p:nvSpPr>
          <p:cNvPr id="4" name="Shape 2"/>
          <p:cNvSpPr/>
          <p:nvPr/>
        </p:nvSpPr>
        <p:spPr>
          <a:xfrm>
            <a:off x="640080" y="2734056"/>
            <a:ext cx="420624" cy="420624"/>
          </a:xfrm>
          <a:prstGeom prst="ellipse">
            <a:avLst/>
          </a:prstGeom>
          <a:solidFill>
            <a:srgbClr val="1A6068"/>
          </a:solidFill>
          <a:ln/>
        </p:spPr>
      </p:sp>
      <p:sp>
        <p:nvSpPr>
          <p:cNvPr id="5" name="Text 3"/>
          <p:cNvSpPr txBox="1"/>
          <p:nvPr/>
        </p:nvSpPr>
        <p:spPr>
          <a:xfrm>
            <a:off x="640080"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61872" y="269748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software</a:t>
            </a:r>
            <a:endParaRPr lang="en-US" sz="1500" dirty="0"/>
          </a:p>
        </p:txBody>
      </p:sp>
      <p:sp>
        <p:nvSpPr>
          <p:cNvPr id="7" name="Text 5"/>
          <p:cNvSpPr txBox="1"/>
          <p:nvPr/>
        </p:nvSpPr>
        <p:spPr>
          <a:xfrm>
            <a:off x="1261872" y="3026664"/>
            <a:ext cx="4590288" cy="96012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Build it, ship it, fix it. Twenty-five tables, the matching engine, the ops console, the studio dashboard. All of it already exists because of this.</a:t>
            </a:r>
            <a:endParaRPr lang="en-US" sz="1300" dirty="0"/>
          </a:p>
        </p:txBody>
      </p:sp>
      <p:sp>
        <p:nvSpPr>
          <p:cNvPr id="8" name="Shape 6"/>
          <p:cNvSpPr/>
          <p:nvPr/>
        </p:nvSpPr>
        <p:spPr>
          <a:xfrm>
            <a:off x="6217920" y="2734056"/>
            <a:ext cx="420624" cy="420624"/>
          </a:xfrm>
          <a:prstGeom prst="ellipse">
            <a:avLst/>
          </a:prstGeom>
          <a:solidFill>
            <a:srgbClr val="1A6068"/>
          </a:solidFill>
          <a:ln/>
        </p:spPr>
      </p:sp>
      <p:sp>
        <p:nvSpPr>
          <p:cNvPr id="9" name="Text 7"/>
          <p:cNvSpPr txBox="1"/>
          <p:nvPr/>
        </p:nvSpPr>
        <p:spPr>
          <a:xfrm>
            <a:off x="6217920"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6839712" y="269748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studios</a:t>
            </a:r>
            <a:endParaRPr lang="en-US" sz="1500" dirty="0"/>
          </a:p>
        </p:txBody>
      </p:sp>
      <p:sp>
        <p:nvSpPr>
          <p:cNvPr id="11" name="Text 9"/>
          <p:cNvSpPr txBox="1"/>
          <p:nvPr/>
        </p:nvSpPr>
        <p:spPr>
          <a:xfrm>
            <a:off x="6839712" y="3026664"/>
            <a:ext cx="4590288" cy="96012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Approach, verify, onboard, keep. Ten live in month one, and every one of them is a relationship rather than a signup.</a:t>
            </a:r>
            <a:endParaRPr lang="en-US" sz="1300" dirty="0"/>
          </a:p>
        </p:txBody>
      </p:sp>
      <p:sp>
        <p:nvSpPr>
          <p:cNvPr id="12" name="Shape 10"/>
          <p:cNvSpPr/>
          <p:nvPr/>
        </p:nvSpPr>
        <p:spPr>
          <a:xfrm>
            <a:off x="640080" y="4288536"/>
            <a:ext cx="420624" cy="420624"/>
          </a:xfrm>
          <a:prstGeom prst="ellipse">
            <a:avLst/>
          </a:prstGeom>
          <a:solidFill>
            <a:srgbClr val="1A6068"/>
          </a:solidFill>
          <a:ln/>
        </p:spPr>
      </p:sp>
      <p:sp>
        <p:nvSpPr>
          <p:cNvPr id="13" name="Text 11"/>
          <p:cNvSpPr txBox="1"/>
          <p:nvPr/>
        </p:nvSpPr>
        <p:spPr>
          <a:xfrm>
            <a:off x="640080" y="42885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261872" y="425196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customers</a:t>
            </a:r>
            <a:endParaRPr lang="en-US" sz="1500" dirty="0"/>
          </a:p>
        </p:txBody>
      </p:sp>
      <p:sp>
        <p:nvSpPr>
          <p:cNvPr id="15" name="Text 13"/>
          <p:cNvSpPr txBox="1"/>
          <p:nvPr/>
        </p:nvSpPr>
        <p:spPr>
          <a:xfrm>
            <a:off x="1261872" y="4581144"/>
            <a:ext cx="4590288" cy="96012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Waitlist, societies, Instagram, the paid test. The first two hundred briefs come from conversations, not from a campaign.</a:t>
            </a:r>
            <a:endParaRPr lang="en-US" sz="1300" dirty="0"/>
          </a:p>
        </p:txBody>
      </p:sp>
      <p:sp>
        <p:nvSpPr>
          <p:cNvPr id="16" name="Shape 14"/>
          <p:cNvSpPr/>
          <p:nvPr/>
        </p:nvSpPr>
        <p:spPr>
          <a:xfrm>
            <a:off x="6217920" y="4288536"/>
            <a:ext cx="420624" cy="420624"/>
          </a:xfrm>
          <a:prstGeom prst="ellipse">
            <a:avLst/>
          </a:prstGeom>
          <a:solidFill>
            <a:srgbClr val="1A6068"/>
          </a:solidFill>
          <a:ln/>
        </p:spPr>
      </p:sp>
      <p:sp>
        <p:nvSpPr>
          <p:cNvPr id="17" name="Text 15"/>
          <p:cNvSpPr txBox="1"/>
          <p:nvPr/>
        </p:nvSpPr>
        <p:spPr>
          <a:xfrm>
            <a:off x="6217920" y="42885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6839712" y="425196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calls</a:t>
            </a:r>
            <a:endParaRPr lang="en-US" sz="1500" dirty="0"/>
          </a:p>
        </p:txBody>
      </p:sp>
      <p:sp>
        <p:nvSpPr>
          <p:cNvPr id="19" name="Text 17"/>
          <p:cNvSpPr txBox="1"/>
          <p:nvPr/>
        </p:nvSpPr>
        <p:spPr>
          <a:xfrm>
            <a:off x="6839712" y="4581144"/>
            <a:ext cx="4590288" cy="96012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Until there is an expert to hire, the expert is you. Roughly three calls per closed project.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454B"/>
        </a:solidFill>
      </p:bgPr>
    </p:bg>
    <p:spTree>
      <p:nvGrpSpPr>
        <p:cNvPr id="1" name=""/>
        <p:cNvGrpSpPr/>
        <p:nvPr/>
      </p:nvGrpSpPr>
      <p:grpSpPr>
        <a:xfrm>
          <a:off x="0" y="0"/>
          <a:ext cx="0" cy="0"/>
          <a:chOff x="0" y="0"/>
          <a:chExt cx="0" cy="0"/>
        </a:xfrm>
      </p:grpSpPr>
      <p:sp>
        <p:nvSpPr>
          <p:cNvPr id="2" name="Text 0"/>
          <p:cNvSpPr txBox="1"/>
          <p:nvPr/>
        </p:nvSpPr>
        <p:spPr>
          <a:xfrm>
            <a:off x="640080" y="685800"/>
            <a:ext cx="10908792"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What you get.</a:t>
            </a:r>
            <a:endParaRPr lang="en-US" sz="3800" dirty="0"/>
          </a:p>
        </p:txBody>
      </p:sp>
      <p:sp>
        <p:nvSpPr>
          <p:cNvPr id="3" name="Text 1"/>
          <p:cNvSpPr txBox="1"/>
          <p:nvPr/>
        </p:nvSpPr>
        <p:spPr>
          <a:xfrm>
            <a:off x="640080" y="1508760"/>
            <a:ext cx="10332720" cy="640080"/>
          </a:xfrm>
          <a:prstGeom prst="rect">
            <a:avLst/>
          </a:prstGeom>
          <a:noFill/>
          <a:ln/>
        </p:spPr>
        <p:txBody>
          <a:bodyPr wrap="square" lIns="0" tIns="0" rIns="0" bIns="0" rtlCol="0" anchor="ctr"/>
          <a:lstStyle/>
          <a:p>
            <a:pPr indent="0" marL="0">
              <a:lnSpc>
                <a:spcPct val="125000"/>
              </a:lnSpc>
              <a:buNone/>
            </a:pPr>
            <a:r>
              <a:rPr lang="en-US" sz="1600" dirty="0">
                <a:solidFill>
                  <a:srgbClr val="CFE0E2"/>
                </a:solidFill>
                <a:latin typeface="Calibri" pitchFamily="34" charset="0"/>
                <a:ea typeface="Calibri" pitchFamily="34" charset="-122"/>
                <a:cs typeface="Calibri" pitchFamily="34" charset="-120"/>
              </a:rPr>
              <a:t>A fifth of the company, a salary so you are not living on the equity, and the record.</a:t>
            </a:r>
            <a:endParaRPr lang="en-US" sz="1600" dirty="0"/>
          </a:p>
        </p:txBody>
      </p:sp>
      <p:sp>
        <p:nvSpPr>
          <p:cNvPr id="4" name="Shape 2"/>
          <p:cNvSpPr/>
          <p:nvPr/>
        </p:nvSpPr>
        <p:spPr>
          <a:xfrm>
            <a:off x="640080" y="2377440"/>
            <a:ext cx="3514344" cy="1691640"/>
          </a:xfrm>
          <a:prstGeom prst="roundRect">
            <a:avLst>
              <a:gd name="adj" fmla="val 4324"/>
            </a:avLst>
          </a:prstGeom>
          <a:solidFill>
            <a:srgbClr val="1A6068"/>
          </a:solidFill>
          <a:ln w="12700">
            <a:solidFill>
              <a:srgbClr val="2E7D85"/>
            </a:solidFill>
            <a:prstDash val="solid"/>
          </a:ln>
        </p:spPr>
      </p:sp>
      <p:sp>
        <p:nvSpPr>
          <p:cNvPr id="5" name="Text 3"/>
          <p:cNvSpPr txBox="1"/>
          <p:nvPr/>
        </p:nvSpPr>
        <p:spPr>
          <a:xfrm>
            <a:off x="877824" y="2560320"/>
            <a:ext cx="3038856" cy="548640"/>
          </a:xfrm>
          <a:prstGeom prst="rect">
            <a:avLst/>
          </a:prstGeom>
          <a:noFill/>
          <a:ln/>
        </p:spPr>
        <p:txBody>
          <a:bodyPr wrap="square" lIns="0" tIns="0" rIns="0" bIns="0" rtlCol="0" anchor="ctr"/>
          <a:lstStyle/>
          <a:p>
            <a:pPr indent="0" marL="0">
              <a:buNone/>
            </a:pPr>
            <a:r>
              <a:rPr lang="en-US" sz="2400" b="1" dirty="0">
                <a:solidFill>
                  <a:srgbClr val="C9922A"/>
                </a:solidFill>
                <a:latin typeface="Cambria" pitchFamily="34" charset="0"/>
                <a:ea typeface="Cambria" pitchFamily="34" charset="-122"/>
                <a:cs typeface="Cambria" pitchFamily="34" charset="-120"/>
              </a:rPr>
              <a:t>20%</a:t>
            </a:r>
            <a:endParaRPr lang="en-US" sz="2400" dirty="0"/>
          </a:p>
        </p:txBody>
      </p:sp>
      <p:sp>
        <p:nvSpPr>
          <p:cNvPr id="6" name="Text 4"/>
          <p:cNvSpPr txBox="1"/>
          <p:nvPr/>
        </p:nvSpPr>
        <p:spPr>
          <a:xfrm>
            <a:off x="877824" y="3127248"/>
            <a:ext cx="3038856" cy="822960"/>
          </a:xfrm>
          <a:prstGeom prst="rect">
            <a:avLst/>
          </a:prstGeom>
          <a:noFill/>
          <a:ln/>
        </p:spPr>
        <p:txBody>
          <a:bodyPr wrap="square" lIns="0" tIns="0" rIns="0" bIns="0" rtlCol="0" anchor="t"/>
          <a:lstStyle/>
          <a:p>
            <a:pPr indent="0" marL="0">
              <a:lnSpc>
                <a:spcPct val="118000"/>
              </a:lnSpc>
              <a:buNone/>
            </a:pPr>
            <a:r>
              <a:rPr lang="en-US" sz="1200" dirty="0">
                <a:solidFill>
                  <a:srgbClr val="DCEAEB"/>
                </a:solidFill>
                <a:latin typeface="Calibri" pitchFamily="34" charset="0"/>
                <a:ea typeface="Calibri" pitchFamily="34" charset="-122"/>
                <a:cs typeface="Calibri" pitchFamily="34" charset="-120"/>
              </a:rPr>
              <a:t>of the company, as a founding operator</a:t>
            </a:r>
            <a:endParaRPr lang="en-US" sz="1200" dirty="0"/>
          </a:p>
        </p:txBody>
      </p:sp>
      <p:sp>
        <p:nvSpPr>
          <p:cNvPr id="7" name="Shape 5"/>
          <p:cNvSpPr/>
          <p:nvPr/>
        </p:nvSpPr>
        <p:spPr>
          <a:xfrm>
            <a:off x="4337304" y="2377440"/>
            <a:ext cx="3514344" cy="1691640"/>
          </a:xfrm>
          <a:prstGeom prst="roundRect">
            <a:avLst>
              <a:gd name="adj" fmla="val 4324"/>
            </a:avLst>
          </a:prstGeom>
          <a:solidFill>
            <a:srgbClr val="1A6068"/>
          </a:solidFill>
          <a:ln w="12700">
            <a:solidFill>
              <a:srgbClr val="2E7D85"/>
            </a:solidFill>
            <a:prstDash val="solid"/>
          </a:ln>
        </p:spPr>
      </p:sp>
      <p:sp>
        <p:nvSpPr>
          <p:cNvPr id="8" name="Text 6"/>
          <p:cNvSpPr txBox="1"/>
          <p:nvPr/>
        </p:nvSpPr>
        <p:spPr>
          <a:xfrm>
            <a:off x="4575048" y="2560320"/>
            <a:ext cx="3038856" cy="548640"/>
          </a:xfrm>
          <a:prstGeom prst="rect">
            <a:avLst/>
          </a:prstGeom>
          <a:noFill/>
          <a:ln/>
        </p:spPr>
        <p:txBody>
          <a:bodyPr wrap="square" lIns="0" tIns="0" rIns="0" bIns="0" rtlCol="0" anchor="ctr"/>
          <a:lstStyle/>
          <a:p>
            <a:pPr indent="0" marL="0">
              <a:buNone/>
            </a:pPr>
            <a:r>
              <a:rPr lang="en-US" sz="2400" b="1" dirty="0">
                <a:solidFill>
                  <a:srgbClr val="C9922A"/>
                </a:solidFill>
                <a:latin typeface="Cambria" pitchFamily="34" charset="0"/>
                <a:ea typeface="Cambria" pitchFamily="34" charset="-122"/>
                <a:cs typeface="Cambria" pitchFamily="34" charset="-120"/>
              </a:rPr>
              <a:t>Salary</a:t>
            </a:r>
            <a:endParaRPr lang="en-US" sz="2400" dirty="0"/>
          </a:p>
        </p:txBody>
      </p:sp>
      <p:sp>
        <p:nvSpPr>
          <p:cNvPr id="9" name="Text 7"/>
          <p:cNvSpPr txBox="1"/>
          <p:nvPr/>
        </p:nvSpPr>
        <p:spPr>
          <a:xfrm>
            <a:off x="4575048" y="3127248"/>
            <a:ext cx="3038856" cy="822960"/>
          </a:xfrm>
          <a:prstGeom prst="rect">
            <a:avLst/>
          </a:prstGeom>
          <a:noFill/>
          <a:ln/>
        </p:spPr>
        <p:txBody>
          <a:bodyPr wrap="square" lIns="0" tIns="0" rIns="0" bIns="0" rtlCol="0" anchor="t"/>
          <a:lstStyle/>
          <a:p>
            <a:pPr indent="0" marL="0">
              <a:lnSpc>
                <a:spcPct val="118000"/>
              </a:lnSpc>
              <a:buNone/>
            </a:pPr>
            <a:r>
              <a:rPr lang="en-US" sz="1200" dirty="0">
                <a:solidFill>
                  <a:srgbClr val="DCEAEB"/>
                </a:solidFill>
                <a:latin typeface="Calibri" pitchFamily="34" charset="0"/>
                <a:ea typeface="Calibri" pitchFamily="34" charset="-122"/>
                <a:cs typeface="Calibri" pitchFamily="34" charset="-120"/>
              </a:rPr>
              <a:t>so the equity is upside rather than the whole compensation</a:t>
            </a:r>
            <a:endParaRPr lang="en-US" sz="1200" dirty="0"/>
          </a:p>
        </p:txBody>
      </p:sp>
      <p:sp>
        <p:nvSpPr>
          <p:cNvPr id="10" name="Shape 8"/>
          <p:cNvSpPr/>
          <p:nvPr/>
        </p:nvSpPr>
        <p:spPr>
          <a:xfrm>
            <a:off x="8034528" y="2377440"/>
            <a:ext cx="3514344" cy="1691640"/>
          </a:xfrm>
          <a:prstGeom prst="roundRect">
            <a:avLst>
              <a:gd name="adj" fmla="val 4324"/>
            </a:avLst>
          </a:prstGeom>
          <a:solidFill>
            <a:srgbClr val="1A6068"/>
          </a:solidFill>
          <a:ln w="12700">
            <a:solidFill>
              <a:srgbClr val="2E7D85"/>
            </a:solidFill>
            <a:prstDash val="solid"/>
          </a:ln>
        </p:spPr>
      </p:sp>
      <p:sp>
        <p:nvSpPr>
          <p:cNvPr id="11" name="Text 9"/>
          <p:cNvSpPr txBox="1"/>
          <p:nvPr/>
        </p:nvSpPr>
        <p:spPr>
          <a:xfrm>
            <a:off x="8272272" y="2560320"/>
            <a:ext cx="3038856" cy="548640"/>
          </a:xfrm>
          <a:prstGeom prst="rect">
            <a:avLst/>
          </a:prstGeom>
          <a:noFill/>
          <a:ln/>
        </p:spPr>
        <p:txBody>
          <a:bodyPr wrap="square" lIns="0" tIns="0" rIns="0" bIns="0" rtlCol="0" anchor="ctr"/>
          <a:lstStyle/>
          <a:p>
            <a:pPr indent="0" marL="0">
              <a:buNone/>
            </a:pPr>
            <a:r>
              <a:rPr lang="en-US" sz="2400" b="1" dirty="0">
                <a:solidFill>
                  <a:srgbClr val="C9922A"/>
                </a:solidFill>
                <a:latin typeface="Cambria" pitchFamily="34" charset="0"/>
                <a:ea typeface="Cambria" pitchFamily="34" charset="-122"/>
                <a:cs typeface="Cambria" pitchFamily="34" charset="-120"/>
              </a:rPr>
              <a:t>The record</a:t>
            </a:r>
            <a:endParaRPr lang="en-US" sz="2400" dirty="0"/>
          </a:p>
        </p:txBody>
      </p:sp>
      <p:sp>
        <p:nvSpPr>
          <p:cNvPr id="12" name="Text 10"/>
          <p:cNvSpPr txBox="1"/>
          <p:nvPr/>
        </p:nvSpPr>
        <p:spPr>
          <a:xfrm>
            <a:off x="8272272" y="3127248"/>
            <a:ext cx="3038856" cy="822960"/>
          </a:xfrm>
          <a:prstGeom prst="rect">
            <a:avLst/>
          </a:prstGeom>
          <a:noFill/>
          <a:ln/>
        </p:spPr>
        <p:txBody>
          <a:bodyPr wrap="square" lIns="0" tIns="0" rIns="0" bIns="0" rtlCol="0" anchor="t"/>
          <a:lstStyle/>
          <a:p>
            <a:pPr indent="0" marL="0">
              <a:lnSpc>
                <a:spcPct val="118000"/>
              </a:lnSpc>
              <a:buNone/>
            </a:pPr>
            <a:r>
              <a:rPr lang="en-US" sz="1200" dirty="0">
                <a:solidFill>
                  <a:srgbClr val="DCEAEB"/>
                </a:solidFill>
                <a:latin typeface="Calibri" pitchFamily="34" charset="0"/>
                <a:ea typeface="Calibri" pitchFamily="34" charset="-122"/>
                <a:cs typeface="Calibri" pitchFamily="34" charset="-120"/>
              </a:rPr>
              <a:t>a marketplace you built and ran, from nothing, in a year</a:t>
            </a:r>
            <a:endParaRPr lang="en-US" sz="1200" dirty="0"/>
          </a:p>
        </p:txBody>
      </p:sp>
      <p:sp>
        <p:nvSpPr>
          <p:cNvPr id="13" name="Text 11"/>
          <p:cNvSpPr txBox="1"/>
          <p:nvPr/>
        </p:nvSpPr>
        <p:spPr>
          <a:xfrm>
            <a:off x="640080" y="4343400"/>
            <a:ext cx="10908792" cy="457200"/>
          </a:xfrm>
          <a:prstGeom prst="rect">
            <a:avLst/>
          </a:prstGeom>
          <a:noFill/>
          <a:ln/>
        </p:spPr>
        <p:txBody>
          <a:bodyPr wrap="square" lIns="0" tIns="0" rIns="0" bIns="0" rtlCol="0" anchor="t"/>
          <a:lstStyle/>
          <a:p>
            <a:pPr indent="0" marL="0">
              <a:buNone/>
            </a:pPr>
            <a:r>
              <a:rPr lang="en-US" sz="2100" b="1" dirty="0">
                <a:solidFill>
                  <a:srgbClr val="C9922A"/>
                </a:solidFill>
                <a:latin typeface="Cambria" pitchFamily="34" charset="0"/>
                <a:ea typeface="Cambria" pitchFamily="34" charset="-122"/>
                <a:cs typeface="Cambria" pitchFamily="34" charset="-120"/>
              </a:rPr>
              <a:t>The part that is not on the cap table</a:t>
            </a:r>
            <a:endParaRPr lang="en-US" sz="2100" dirty="0"/>
          </a:p>
        </p:txBody>
      </p:sp>
      <p:sp>
        <p:nvSpPr>
          <p:cNvPr id="14" name="Text 12"/>
          <p:cNvSpPr txBox="1"/>
          <p:nvPr/>
        </p:nvSpPr>
        <p:spPr>
          <a:xfrm>
            <a:off x="640080" y="4846320"/>
            <a:ext cx="10424160" cy="1371600"/>
          </a:xfrm>
          <a:prstGeom prst="rect">
            <a:avLst/>
          </a:prstGeom>
          <a:noFill/>
          <a:ln/>
        </p:spPr>
        <p:txBody>
          <a:bodyPr wrap="square" lIns="0" tIns="0" rIns="0" bIns="0" rtlCol="0" anchor="t"/>
          <a:lstStyle/>
          <a:p>
            <a:pPr indent="0" marL="0">
              <a:lnSpc>
                <a:spcPct val="130000"/>
              </a:lnSpc>
              <a:buNone/>
            </a:pPr>
            <a:r>
              <a:rPr lang="en-US" sz="1400" dirty="0">
                <a:solidFill>
                  <a:srgbClr val="DCEAEB"/>
                </a:solidFill>
                <a:latin typeface="Calibri" pitchFamily="34" charset="0"/>
                <a:ea typeface="Calibri" pitchFamily="34" charset="-122"/>
                <a:cs typeface="Calibri" pitchFamily="34" charset="-120"/>
              </a:rPr>
              <a:t>Nobody gets to build the whole of something twice. If this works, the thing you own is not only the 20% — it is having been the person who took a plan and made it a company, with the commits and the roster and the first hundred customers to show for it.</a:t>
            </a:r>
            <a:endParaRPr lang="en-US" sz="1400" dirty="0"/>
          </a:p>
          <a:p>
            <a:pPr indent="0" marL="0">
              <a:lnSpc>
                <a:spcPct val="130000"/>
              </a:lnSpc>
              <a:buNone/>
            </a:pPr>
            <a:endParaRPr lang="en-US" sz="1400" dirty="0"/>
          </a:p>
          <a:p>
            <a:pPr indent="0" marL="0">
              <a:lnSpc>
                <a:spcPct val="130000"/>
              </a:lnSpc>
              <a:buNone/>
            </a:pPr>
            <a:r>
              <a:rPr lang="en-US" sz="1400" dirty="0">
                <a:solidFill>
                  <a:srgbClr val="DCEAEB"/>
                </a:solidFill>
                <a:latin typeface="Calibri" pitchFamily="34" charset="0"/>
                <a:ea typeface="Calibri" pitchFamily="34" charset="-122"/>
                <a:cs typeface="Calibri" pitchFamily="34" charset="-120"/>
              </a:rPr>
              <a:t>And if it does not work, that is still true, and it is still the strongest thing on your CV.</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What is expected of you.</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The honest list, including the bit that is uncomfortable.</a:t>
            </a:r>
            <a:endParaRPr lang="en-US" sz="1700" dirty="0"/>
          </a:p>
        </p:txBody>
      </p:sp>
      <p:sp>
        <p:nvSpPr>
          <p:cNvPr id="4" name="Text 2"/>
          <p:cNvSpPr txBox="1"/>
          <p:nvPr/>
        </p:nvSpPr>
        <p:spPr>
          <a:xfrm>
            <a:off x="640080" y="2560320"/>
            <a:ext cx="10908792" cy="237744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500" dirty="0">
                <a:solidFill>
                  <a:srgbClr val="5A544E"/>
                </a:solidFill>
                <a:latin typeface="Calibri" pitchFamily="34" charset="0"/>
                <a:ea typeface="Calibri" pitchFamily="34" charset="-122"/>
                <a:cs typeface="Calibri" pitchFamily="34" charset="-120"/>
              </a:rPr>
              <a:t>Ten studios live with a rate card each, by the end of month one. This is the gate everything else sits behind.</a:t>
            </a:r>
            <a:endParaRPr lang="en-US" sz="1500" dirty="0"/>
          </a:p>
          <a:p>
            <a:pPr marL="342900" indent="-342900">
              <a:lnSpc>
                <a:spcPct val="120000"/>
              </a:lnSpc>
              <a:spcAft>
                <a:spcPts val="1200"/>
              </a:spcAft>
              <a:buSzPct val="100000"/>
              <a:buChar char="•"/>
            </a:pPr>
            <a:r>
              <a:rPr lang="en-US" sz="1500" dirty="0">
                <a:solidFill>
                  <a:srgbClr val="5A544E"/>
                </a:solidFill>
                <a:latin typeface="Calibri" pitchFamily="34" charset="0"/>
                <a:ea typeface="Calibri" pitchFamily="34" charset="-122"/>
                <a:cs typeface="Calibri" pitchFamily="34" charset="-120"/>
              </a:rPr>
              <a:t>The first two hundred briefs, from channels that cost almost nothing — societies, network, Instagram.</a:t>
            </a:r>
            <a:endParaRPr lang="en-US" sz="1500" dirty="0"/>
          </a:p>
          <a:p>
            <a:pPr marL="342900" indent="-342900">
              <a:lnSpc>
                <a:spcPct val="120000"/>
              </a:lnSpc>
              <a:spcAft>
                <a:spcPts val="1200"/>
              </a:spcAft>
              <a:buSzPct val="100000"/>
              <a:buChar char="•"/>
            </a:pPr>
            <a:r>
              <a:rPr lang="en-US" sz="1500" dirty="0">
                <a:solidFill>
                  <a:srgbClr val="5A544E"/>
                </a:solidFill>
                <a:latin typeface="Calibri" pitchFamily="34" charset="0"/>
                <a:ea typeface="Calibri" pitchFamily="34" charset="-122"/>
                <a:cs typeface="Calibri" pitchFamily="34" charset="-120"/>
              </a:rPr>
              <a:t>The number that decides the year: cost per completed brief, known by week three and under ₹2,500.</a:t>
            </a:r>
            <a:endParaRPr lang="en-US" sz="1500" dirty="0"/>
          </a:p>
          <a:p>
            <a:pPr marL="342900" indent="-342900">
              <a:lnSpc>
                <a:spcPct val="120000"/>
              </a:lnSpc>
              <a:spcAft>
                <a:spcPts val="1200"/>
              </a:spcAft>
              <a:buSzPct val="100000"/>
              <a:buChar char="•"/>
            </a:pPr>
            <a:r>
              <a:rPr lang="en-US" sz="1500" dirty="0">
                <a:solidFill>
                  <a:srgbClr val="5A544E"/>
                </a:solidFill>
                <a:latin typeface="Calibri" pitchFamily="34" charset="0"/>
                <a:ea typeface="Calibri" pitchFamily="34" charset="-122"/>
                <a:cs typeface="Calibri" pitchFamily="34" charset="-120"/>
              </a:rPr>
              <a:t>Every expert call, until there is somebody to hire. Three per closed project, forty-five minutes each.</a:t>
            </a:r>
            <a:endParaRPr lang="en-US" sz="1500" dirty="0"/>
          </a:p>
          <a:p>
            <a:pPr marL="342900" indent="-342900">
              <a:lnSpc>
                <a:spcPct val="120000"/>
              </a:lnSpc>
              <a:spcAft>
                <a:spcPts val="1200"/>
              </a:spcAft>
              <a:buSzPct val="100000"/>
              <a:buChar char="•"/>
            </a:pPr>
            <a:r>
              <a:rPr lang="en-US" sz="1500" dirty="0">
                <a:solidFill>
                  <a:srgbClr val="5A544E"/>
                </a:solidFill>
                <a:latin typeface="Calibri" pitchFamily="34" charset="0"/>
                <a:ea typeface="Calibri" pitchFamily="34" charset="-122"/>
                <a:cs typeface="Calibri" pitchFamily="34" charset="-120"/>
              </a:rPr>
              <a:t>And saying so, early, when one of these is not going to happen.</a:t>
            </a:r>
            <a:endParaRPr lang="en-US" sz="1500" dirty="0"/>
          </a:p>
        </p:txBody>
      </p:sp>
      <p:sp>
        <p:nvSpPr>
          <p:cNvPr id="5" name="Shape 3"/>
          <p:cNvSpPr/>
          <p:nvPr/>
        </p:nvSpPr>
        <p:spPr>
          <a:xfrm>
            <a:off x="640080" y="5120640"/>
            <a:ext cx="10908792" cy="1188720"/>
          </a:xfrm>
          <a:prstGeom prst="roundRect">
            <a:avLst>
              <a:gd name="adj" fmla="val 6154"/>
            </a:avLst>
          </a:prstGeom>
          <a:solidFill>
            <a:srgbClr val="FAEDE6"/>
          </a:solidFill>
          <a:ln w="12700">
            <a:solidFill>
              <a:srgbClr val="E8C9B8"/>
            </a:solidFill>
            <a:prstDash val="solid"/>
          </a:ln>
        </p:spPr>
      </p:sp>
      <p:sp>
        <p:nvSpPr>
          <p:cNvPr id="6" name="Text 4"/>
          <p:cNvSpPr txBox="1"/>
          <p:nvPr/>
        </p:nvSpPr>
        <p:spPr>
          <a:xfrm>
            <a:off x="932688" y="5303520"/>
            <a:ext cx="10323576" cy="868680"/>
          </a:xfrm>
          <a:prstGeom prst="rect">
            <a:avLst/>
          </a:prstGeom>
          <a:noFill/>
          <a:ln/>
        </p:spPr>
        <p:txBody>
          <a:bodyPr wrap="square" lIns="0" tIns="0" rIns="0" bIns="0" rtlCol="0" anchor="t"/>
          <a:lstStyle/>
          <a:p>
            <a:pPr indent="0" marL="0">
              <a:lnSpc>
                <a:spcPct val="122000"/>
              </a:lnSpc>
              <a:buNone/>
            </a:pPr>
            <a:r>
              <a:rPr lang="en-US" sz="1350" dirty="0">
                <a:solidFill>
                  <a:srgbClr val="2A2622"/>
                </a:solidFill>
                <a:latin typeface="Calibri" pitchFamily="34" charset="0"/>
                <a:ea typeface="Calibri" pitchFamily="34" charset="-122"/>
                <a:cs typeface="Calibri" pitchFamily="34" charset="-120"/>
              </a:rPr>
              <a:t>Settle the salary number before you sign. The original ₹20 lakh use-of-funds — ₹6L demand, ₹5L verification, ₹6L the first expert, ₹3L legal — accounted for the whole cheque with no salary line in it. Swarupa’s ₹10 lakh is roughly the size of that gap, which is the reason the round grew. Get the figure agreed and written down rather than assumed.</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The cap table.</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₹30 lakh at ₹1 crore post-money. Everyone in one table, in every deck.</a:t>
            </a:r>
            <a:endParaRPr lang="en-US" sz="1700" dirty="0"/>
          </a:p>
        </p:txBody>
      </p:sp>
      <p:sp>
        <p:nvSpPr>
          <p:cNvPr id="4" name="Shape 2"/>
          <p:cNvSpPr/>
          <p:nvPr/>
        </p:nvSpPr>
        <p:spPr>
          <a:xfrm>
            <a:off x="640080" y="2331720"/>
            <a:ext cx="10908792" cy="731520"/>
          </a:xfrm>
          <a:prstGeom prst="roundRect">
            <a:avLst>
              <a:gd name="adj" fmla="val 10000"/>
            </a:avLst>
          </a:prstGeom>
          <a:solidFill>
            <a:srgbClr val="FBF7F0"/>
          </a:solidFill>
          <a:ln w="12700">
            <a:solidFill>
              <a:srgbClr val="E3DCD2"/>
            </a:solidFill>
            <a:prstDash val="solid"/>
          </a:ln>
        </p:spPr>
      </p:sp>
      <p:sp>
        <p:nvSpPr>
          <p:cNvPr id="5" name="Text 3"/>
          <p:cNvSpPr txBox="1"/>
          <p:nvPr/>
        </p:nvSpPr>
        <p:spPr>
          <a:xfrm>
            <a:off x="932688" y="2331720"/>
            <a:ext cx="2743200" cy="749808"/>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Yogesh</a:t>
            </a:r>
            <a:endParaRPr lang="en-US" sz="1500" dirty="0"/>
          </a:p>
        </p:txBody>
      </p:sp>
      <p:sp>
        <p:nvSpPr>
          <p:cNvPr id="6" name="Text 4"/>
          <p:cNvSpPr txBox="1"/>
          <p:nvPr/>
        </p:nvSpPr>
        <p:spPr>
          <a:xfrm>
            <a:off x="3749040" y="2331720"/>
            <a:ext cx="1280160" cy="749808"/>
          </a:xfrm>
          <a:prstGeom prst="rect">
            <a:avLst/>
          </a:prstGeom>
          <a:noFill/>
          <a:ln/>
        </p:spPr>
        <p:txBody>
          <a:bodyPr wrap="square" lIns="0" tIns="0" rIns="0" bIns="0" rtlCol="0" anchor="ctr"/>
          <a:lstStyle/>
          <a:p>
            <a:pPr indent="0" marL="0">
              <a:buNone/>
            </a:pPr>
            <a:r>
              <a:rPr lang="en-US" sz="2000" b="1" dirty="0">
                <a:solidFill>
                  <a:srgbClr val="5A544E"/>
                </a:solidFill>
                <a:latin typeface="Cambria" pitchFamily="34" charset="0"/>
                <a:ea typeface="Cambria" pitchFamily="34" charset="-122"/>
                <a:cs typeface="Cambria" pitchFamily="34" charset="-120"/>
              </a:rPr>
              <a:t>40%</a:t>
            </a:r>
            <a:endParaRPr lang="en-US" sz="2000" dirty="0"/>
          </a:p>
        </p:txBody>
      </p:sp>
      <p:sp>
        <p:nvSpPr>
          <p:cNvPr id="7" name="Text 5"/>
          <p:cNvSpPr txBox="1"/>
          <p:nvPr/>
        </p:nvSpPr>
        <p:spPr>
          <a:xfrm>
            <a:off x="5212080" y="2331720"/>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Founder — the idea, the direction, the decisions</a:t>
            </a:r>
            <a:endParaRPr lang="en-US" sz="1300" dirty="0"/>
          </a:p>
        </p:txBody>
      </p:sp>
      <p:sp>
        <p:nvSpPr>
          <p:cNvPr id="8" name="Shape 6"/>
          <p:cNvSpPr/>
          <p:nvPr/>
        </p:nvSpPr>
        <p:spPr>
          <a:xfrm>
            <a:off x="640080" y="3136392"/>
            <a:ext cx="10908792" cy="731520"/>
          </a:xfrm>
          <a:prstGeom prst="roundRect">
            <a:avLst>
              <a:gd name="adj" fmla="val 10000"/>
            </a:avLst>
          </a:prstGeom>
          <a:solidFill>
            <a:srgbClr val="E8F0F0"/>
          </a:solidFill>
          <a:ln w="12700">
            <a:solidFill>
              <a:srgbClr val="1A6068"/>
            </a:solidFill>
            <a:prstDash val="solid"/>
          </a:ln>
        </p:spPr>
      </p:sp>
      <p:sp>
        <p:nvSpPr>
          <p:cNvPr id="9" name="Text 7"/>
          <p:cNvSpPr txBox="1"/>
          <p:nvPr/>
        </p:nvSpPr>
        <p:spPr>
          <a:xfrm>
            <a:off x="932688" y="3136392"/>
            <a:ext cx="2743200" cy="749808"/>
          </a:xfrm>
          <a:prstGeom prst="rect">
            <a:avLst/>
          </a:prstGeom>
          <a:noFill/>
          <a:ln/>
        </p:spPr>
        <p:txBody>
          <a:bodyPr wrap="square" lIns="0" tIns="0" rIns="0" bIns="0" rtlCol="0" anchor="ctr"/>
          <a:lstStyle/>
          <a:p>
            <a:pPr indent="0" marL="0">
              <a:buNone/>
            </a:pPr>
            <a:r>
              <a:rPr lang="en-US" sz="1500" b="1" dirty="0">
                <a:solidFill>
                  <a:srgbClr val="1A6068"/>
                </a:solidFill>
                <a:latin typeface="Calibri" pitchFamily="34" charset="0"/>
                <a:ea typeface="Calibri" pitchFamily="34" charset="-122"/>
                <a:cs typeface="Calibri" pitchFamily="34" charset="-120"/>
              </a:rPr>
              <a:t>Sanyam</a:t>
            </a:r>
            <a:endParaRPr lang="en-US" sz="1500" dirty="0"/>
          </a:p>
        </p:txBody>
      </p:sp>
      <p:sp>
        <p:nvSpPr>
          <p:cNvPr id="10" name="Text 8"/>
          <p:cNvSpPr txBox="1"/>
          <p:nvPr/>
        </p:nvSpPr>
        <p:spPr>
          <a:xfrm>
            <a:off x="3749040" y="3136392"/>
            <a:ext cx="1280160" cy="749808"/>
          </a:xfrm>
          <a:prstGeom prst="rect">
            <a:avLst/>
          </a:prstGeom>
          <a:noFill/>
          <a:ln/>
        </p:spPr>
        <p:txBody>
          <a:bodyPr wrap="square" lIns="0" tIns="0" rIns="0" bIns="0" rtlCol="0" anchor="ctr"/>
          <a:lstStyle/>
          <a:p>
            <a:pPr indent="0" marL="0">
              <a:buNone/>
            </a:pPr>
            <a:r>
              <a:rPr lang="en-US" sz="2000" b="1" dirty="0">
                <a:solidFill>
                  <a:srgbClr val="1A6068"/>
                </a:solidFill>
                <a:latin typeface="Cambria" pitchFamily="34" charset="0"/>
                <a:ea typeface="Cambria" pitchFamily="34" charset="-122"/>
                <a:cs typeface="Cambria" pitchFamily="34" charset="-120"/>
              </a:rPr>
              <a:t>20%</a:t>
            </a:r>
            <a:endParaRPr lang="en-US" sz="2000" dirty="0"/>
          </a:p>
        </p:txBody>
      </p:sp>
      <p:sp>
        <p:nvSpPr>
          <p:cNvPr id="11" name="Text 9"/>
          <p:cNvSpPr txBox="1"/>
          <p:nvPr/>
        </p:nvSpPr>
        <p:spPr>
          <a:xfrm>
            <a:off x="5212080" y="3136392"/>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Execution — product, studios, customers, operations</a:t>
            </a:r>
            <a:endParaRPr lang="en-US" sz="1300" dirty="0"/>
          </a:p>
        </p:txBody>
      </p:sp>
      <p:sp>
        <p:nvSpPr>
          <p:cNvPr id="12" name="Shape 10"/>
          <p:cNvSpPr/>
          <p:nvPr/>
        </p:nvSpPr>
        <p:spPr>
          <a:xfrm>
            <a:off x="640080" y="3941064"/>
            <a:ext cx="10908792" cy="731520"/>
          </a:xfrm>
          <a:prstGeom prst="roundRect">
            <a:avLst>
              <a:gd name="adj" fmla="val 10000"/>
            </a:avLst>
          </a:prstGeom>
          <a:solidFill>
            <a:srgbClr val="FBF7F0"/>
          </a:solidFill>
          <a:ln w="12700">
            <a:solidFill>
              <a:srgbClr val="E3DCD2"/>
            </a:solidFill>
            <a:prstDash val="solid"/>
          </a:ln>
        </p:spPr>
      </p:sp>
      <p:sp>
        <p:nvSpPr>
          <p:cNvPr id="13" name="Text 11"/>
          <p:cNvSpPr txBox="1"/>
          <p:nvPr/>
        </p:nvSpPr>
        <p:spPr>
          <a:xfrm>
            <a:off x="932688" y="3941064"/>
            <a:ext cx="2743200" cy="749808"/>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Hauspire</a:t>
            </a:r>
            <a:endParaRPr lang="en-US" sz="1500" dirty="0"/>
          </a:p>
        </p:txBody>
      </p:sp>
      <p:sp>
        <p:nvSpPr>
          <p:cNvPr id="14" name="Text 12"/>
          <p:cNvSpPr txBox="1"/>
          <p:nvPr/>
        </p:nvSpPr>
        <p:spPr>
          <a:xfrm>
            <a:off x="3749040" y="3941064"/>
            <a:ext cx="1280160" cy="749808"/>
          </a:xfrm>
          <a:prstGeom prst="rect">
            <a:avLst/>
          </a:prstGeom>
          <a:noFill/>
          <a:ln/>
        </p:spPr>
        <p:txBody>
          <a:bodyPr wrap="square" lIns="0" tIns="0" rIns="0" bIns="0" rtlCol="0" anchor="ctr"/>
          <a:lstStyle/>
          <a:p>
            <a:pPr indent="0" marL="0">
              <a:buNone/>
            </a:pPr>
            <a:r>
              <a:rPr lang="en-US" sz="2000" b="1" dirty="0">
                <a:solidFill>
                  <a:srgbClr val="5A544E"/>
                </a:solidFill>
                <a:latin typeface="Cambria" pitchFamily="34" charset="0"/>
                <a:ea typeface="Cambria" pitchFamily="34" charset="-122"/>
                <a:cs typeface="Cambria" pitchFamily="34" charset="-120"/>
              </a:rPr>
              <a:t>20%</a:t>
            </a:r>
            <a:endParaRPr lang="en-US" sz="2000" dirty="0"/>
          </a:p>
        </p:txBody>
      </p:sp>
      <p:sp>
        <p:nvSpPr>
          <p:cNvPr id="15" name="Text 13"/>
          <p:cNvSpPr txBox="1"/>
          <p:nvPr/>
        </p:nvSpPr>
        <p:spPr>
          <a:xfrm>
            <a:off x="5212080" y="3941064"/>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Investor — ₹20 lakh, and the first pilot studio</a:t>
            </a:r>
            <a:endParaRPr lang="en-US" sz="1300" dirty="0"/>
          </a:p>
        </p:txBody>
      </p:sp>
      <p:sp>
        <p:nvSpPr>
          <p:cNvPr id="16" name="Shape 14"/>
          <p:cNvSpPr/>
          <p:nvPr/>
        </p:nvSpPr>
        <p:spPr>
          <a:xfrm>
            <a:off x="640080" y="4745736"/>
            <a:ext cx="10908792" cy="731520"/>
          </a:xfrm>
          <a:prstGeom prst="roundRect">
            <a:avLst>
              <a:gd name="adj" fmla="val 10000"/>
            </a:avLst>
          </a:prstGeom>
          <a:solidFill>
            <a:srgbClr val="FBF7F0"/>
          </a:solidFill>
          <a:ln w="12700">
            <a:solidFill>
              <a:srgbClr val="E3DCD2"/>
            </a:solidFill>
            <a:prstDash val="solid"/>
          </a:ln>
        </p:spPr>
      </p:sp>
      <p:sp>
        <p:nvSpPr>
          <p:cNvPr id="17" name="Text 15"/>
          <p:cNvSpPr txBox="1"/>
          <p:nvPr/>
        </p:nvSpPr>
        <p:spPr>
          <a:xfrm>
            <a:off x="932688" y="4745736"/>
            <a:ext cx="2743200" cy="749808"/>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Swarupa</a:t>
            </a:r>
            <a:endParaRPr lang="en-US" sz="1500" dirty="0"/>
          </a:p>
        </p:txBody>
      </p:sp>
      <p:sp>
        <p:nvSpPr>
          <p:cNvPr id="18" name="Text 16"/>
          <p:cNvSpPr txBox="1"/>
          <p:nvPr/>
        </p:nvSpPr>
        <p:spPr>
          <a:xfrm>
            <a:off x="3749040" y="4745736"/>
            <a:ext cx="1280160" cy="749808"/>
          </a:xfrm>
          <a:prstGeom prst="rect">
            <a:avLst/>
          </a:prstGeom>
          <a:noFill/>
          <a:ln/>
        </p:spPr>
        <p:txBody>
          <a:bodyPr wrap="square" lIns="0" tIns="0" rIns="0" bIns="0" rtlCol="0" anchor="ctr"/>
          <a:lstStyle/>
          <a:p>
            <a:pPr indent="0" marL="0">
              <a:buNone/>
            </a:pPr>
            <a:r>
              <a:rPr lang="en-US" sz="2000" b="1" dirty="0">
                <a:solidFill>
                  <a:srgbClr val="5A544E"/>
                </a:solidFill>
                <a:latin typeface="Cambria" pitchFamily="34" charset="0"/>
                <a:ea typeface="Cambria" pitchFamily="34" charset="-122"/>
                <a:cs typeface="Cambria" pitchFamily="34" charset="-120"/>
              </a:rPr>
              <a:t>10%</a:t>
            </a:r>
            <a:endParaRPr lang="en-US" sz="2000" dirty="0"/>
          </a:p>
        </p:txBody>
      </p:sp>
      <p:sp>
        <p:nvSpPr>
          <p:cNvPr id="19" name="Text 17"/>
          <p:cNvSpPr txBox="1"/>
          <p:nvPr/>
        </p:nvSpPr>
        <p:spPr>
          <a:xfrm>
            <a:off x="5212080" y="4745736"/>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Investor — ₹10 lakh, and marketing</a:t>
            </a:r>
            <a:endParaRPr lang="en-US" sz="1300" dirty="0"/>
          </a:p>
        </p:txBody>
      </p:sp>
      <p:sp>
        <p:nvSpPr>
          <p:cNvPr id="20" name="Shape 18"/>
          <p:cNvSpPr/>
          <p:nvPr/>
        </p:nvSpPr>
        <p:spPr>
          <a:xfrm>
            <a:off x="640080" y="5550408"/>
            <a:ext cx="10908792" cy="731520"/>
          </a:xfrm>
          <a:prstGeom prst="roundRect">
            <a:avLst>
              <a:gd name="adj" fmla="val 10000"/>
            </a:avLst>
          </a:prstGeom>
          <a:solidFill>
            <a:srgbClr val="FBF7F0"/>
          </a:solidFill>
          <a:ln w="12700">
            <a:solidFill>
              <a:srgbClr val="E3DCD2"/>
            </a:solidFill>
            <a:prstDash val="solid"/>
          </a:ln>
        </p:spPr>
      </p:sp>
      <p:sp>
        <p:nvSpPr>
          <p:cNvPr id="21" name="Text 19"/>
          <p:cNvSpPr txBox="1"/>
          <p:nvPr/>
        </p:nvSpPr>
        <p:spPr>
          <a:xfrm>
            <a:off x="932688" y="5550408"/>
            <a:ext cx="2743200" cy="749808"/>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ESOP pool</a:t>
            </a:r>
            <a:endParaRPr lang="en-US" sz="1500" dirty="0"/>
          </a:p>
        </p:txBody>
      </p:sp>
      <p:sp>
        <p:nvSpPr>
          <p:cNvPr id="22" name="Text 20"/>
          <p:cNvSpPr txBox="1"/>
          <p:nvPr/>
        </p:nvSpPr>
        <p:spPr>
          <a:xfrm>
            <a:off x="3749040" y="5550408"/>
            <a:ext cx="1280160" cy="749808"/>
          </a:xfrm>
          <a:prstGeom prst="rect">
            <a:avLst/>
          </a:prstGeom>
          <a:noFill/>
          <a:ln/>
        </p:spPr>
        <p:txBody>
          <a:bodyPr wrap="square" lIns="0" tIns="0" rIns="0" bIns="0" rtlCol="0" anchor="ctr"/>
          <a:lstStyle/>
          <a:p>
            <a:pPr indent="0" marL="0">
              <a:buNone/>
            </a:pPr>
            <a:r>
              <a:rPr lang="en-US" sz="2000" b="1" dirty="0">
                <a:solidFill>
                  <a:srgbClr val="5A544E"/>
                </a:solidFill>
                <a:latin typeface="Cambria" pitchFamily="34" charset="0"/>
                <a:ea typeface="Cambria" pitchFamily="34" charset="-122"/>
                <a:cs typeface="Cambria" pitchFamily="34" charset="-120"/>
              </a:rPr>
              <a:t>10%</a:t>
            </a:r>
            <a:endParaRPr lang="en-US" sz="2000" dirty="0"/>
          </a:p>
        </p:txBody>
      </p:sp>
      <p:sp>
        <p:nvSpPr>
          <p:cNvPr id="23" name="Text 21"/>
          <p:cNvSpPr txBox="1"/>
          <p:nvPr/>
        </p:nvSpPr>
        <p:spPr>
          <a:xfrm>
            <a:off x="5212080" y="5550408"/>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Reserved for hires the plan already needs</a:t>
            </a:r>
            <a:endParaRPr lang="en-US" sz="1300" dirty="0"/>
          </a:p>
        </p:txBody>
      </p:sp>
      <p:sp>
        <p:nvSpPr>
          <p:cNvPr id="24" name="Text 22"/>
          <p:cNvSpPr txBox="1"/>
          <p:nvPr/>
        </p:nvSpPr>
        <p:spPr>
          <a:xfrm>
            <a:off x="640080" y="6035040"/>
            <a:ext cx="10908792" cy="640080"/>
          </a:xfrm>
          <a:prstGeom prst="rect">
            <a:avLst/>
          </a:prstGeom>
          <a:noFill/>
          <a:ln/>
        </p:spPr>
        <p:txBody>
          <a:bodyPr wrap="square" lIns="0" tIns="0" rIns="0" bIns="0" rtlCol="0" anchor="t"/>
          <a:lstStyle/>
          <a:p>
            <a:pPr indent="0" marL="0">
              <a:lnSpc>
                <a:spcPct val="120000"/>
              </a:lnSpc>
              <a:buNone/>
            </a:pPr>
            <a:r>
              <a:rPr lang="en-US" sz="1300" dirty="0">
                <a:solidFill>
                  <a:srgbClr val="8B847C"/>
                </a:solidFill>
                <a:latin typeface="Calibri" pitchFamily="34" charset="0"/>
                <a:ea typeface="Calibri" pitchFamily="34" charset="-122"/>
                <a:cs typeface="Calibri" pitchFamily="34" charset="-120"/>
              </a:rPr>
              <a:t>The 10% pool is reserved, not held by anyone. The plan needs an expert, an ops person per city and engineers — reserving now is far cheaper than diluting everybody later. ₹30 lakh in, 30% sold, ₹70 lakh pre-money.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What would make this fail — for you.</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Every one of these is measurable inside ninety days.</a:t>
            </a:r>
            <a:endParaRPr lang="en-US" sz="1700" dirty="0"/>
          </a:p>
        </p:txBody>
      </p:sp>
      <p:sp>
        <p:nvSpPr>
          <p:cNvPr id="4" name="Shape 2"/>
          <p:cNvSpPr/>
          <p:nvPr/>
        </p:nvSpPr>
        <p:spPr>
          <a:xfrm>
            <a:off x="640080" y="2560320"/>
            <a:ext cx="10908792" cy="1024128"/>
          </a:xfrm>
          <a:prstGeom prst="roundRect">
            <a:avLst>
              <a:gd name="adj" fmla="val 7143"/>
            </a:avLst>
          </a:prstGeom>
          <a:solidFill>
            <a:srgbClr val="FFFFFF"/>
          </a:solidFill>
          <a:ln w="12700">
            <a:solidFill>
              <a:srgbClr val="E3DCD2"/>
            </a:solidFill>
            <a:prstDash val="solid"/>
          </a:ln>
        </p:spPr>
      </p:sp>
      <p:sp>
        <p:nvSpPr>
          <p:cNvPr id="5" name="Text 3"/>
          <p:cNvSpPr txBox="1"/>
          <p:nvPr/>
        </p:nvSpPr>
        <p:spPr>
          <a:xfrm>
            <a:off x="914400" y="2615184"/>
            <a:ext cx="4023360" cy="914400"/>
          </a:xfrm>
          <a:prstGeom prst="rect">
            <a:avLst/>
          </a:prstGeom>
          <a:noFill/>
          <a:ln/>
        </p:spPr>
        <p:txBody>
          <a:bodyPr wrap="square" lIns="0" tIns="0" rIns="0" bIns="0" rtlCol="0" anchor="ctr"/>
          <a:lstStyle/>
          <a:p>
            <a:pPr indent="0" marL="0">
              <a:lnSpc>
                <a:spcPct val="110000"/>
              </a:lnSpc>
              <a:buNone/>
            </a:pPr>
            <a:r>
              <a:rPr lang="en-US" sz="1400" b="1" dirty="0">
                <a:solidFill>
                  <a:srgbClr val="2A2622"/>
                </a:solidFill>
                <a:latin typeface="Calibri" pitchFamily="34" charset="0"/>
                <a:ea typeface="Calibri" pitchFamily="34" charset="-122"/>
                <a:cs typeface="Calibri" pitchFamily="34" charset="-120"/>
              </a:rPr>
              <a:t>You are the single point of failure</a:t>
            </a:r>
            <a:endParaRPr lang="en-US" sz="1400" dirty="0"/>
          </a:p>
        </p:txBody>
      </p:sp>
      <p:sp>
        <p:nvSpPr>
          <p:cNvPr id="6" name="Text 4"/>
          <p:cNvSpPr txBox="1"/>
          <p:nvPr/>
        </p:nvSpPr>
        <p:spPr>
          <a:xfrm>
            <a:off x="5212080" y="2615184"/>
            <a:ext cx="6126480" cy="914400"/>
          </a:xfrm>
          <a:prstGeom prst="rect">
            <a:avLst/>
          </a:prstGeom>
          <a:noFill/>
          <a:ln/>
        </p:spPr>
        <p:txBody>
          <a:bodyPr wrap="square" lIns="0" tIns="0" rIns="0" bIns="0" rtlCol="0" anchor="ctr"/>
          <a:lstStyle/>
          <a:p>
            <a:pPr indent="0" marL="0">
              <a:lnSpc>
                <a:spcPct val="118000"/>
              </a:lnSpc>
              <a:buNone/>
            </a:pPr>
            <a:r>
              <a:rPr lang="en-US" sz="1250" dirty="0">
                <a:solidFill>
                  <a:srgbClr val="5A544E"/>
                </a:solidFill>
                <a:latin typeface="Calibri" pitchFamily="34" charset="0"/>
                <a:ea typeface="Calibri" pitchFamily="34" charset="-122"/>
                <a:cs typeface="Calibri" pitchFamily="34" charset="-120"/>
              </a:rPr>
              <a:t>Four roles, one person, no redundancy. A fortnight of illness in month two costs the launch. There is no plan for this yet and there should be.</a:t>
            </a:r>
            <a:endParaRPr lang="en-US" sz="1250" dirty="0"/>
          </a:p>
        </p:txBody>
      </p:sp>
      <p:sp>
        <p:nvSpPr>
          <p:cNvPr id="7" name="Shape 5"/>
          <p:cNvSpPr/>
          <p:nvPr/>
        </p:nvSpPr>
        <p:spPr>
          <a:xfrm>
            <a:off x="640080" y="3657600"/>
            <a:ext cx="10908792" cy="1024128"/>
          </a:xfrm>
          <a:prstGeom prst="roundRect">
            <a:avLst>
              <a:gd name="adj" fmla="val 7143"/>
            </a:avLst>
          </a:prstGeom>
          <a:solidFill>
            <a:srgbClr val="FFFFFF"/>
          </a:solidFill>
          <a:ln w="12700">
            <a:solidFill>
              <a:srgbClr val="E3DCD2"/>
            </a:solidFill>
            <a:prstDash val="solid"/>
          </a:ln>
        </p:spPr>
      </p:sp>
      <p:sp>
        <p:nvSpPr>
          <p:cNvPr id="8" name="Text 6"/>
          <p:cNvSpPr txBox="1"/>
          <p:nvPr/>
        </p:nvSpPr>
        <p:spPr>
          <a:xfrm>
            <a:off x="914400" y="3712464"/>
            <a:ext cx="4023360" cy="914400"/>
          </a:xfrm>
          <a:prstGeom prst="rect">
            <a:avLst/>
          </a:prstGeom>
          <a:noFill/>
          <a:ln/>
        </p:spPr>
        <p:txBody>
          <a:bodyPr wrap="square" lIns="0" tIns="0" rIns="0" bIns="0" rtlCol="0" anchor="ctr"/>
          <a:lstStyle/>
          <a:p>
            <a:pPr indent="0" marL="0">
              <a:lnSpc>
                <a:spcPct val="110000"/>
              </a:lnSpc>
              <a:buNone/>
            </a:pPr>
            <a:r>
              <a:rPr lang="en-US" sz="1400" b="1" dirty="0">
                <a:solidFill>
                  <a:srgbClr val="2A2622"/>
                </a:solidFill>
                <a:latin typeface="Calibri" pitchFamily="34" charset="0"/>
                <a:ea typeface="Calibri" pitchFamily="34" charset="-122"/>
                <a:cs typeface="Calibri" pitchFamily="34" charset="-120"/>
              </a:rPr>
              <a:t>The salary question goes unanswered</a:t>
            </a:r>
            <a:endParaRPr lang="en-US" sz="1400" dirty="0"/>
          </a:p>
        </p:txBody>
      </p:sp>
      <p:sp>
        <p:nvSpPr>
          <p:cNvPr id="9" name="Text 7"/>
          <p:cNvSpPr txBox="1"/>
          <p:nvPr/>
        </p:nvSpPr>
        <p:spPr>
          <a:xfrm>
            <a:off x="5212080" y="3712464"/>
            <a:ext cx="6126480" cy="914400"/>
          </a:xfrm>
          <a:prstGeom prst="rect">
            <a:avLst/>
          </a:prstGeom>
          <a:noFill/>
          <a:ln/>
        </p:spPr>
        <p:txBody>
          <a:bodyPr wrap="square" lIns="0" tIns="0" rIns="0" bIns="0" rtlCol="0" anchor="ctr"/>
          <a:lstStyle/>
          <a:p>
            <a:pPr indent="0" marL="0">
              <a:lnSpc>
                <a:spcPct val="118000"/>
              </a:lnSpc>
              <a:buNone/>
            </a:pPr>
            <a:r>
              <a:rPr lang="en-US" sz="1250" dirty="0">
                <a:solidFill>
                  <a:srgbClr val="5A544E"/>
                </a:solidFill>
                <a:latin typeface="Calibri" pitchFamily="34" charset="0"/>
                <a:ea typeface="Calibri" pitchFamily="34" charset="-122"/>
                <a:cs typeface="Calibri" pitchFamily="34" charset="-120"/>
              </a:rPr>
              <a:t>The cheque does not cover it. Left unresolved, this becomes resentment somewhere around month four, and resentment in a two-person operating team is fatal.</a:t>
            </a:r>
            <a:endParaRPr lang="en-US" sz="1250" dirty="0"/>
          </a:p>
        </p:txBody>
      </p:sp>
      <p:sp>
        <p:nvSpPr>
          <p:cNvPr id="10" name="Shape 8"/>
          <p:cNvSpPr/>
          <p:nvPr/>
        </p:nvSpPr>
        <p:spPr>
          <a:xfrm>
            <a:off x="640080" y="4754880"/>
            <a:ext cx="10908792" cy="1024128"/>
          </a:xfrm>
          <a:prstGeom prst="roundRect">
            <a:avLst>
              <a:gd name="adj" fmla="val 7143"/>
            </a:avLst>
          </a:prstGeom>
          <a:solidFill>
            <a:srgbClr val="FFFFFF"/>
          </a:solidFill>
          <a:ln w="12700">
            <a:solidFill>
              <a:srgbClr val="E3DCD2"/>
            </a:solidFill>
            <a:prstDash val="solid"/>
          </a:ln>
        </p:spPr>
      </p:sp>
      <p:sp>
        <p:nvSpPr>
          <p:cNvPr id="11" name="Text 9"/>
          <p:cNvSpPr txBox="1"/>
          <p:nvPr/>
        </p:nvSpPr>
        <p:spPr>
          <a:xfrm>
            <a:off x="914400" y="4809744"/>
            <a:ext cx="4023360" cy="914400"/>
          </a:xfrm>
          <a:prstGeom prst="rect">
            <a:avLst/>
          </a:prstGeom>
          <a:noFill/>
          <a:ln/>
        </p:spPr>
        <p:txBody>
          <a:bodyPr wrap="square" lIns="0" tIns="0" rIns="0" bIns="0" rtlCol="0" anchor="ctr"/>
          <a:lstStyle/>
          <a:p>
            <a:pPr indent="0" marL="0">
              <a:lnSpc>
                <a:spcPct val="110000"/>
              </a:lnSpc>
              <a:buNone/>
            </a:pPr>
            <a:r>
              <a:rPr lang="en-US" sz="1400" b="1" dirty="0">
                <a:solidFill>
                  <a:srgbClr val="2A2622"/>
                </a:solidFill>
                <a:latin typeface="Calibri" pitchFamily="34" charset="0"/>
                <a:ea typeface="Calibri" pitchFamily="34" charset="-122"/>
                <a:cs typeface="Calibri" pitchFamily="34" charset="-120"/>
              </a:rPr>
              <a:t>20% against 40% starts to grate</a:t>
            </a:r>
            <a:endParaRPr lang="en-US" sz="1400" dirty="0"/>
          </a:p>
        </p:txBody>
      </p:sp>
      <p:sp>
        <p:nvSpPr>
          <p:cNvPr id="12" name="Text 10"/>
          <p:cNvSpPr txBox="1"/>
          <p:nvPr/>
        </p:nvSpPr>
        <p:spPr>
          <a:xfrm>
            <a:off x="5212080" y="4809744"/>
            <a:ext cx="6126480" cy="914400"/>
          </a:xfrm>
          <a:prstGeom prst="rect">
            <a:avLst/>
          </a:prstGeom>
          <a:noFill/>
          <a:ln/>
        </p:spPr>
        <p:txBody>
          <a:bodyPr wrap="square" lIns="0" tIns="0" rIns="0" bIns="0" rtlCol="0" anchor="ctr"/>
          <a:lstStyle/>
          <a:p>
            <a:pPr indent="0" marL="0">
              <a:lnSpc>
                <a:spcPct val="118000"/>
              </a:lnSpc>
              <a:buNone/>
            </a:pPr>
            <a:r>
              <a:rPr lang="en-US" sz="1250" dirty="0">
                <a:solidFill>
                  <a:srgbClr val="5A544E"/>
                </a:solidFill>
                <a:latin typeface="Calibri" pitchFamily="34" charset="0"/>
                <a:ea typeface="Calibri" pitchFamily="34" charset="-122"/>
                <a:cs typeface="Calibri" pitchFamily="34" charset="-120"/>
              </a:rPr>
              <a:t>You will do most of the visible work. If that ratio is going to be a problem, it will be a problem — say it now, when it is a conversation rather than a grievance.</a:t>
            </a:r>
            <a:endParaRPr lang="en-US" sz="1250" dirty="0"/>
          </a:p>
        </p:txBody>
      </p:sp>
      <p:sp>
        <p:nvSpPr>
          <p:cNvPr id="13" name="Shape 11"/>
          <p:cNvSpPr/>
          <p:nvPr/>
        </p:nvSpPr>
        <p:spPr>
          <a:xfrm>
            <a:off x="640080" y="5852160"/>
            <a:ext cx="10908792" cy="1024128"/>
          </a:xfrm>
          <a:prstGeom prst="roundRect">
            <a:avLst>
              <a:gd name="adj" fmla="val 7143"/>
            </a:avLst>
          </a:prstGeom>
          <a:solidFill>
            <a:srgbClr val="FFFFFF"/>
          </a:solidFill>
          <a:ln w="12700">
            <a:solidFill>
              <a:srgbClr val="E3DCD2"/>
            </a:solidFill>
            <a:prstDash val="solid"/>
          </a:ln>
        </p:spPr>
      </p:sp>
      <p:sp>
        <p:nvSpPr>
          <p:cNvPr id="14" name="Text 12"/>
          <p:cNvSpPr txBox="1"/>
          <p:nvPr/>
        </p:nvSpPr>
        <p:spPr>
          <a:xfrm>
            <a:off x="914400" y="5907024"/>
            <a:ext cx="4023360" cy="914400"/>
          </a:xfrm>
          <a:prstGeom prst="rect">
            <a:avLst/>
          </a:prstGeom>
          <a:noFill/>
          <a:ln/>
        </p:spPr>
        <p:txBody>
          <a:bodyPr wrap="square" lIns="0" tIns="0" rIns="0" bIns="0" rtlCol="0" anchor="ctr"/>
          <a:lstStyle/>
          <a:p>
            <a:pPr indent="0" marL="0">
              <a:lnSpc>
                <a:spcPct val="110000"/>
              </a:lnSpc>
              <a:buNone/>
            </a:pPr>
            <a:r>
              <a:rPr lang="en-US" sz="1400" b="1" dirty="0">
                <a:solidFill>
                  <a:srgbClr val="2A2622"/>
                </a:solidFill>
                <a:latin typeface="Calibri" pitchFamily="34" charset="0"/>
                <a:ea typeface="Calibri" pitchFamily="34" charset="-122"/>
                <a:cs typeface="Calibri" pitchFamily="34" charset="-120"/>
              </a:rPr>
              <a:t>Acquisition costs 12× the model</a:t>
            </a:r>
            <a:endParaRPr lang="en-US" sz="1400" dirty="0"/>
          </a:p>
        </p:txBody>
      </p:sp>
      <p:sp>
        <p:nvSpPr>
          <p:cNvPr id="15" name="Text 13"/>
          <p:cNvSpPr txBox="1"/>
          <p:nvPr/>
        </p:nvSpPr>
        <p:spPr>
          <a:xfrm>
            <a:off x="5212080" y="5907024"/>
            <a:ext cx="6126480" cy="914400"/>
          </a:xfrm>
          <a:prstGeom prst="rect">
            <a:avLst/>
          </a:prstGeom>
          <a:noFill/>
          <a:ln/>
        </p:spPr>
        <p:txBody>
          <a:bodyPr wrap="square" lIns="0" tIns="0" rIns="0" bIns="0" rtlCol="0" anchor="ctr"/>
          <a:lstStyle/>
          <a:p>
            <a:pPr indent="0" marL="0">
              <a:lnSpc>
                <a:spcPct val="118000"/>
              </a:lnSpc>
              <a:buNone/>
            </a:pPr>
            <a:r>
              <a:rPr lang="en-US" sz="1250" dirty="0">
                <a:solidFill>
                  <a:srgbClr val="5A544E"/>
                </a:solidFill>
                <a:latin typeface="Calibri" pitchFamily="34" charset="0"/>
                <a:ea typeface="Calibri" pitchFamily="34" charset="-122"/>
                <a:cs typeface="Calibri" pitchFamily="34" charset="-120"/>
              </a:rPr>
              <a:t>If a completed brief costs more than ₹2,500 and no owned channel replaces paid, the unit economics do not close and the year has to be replanned.</a:t>
            </a:r>
            <a:endParaRPr lang="en-US" sz="1250" dirty="0"/>
          </a:p>
        </p:txBody>
      </p:sp>
      <p:sp>
        <p:nvSpPr>
          <p:cNvPr id="16" name="Text 14"/>
          <p:cNvSpPr txBox="1"/>
          <p:nvPr/>
        </p:nvSpPr>
        <p:spPr>
          <a:xfrm>
            <a:off x="640080" y="7178040"/>
            <a:ext cx="10908792" cy="548640"/>
          </a:xfrm>
          <a:prstGeom prst="rect">
            <a:avLst/>
          </a:prstGeom>
          <a:noFill/>
          <a:ln/>
        </p:spPr>
        <p:txBody>
          <a:bodyPr wrap="square" lIns="0" tIns="0" rIns="0" bIns="0" rtlCol="0" anchor="t"/>
          <a:lstStyle/>
          <a:p>
            <a:pPr indent="0" marL="0">
              <a:buNone/>
            </a:pPr>
            <a:r>
              <a:rPr lang="en-US" sz="1600" b="1" dirty="0">
                <a:solidFill>
                  <a:srgbClr val="1A6068"/>
                </a:solidFill>
                <a:latin typeface="Cambria" pitchFamily="34" charset="0"/>
                <a:ea typeface="Cambria" pitchFamily="34" charset="-122"/>
                <a:cs typeface="Cambria" pitchFamily="34" charset="-120"/>
              </a:rPr>
              <a:t>Three of those four are conversations to have before signing, not problems to discover.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454B"/>
        </a:solidFill>
      </p:bgPr>
    </p:bg>
    <p:spTree>
      <p:nvGrpSpPr>
        <p:cNvPr id="1" name=""/>
        <p:cNvGrpSpPr/>
        <p:nvPr/>
      </p:nvGrpSpPr>
      <p:grpSpPr>
        <a:xfrm>
          <a:off x="0" y="0"/>
          <a:ext cx="0" cy="0"/>
          <a:chOff x="0" y="0"/>
          <a:chExt cx="0" cy="0"/>
        </a:xfrm>
      </p:grpSpPr>
      <p:sp>
        <p:nvSpPr>
          <p:cNvPr id="2" name="Text 0"/>
          <p:cNvSpPr txBox="1"/>
          <p:nvPr/>
        </p:nvSpPr>
        <p:spPr>
          <a:xfrm>
            <a:off x="640080" y="1920240"/>
            <a:ext cx="10515600" cy="1463040"/>
          </a:xfrm>
          <a:prstGeom prst="rect">
            <a:avLst/>
          </a:prstGeom>
          <a:noFill/>
          <a:ln/>
        </p:spPr>
        <p:txBody>
          <a:bodyPr wrap="square" lIns="0" tIns="0" rIns="0" bIns="0" rtlCol="0" anchor="ctr"/>
          <a:lstStyle/>
          <a:p>
            <a:pPr indent="0" marL="0">
              <a:lnSpc>
                <a:spcPct val="112000"/>
              </a:lnSpc>
              <a:buNone/>
            </a:pPr>
            <a:r>
              <a:rPr lang="en-US" sz="3800" b="1" dirty="0">
                <a:solidFill>
                  <a:srgbClr val="FFFFFF"/>
                </a:solidFill>
                <a:latin typeface="Cambria" pitchFamily="34" charset="0"/>
                <a:ea typeface="Cambria" pitchFamily="34" charset="-122"/>
                <a:cs typeface="Cambria" pitchFamily="34" charset="-120"/>
              </a:rPr>
              <a:t>You already built it.</a:t>
            </a:r>
            <a:endParaRPr lang="en-US" sz="3800" dirty="0"/>
          </a:p>
          <a:p>
            <a:pPr indent="0" marL="0">
              <a:lnSpc>
                <a:spcPct val="112000"/>
              </a:lnSpc>
              <a:buNone/>
            </a:pPr>
            <a:r>
              <a:rPr lang="en-US" sz="3800" b="1" dirty="0">
                <a:solidFill>
                  <a:srgbClr val="FFFFFF"/>
                </a:solidFill>
                <a:latin typeface="Cambria" pitchFamily="34" charset="0"/>
                <a:ea typeface="Cambria" pitchFamily="34" charset="-122"/>
                <a:cs typeface="Cambria" pitchFamily="34" charset="-120"/>
              </a:rPr>
              <a:t>This is the part where it becomes a company.</a:t>
            </a:r>
            <a:endParaRPr lang="en-US" sz="3800" dirty="0"/>
          </a:p>
        </p:txBody>
      </p:sp>
      <p:sp>
        <p:nvSpPr>
          <p:cNvPr id="3" name="Text 1"/>
          <p:cNvSpPr txBox="1"/>
          <p:nvPr/>
        </p:nvSpPr>
        <p:spPr>
          <a:xfrm>
            <a:off x="640080" y="3566160"/>
            <a:ext cx="9692640" cy="1645920"/>
          </a:xfrm>
          <a:prstGeom prst="rect">
            <a:avLst/>
          </a:prstGeom>
          <a:noFill/>
          <a:ln/>
        </p:spPr>
        <p:txBody>
          <a:bodyPr wrap="square" lIns="0" tIns="0" rIns="0" bIns="0" rtlCol="0" anchor="ctr"/>
          <a:lstStyle/>
          <a:p>
            <a:pPr indent="0" marL="0">
              <a:lnSpc>
                <a:spcPct val="130000"/>
              </a:lnSpc>
              <a:buNone/>
            </a:pPr>
            <a:r>
              <a:rPr lang="en-US" sz="1600" dirty="0">
                <a:solidFill>
                  <a:srgbClr val="CFE0E2"/>
                </a:solidFill>
                <a:latin typeface="Calibri" pitchFamily="34" charset="0"/>
                <a:ea typeface="Calibri" pitchFamily="34" charset="-122"/>
                <a:cs typeface="Calibri" pitchFamily="34" charset="-120"/>
              </a:rPr>
              <a:t>The product is done and it was done by one person. What the next ninety days decide is whether the thing that was built gets used — and that is the same person again, doing a different and harder job.</a:t>
            </a:r>
            <a:endParaRPr lang="en-US" sz="1600" dirty="0"/>
          </a:p>
          <a:p>
            <a:pPr indent="0" marL="0">
              <a:lnSpc>
                <a:spcPct val="130000"/>
              </a:lnSpc>
              <a:buNone/>
            </a:pPr>
            <a:endParaRPr lang="en-US" sz="1600" dirty="0"/>
          </a:p>
          <a:p>
            <a:pPr indent="0" marL="0">
              <a:lnSpc>
                <a:spcPct val="130000"/>
              </a:lnSpc>
              <a:buNone/>
            </a:pPr>
            <a:r>
              <a:rPr lang="en-US" sz="1600" dirty="0">
                <a:solidFill>
                  <a:srgbClr val="CFE0E2"/>
                </a:solidFill>
                <a:latin typeface="Calibri" pitchFamily="34" charset="0"/>
                <a:ea typeface="Calibri" pitchFamily="34" charset="-122"/>
                <a:cs typeface="Calibri" pitchFamily="34" charset="-120"/>
              </a:rPr>
              <a:t>Twenty percent, a salary that needs settling, and the first real operating record of your career.</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Interiors — Sanyam</dc:title>
  <dc:subject>PptxGenJS Presentation</dc:subject>
  <dc:creator>One Interiors</dc:creator>
  <cp:lastModifiedBy>One Interiors</cp:lastModifiedBy>
  <cp:revision>1</cp:revision>
  <dcterms:created xsi:type="dcterms:W3CDTF">2026-09-13T14:57:20Z</dcterms:created>
  <dcterms:modified xsi:type="dcterms:W3CDTF">2026-09-13T14:57:20Z</dcterms:modified>
</cp:coreProperties>
</file>