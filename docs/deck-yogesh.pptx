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respectful version of this deck is the one that says the blockers are his. Do not bury that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in the room. Everybody here already knows what the company is; this slide exists so the three decks start from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A shareholder who discovers it later stops believing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 is on this slide on purpose. Our own model says the roster does not reach 50 at the churn we assumed, and everyone signing should have seen that number before they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to the blockers. That is the useful part of this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the last paragraph. Going from 50 to 40 changes who can carry a vote, and a shareholder should hear that from you rather than work it out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The product is finished and the blockers are all on his side of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table in all three decks, deliberately. Anyone comparing their copy with another should find the facts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name. It is three days from the launch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dates on all four before leaving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828800"/>
            <a:ext cx="10908792"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Yogesh</a:t>
            </a:r>
            <a:endParaRPr lang="en-US" sz="4600" dirty="0"/>
          </a:p>
        </p:txBody>
      </p:sp>
      <p:sp>
        <p:nvSpPr>
          <p:cNvPr id="3" name="Text 1"/>
          <p:cNvSpPr txBox="1"/>
          <p:nvPr/>
        </p:nvSpPr>
        <p:spPr>
          <a:xfrm>
            <a:off x="640080" y="2697480"/>
            <a:ext cx="9144000" cy="548640"/>
          </a:xfrm>
          <a:prstGeom prst="rect">
            <a:avLst/>
          </a:prstGeom>
          <a:noFill/>
          <a:ln/>
        </p:spPr>
        <p:txBody>
          <a:bodyPr wrap="square" lIns="0" tIns="0" rIns="0" bIns="0" rtlCol="0" anchor="ctr"/>
          <a:lstStyle/>
          <a:p>
            <a:pPr indent="0" marL="0">
              <a:buNone/>
            </a:pPr>
            <a:r>
              <a:rPr lang="en-US" sz="2400" i="1" dirty="0">
                <a:solidFill>
                  <a:srgbClr val="C9922A"/>
                </a:solidFill>
                <a:latin typeface="Cambria" pitchFamily="34" charset="0"/>
                <a:ea typeface="Cambria" pitchFamily="34" charset="-122"/>
                <a:cs typeface="Cambria" pitchFamily="34" charset="-120"/>
              </a:rPr>
              <a:t>Founder — the idea, the direction, the decisions</a:t>
            </a:r>
            <a:endParaRPr lang="en-US" sz="2400" dirty="0"/>
          </a:p>
        </p:txBody>
      </p:sp>
      <p:sp>
        <p:nvSpPr>
          <p:cNvPr id="4" name="Text 2"/>
          <p:cNvSpPr txBox="1"/>
          <p:nvPr/>
        </p:nvSpPr>
        <p:spPr>
          <a:xfrm>
            <a:off x="640080" y="3474720"/>
            <a:ext cx="8046720" cy="1280160"/>
          </a:xfrm>
          <a:prstGeom prst="rect">
            <a:avLst/>
          </a:prstGeom>
          <a:noFill/>
          <a:ln/>
        </p:spPr>
        <p:txBody>
          <a:bodyPr wrap="square" lIns="0" tIns="0" rIns="0" bIns="0" rtlCol="0" anchor="ctr"/>
          <a:lstStyle/>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You hold the largest stake in this because the idea was yours. What the next ninety days need from you is not more ideas — it is four decisions that are blocking everything downstream.</a:t>
            </a:r>
            <a:endParaRPr lang="en-US" sz="1600" dirty="0"/>
          </a:p>
        </p:txBody>
      </p:sp>
      <p:sp>
        <p:nvSpPr>
          <p:cNvPr id="5" name="Text 3"/>
          <p:cNvSpPr txBox="1"/>
          <p:nvPr/>
        </p:nvSpPr>
        <p:spPr>
          <a:xfrm>
            <a:off x="640080" y="5394960"/>
            <a:ext cx="8229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One Interiors  ·  Pune  ·  September 2026</a:t>
            </a:r>
            <a:endParaRPr lang="en-US" sz="1400" dirty="0"/>
          </a:p>
        </p:txBody>
      </p:sp>
      <p:sp>
        <p:nvSpPr>
          <p:cNvPr id="6" name="Text 4"/>
          <p:cNvSpPr txBox="1"/>
          <p:nvPr/>
        </p:nvSpPr>
        <p:spPr>
          <a:xfrm>
            <a:off x="640080" y="5852160"/>
            <a:ext cx="9601200" cy="411480"/>
          </a:xfrm>
          <a:prstGeom prst="rect">
            <a:avLst/>
          </a:prstGeom>
          <a:noFill/>
          <a:ln/>
        </p:spPr>
        <p:txBody>
          <a:bodyPr wrap="square" lIns="0" tIns="0" rIns="0" bIns="0" rtlCol="0" anchor="ctr"/>
          <a:lstStyle/>
          <a:p>
            <a:pPr indent="0" marL="0">
              <a:buNone/>
            </a:pPr>
            <a:r>
              <a:rPr lang="en-US" sz="1100" i="1" dirty="0">
                <a:solidFill>
                  <a:srgbClr val="8FB3B6"/>
                </a:solidFill>
                <a:latin typeface="Calibri" pitchFamily="34" charset="0"/>
                <a:ea typeface="Calibri" pitchFamily="34" charset="-122"/>
                <a:cs typeface="Calibri" pitchFamily="34" charset="-120"/>
              </a:rPr>
              <a:t>Working name. The permanent name is being settled this week — nothing in the product hardcodes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we are building.</a:t>
            </a:r>
            <a:endParaRPr lang="en-US" sz="3400" dirty="0"/>
          </a:p>
        </p:txBody>
      </p:sp>
      <p:sp>
        <p:nvSpPr>
          <p:cNvPr id="3" name="Text 1"/>
          <p:cNvSpPr txBox="1"/>
          <p:nvPr/>
        </p:nvSpPr>
        <p:spPr>
          <a:xfrm>
            <a:off x="640080" y="1463040"/>
            <a:ext cx="10424160" cy="10058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A curated marketplace for interior design in Pune. Nine questions, matched to verified studios, a real price from each studio’s own rates, and a neutral expert on the phone before anyone is introduced.</a:t>
            </a:r>
            <a:endParaRPr lang="en-US" sz="1700" dirty="0"/>
          </a:p>
        </p:txBody>
      </p:sp>
      <p:sp>
        <p:nvSpPr>
          <p:cNvPr id="4" name="Shape 2"/>
          <p:cNvSpPr/>
          <p:nvPr/>
        </p:nvSpPr>
        <p:spPr>
          <a:xfrm>
            <a:off x="640080" y="2734056"/>
            <a:ext cx="420624" cy="420624"/>
          </a:xfrm>
          <a:prstGeom prst="ellipse">
            <a:avLst/>
          </a:prstGeom>
          <a:solidFill>
            <a:srgbClr val="1A6068"/>
          </a:solidFill>
          <a:ln/>
        </p:spPr>
      </p:sp>
      <p:sp>
        <p:nvSpPr>
          <p:cNvPr id="5" name="Text 3"/>
          <p:cNvSpPr txBox="1"/>
          <p:nvPr/>
        </p:nvSpPr>
        <p:spPr>
          <a:xfrm>
            <a:off x="64008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problem</a:t>
            </a:r>
            <a:endParaRPr lang="en-US" sz="1500" dirty="0"/>
          </a:p>
        </p:txBody>
      </p:sp>
      <p:sp>
        <p:nvSpPr>
          <p:cNvPr id="7" name="Text 5"/>
          <p:cNvSpPr txBox="1"/>
          <p:nvPr/>
        </p:nvSpPr>
        <p:spPr>
          <a:xfrm>
            <a:off x="1261872" y="302666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Not finding a designer — you can find forty in an afternoon. Telling which one will still be answering the phone in month four.</a:t>
            </a:r>
            <a:endParaRPr lang="en-US" sz="1300" dirty="0"/>
          </a:p>
        </p:txBody>
      </p:sp>
      <p:sp>
        <p:nvSpPr>
          <p:cNvPr id="8" name="Shape 6"/>
          <p:cNvSpPr/>
          <p:nvPr/>
        </p:nvSpPr>
        <p:spPr>
          <a:xfrm>
            <a:off x="6217920" y="2734056"/>
            <a:ext cx="420624" cy="420624"/>
          </a:xfrm>
          <a:prstGeom prst="ellipse">
            <a:avLst/>
          </a:prstGeom>
          <a:solidFill>
            <a:srgbClr val="1A6068"/>
          </a:solidFill>
          <a:ln/>
        </p:spPr>
      </p:sp>
      <p:sp>
        <p:nvSpPr>
          <p:cNvPr id="9" name="Text 7"/>
          <p:cNvSpPr txBox="1"/>
          <p:nvPr/>
        </p:nvSpPr>
        <p:spPr>
          <a:xfrm>
            <a:off x="621792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83971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What we sell</a:t>
            </a:r>
            <a:endParaRPr lang="en-US" sz="1500" dirty="0"/>
          </a:p>
        </p:txBody>
      </p:sp>
      <p:sp>
        <p:nvSpPr>
          <p:cNvPr id="11" name="Text 9"/>
          <p:cNvSpPr txBox="1"/>
          <p:nvPr/>
        </p:nvSpPr>
        <p:spPr>
          <a:xfrm>
            <a:off x="6839712" y="302666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Certainty, not taste. Every complaint in this trade is an execution failure, not a matching failure.</a:t>
            </a:r>
            <a:endParaRPr lang="en-US" sz="1300" dirty="0"/>
          </a:p>
        </p:txBody>
      </p:sp>
      <p:sp>
        <p:nvSpPr>
          <p:cNvPr id="12" name="Shape 10"/>
          <p:cNvSpPr/>
          <p:nvPr/>
        </p:nvSpPr>
        <p:spPr>
          <a:xfrm>
            <a:off x="640080" y="4242816"/>
            <a:ext cx="420624" cy="420624"/>
          </a:xfrm>
          <a:prstGeom prst="ellipse">
            <a:avLst/>
          </a:prstGeom>
          <a:solidFill>
            <a:srgbClr val="1A6068"/>
          </a:solidFill>
          <a:ln/>
        </p:spPr>
      </p:sp>
      <p:sp>
        <p:nvSpPr>
          <p:cNvPr id="13" name="Text 11"/>
          <p:cNvSpPr txBox="1"/>
          <p:nvPr/>
        </p:nvSpPr>
        <p:spPr>
          <a:xfrm>
            <a:off x="640080" y="42428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61872" y="420624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size of it</a:t>
            </a:r>
            <a:endParaRPr lang="en-US" sz="1500" dirty="0"/>
          </a:p>
        </p:txBody>
      </p:sp>
      <p:sp>
        <p:nvSpPr>
          <p:cNvPr id="15" name="Text 13"/>
          <p:cNvSpPr txBox="1"/>
          <p:nvPr/>
        </p:nvSpPr>
        <p:spPr>
          <a:xfrm>
            <a:off x="1261872" y="453542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₹7–27 lakh a project. The largest discretionary purchase most Indian households make after the flat itself.</a:t>
            </a:r>
            <a:endParaRPr lang="en-US" sz="1300" dirty="0"/>
          </a:p>
        </p:txBody>
      </p:sp>
      <p:sp>
        <p:nvSpPr>
          <p:cNvPr id="16" name="Shape 14"/>
          <p:cNvSpPr/>
          <p:nvPr/>
        </p:nvSpPr>
        <p:spPr>
          <a:xfrm>
            <a:off x="6217920" y="4242816"/>
            <a:ext cx="420624" cy="420624"/>
          </a:xfrm>
          <a:prstGeom prst="ellipse">
            <a:avLst/>
          </a:prstGeom>
          <a:solidFill>
            <a:srgbClr val="1A6068"/>
          </a:solidFill>
          <a:ln/>
        </p:spPr>
      </p:sp>
      <p:sp>
        <p:nvSpPr>
          <p:cNvPr id="17" name="Text 15"/>
          <p:cNvSpPr txBox="1"/>
          <p:nvPr/>
        </p:nvSpPr>
        <p:spPr>
          <a:xfrm>
            <a:off x="6217920" y="42428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39712" y="420624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rule</a:t>
            </a:r>
            <a:endParaRPr lang="en-US" sz="1500" dirty="0"/>
          </a:p>
        </p:txBody>
      </p:sp>
      <p:sp>
        <p:nvSpPr>
          <p:cNvPr id="19" name="Text 17"/>
          <p:cNvSpPr txBox="1"/>
          <p:nvPr/>
        </p:nvSpPr>
        <p:spPr>
          <a:xfrm>
            <a:off x="6839712" y="4535424"/>
            <a:ext cx="459028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A studio can pay us for volume. It can never pay us for position. That constraint is the product.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Where it actually is, today.</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Said plainly, because everyone in this room is going to find out anyway.</a:t>
            </a:r>
            <a:endParaRPr lang="en-US" sz="1700" dirty="0"/>
          </a:p>
        </p:txBody>
      </p:sp>
      <p:sp>
        <p:nvSpPr>
          <p:cNvPr id="4" name="Shape 2"/>
          <p:cNvSpPr/>
          <p:nvPr/>
        </p:nvSpPr>
        <p:spPr>
          <a:xfrm>
            <a:off x="640080" y="2606040"/>
            <a:ext cx="2615184" cy="2286000"/>
          </a:xfrm>
          <a:prstGeom prst="roundRect">
            <a:avLst>
              <a:gd name="adj" fmla="val 3200"/>
            </a:avLst>
          </a:prstGeom>
          <a:solidFill>
            <a:srgbClr val="FBF7F0"/>
          </a:solidFill>
          <a:ln w="12700">
            <a:solidFill>
              <a:srgbClr val="E3DCD2"/>
            </a:solidFill>
            <a:prstDash val="solid"/>
          </a:ln>
        </p:spPr>
      </p:sp>
      <p:sp>
        <p:nvSpPr>
          <p:cNvPr id="5" name="Text 3"/>
          <p:cNvSpPr txBox="1"/>
          <p:nvPr/>
        </p:nvSpPr>
        <p:spPr>
          <a:xfrm>
            <a:off x="859536"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Built</a:t>
            </a:r>
            <a:endParaRPr lang="en-US" sz="1700" dirty="0"/>
          </a:p>
        </p:txBody>
      </p:sp>
      <p:sp>
        <p:nvSpPr>
          <p:cNvPr id="6" name="Text 4"/>
          <p:cNvSpPr txBox="1"/>
          <p:nvPr/>
        </p:nvSpPr>
        <p:spPr>
          <a:xfrm>
            <a:off x="859536"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The whole funnel runs: brief, matching, quotes, comparison, expert call, prep pack. Plus the studio dashboard and the ops console.</a:t>
            </a:r>
            <a:endParaRPr lang="en-US" sz="1200" dirty="0"/>
          </a:p>
        </p:txBody>
      </p:sp>
      <p:sp>
        <p:nvSpPr>
          <p:cNvPr id="7" name="Shape 5"/>
          <p:cNvSpPr/>
          <p:nvPr/>
        </p:nvSpPr>
        <p:spPr>
          <a:xfrm>
            <a:off x="3401568" y="2606040"/>
            <a:ext cx="2615184" cy="2286000"/>
          </a:xfrm>
          <a:prstGeom prst="roundRect">
            <a:avLst>
              <a:gd name="adj" fmla="val 3200"/>
            </a:avLst>
          </a:prstGeom>
          <a:solidFill>
            <a:srgbClr val="FBF7F0"/>
          </a:solidFill>
          <a:ln w="12700">
            <a:solidFill>
              <a:srgbClr val="E3DCD2"/>
            </a:solidFill>
            <a:prstDash val="solid"/>
          </a:ln>
        </p:spPr>
      </p:sp>
      <p:sp>
        <p:nvSpPr>
          <p:cNvPr id="8" name="Text 6"/>
          <p:cNvSpPr txBox="1"/>
          <p:nvPr/>
        </p:nvSpPr>
        <p:spPr>
          <a:xfrm>
            <a:off x="3621024"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Not launched</a:t>
            </a:r>
            <a:endParaRPr lang="en-US" sz="1700" dirty="0"/>
          </a:p>
        </p:txBody>
      </p:sp>
      <p:sp>
        <p:nvSpPr>
          <p:cNvPr id="9" name="Text 7"/>
          <p:cNvSpPr txBox="1"/>
          <p:nvPr/>
        </p:nvSpPr>
        <p:spPr>
          <a:xfrm>
            <a:off x="3621024"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Zero customers. Zero revenue. Zero live studios. The waitlist opens 16 September.</a:t>
            </a:r>
            <a:endParaRPr lang="en-US" sz="1200" dirty="0"/>
          </a:p>
        </p:txBody>
      </p:sp>
      <p:sp>
        <p:nvSpPr>
          <p:cNvPr id="10" name="Shape 8"/>
          <p:cNvSpPr/>
          <p:nvPr/>
        </p:nvSpPr>
        <p:spPr>
          <a:xfrm>
            <a:off x="6163056" y="2606040"/>
            <a:ext cx="2615184" cy="2286000"/>
          </a:xfrm>
          <a:prstGeom prst="roundRect">
            <a:avLst>
              <a:gd name="adj" fmla="val 3200"/>
            </a:avLst>
          </a:prstGeom>
          <a:solidFill>
            <a:srgbClr val="FAEDE6"/>
          </a:solidFill>
          <a:ln w="12700">
            <a:solidFill>
              <a:srgbClr val="E8C9B8"/>
            </a:solidFill>
            <a:prstDash val="solid"/>
          </a:ln>
        </p:spPr>
      </p:sp>
      <p:sp>
        <p:nvSpPr>
          <p:cNvPr id="11" name="Text 9"/>
          <p:cNvSpPr txBox="1"/>
          <p:nvPr/>
        </p:nvSpPr>
        <p:spPr>
          <a:xfrm>
            <a:off x="6382512" y="2798064"/>
            <a:ext cx="2176272" cy="457200"/>
          </a:xfrm>
          <a:prstGeom prst="rect">
            <a:avLst/>
          </a:prstGeom>
          <a:noFill/>
          <a:ln/>
        </p:spPr>
        <p:txBody>
          <a:bodyPr wrap="square" lIns="0" tIns="0" rIns="0" bIns="0" rtlCol="0" anchor="t"/>
          <a:lstStyle/>
          <a:p>
            <a:pPr indent="0" marL="0">
              <a:buNone/>
            </a:pPr>
            <a:r>
              <a:rPr lang="en-US" sz="1700" b="1" dirty="0">
                <a:solidFill>
                  <a:srgbClr val="BC6440"/>
                </a:solidFill>
                <a:latin typeface="Cambria" pitchFamily="34" charset="0"/>
                <a:ea typeface="Cambria" pitchFamily="34" charset="-122"/>
                <a:cs typeface="Cambria" pitchFamily="34" charset="-120"/>
              </a:rPr>
              <a:t>One thing missing</a:t>
            </a:r>
            <a:endParaRPr lang="en-US" sz="1700" dirty="0"/>
          </a:p>
        </p:txBody>
      </p:sp>
      <p:sp>
        <p:nvSpPr>
          <p:cNvPr id="12" name="Text 10"/>
          <p:cNvSpPr txBox="1"/>
          <p:nvPr/>
        </p:nvSpPr>
        <p:spPr>
          <a:xfrm>
            <a:off x="6382512"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On day one the product cannot produce a quote — because no studio has entered a rate card, and the pricing code refuses to invent one.</a:t>
            </a:r>
            <a:endParaRPr lang="en-US" sz="1200" dirty="0"/>
          </a:p>
        </p:txBody>
      </p:sp>
      <p:sp>
        <p:nvSpPr>
          <p:cNvPr id="13" name="Shape 11"/>
          <p:cNvSpPr/>
          <p:nvPr/>
        </p:nvSpPr>
        <p:spPr>
          <a:xfrm>
            <a:off x="8924544" y="2606040"/>
            <a:ext cx="2615184" cy="2286000"/>
          </a:xfrm>
          <a:prstGeom prst="roundRect">
            <a:avLst>
              <a:gd name="adj" fmla="val 3200"/>
            </a:avLst>
          </a:prstGeom>
          <a:solidFill>
            <a:srgbClr val="FBF7F0"/>
          </a:solidFill>
          <a:ln w="12700">
            <a:solidFill>
              <a:srgbClr val="E3DCD2"/>
            </a:solidFill>
            <a:prstDash val="solid"/>
          </a:ln>
        </p:spPr>
      </p:sp>
      <p:sp>
        <p:nvSpPr>
          <p:cNvPr id="14" name="Text 12"/>
          <p:cNvSpPr txBox="1"/>
          <p:nvPr/>
        </p:nvSpPr>
        <p:spPr>
          <a:xfrm>
            <a:off x="9144000" y="2798064"/>
            <a:ext cx="2176272" cy="457200"/>
          </a:xfrm>
          <a:prstGeom prst="rect">
            <a:avLst/>
          </a:prstGeom>
          <a:noFill/>
          <a:ln/>
        </p:spPr>
        <p:txBody>
          <a:bodyPr wrap="square" lIns="0" tIns="0" rIns="0" bIns="0" rtlCol="0" anchor="t"/>
          <a:lstStyle/>
          <a:p>
            <a:pPr indent="0" marL="0">
              <a:buNone/>
            </a:pPr>
            <a:r>
              <a:rPr lang="en-US" sz="1700" b="1" dirty="0">
                <a:solidFill>
                  <a:srgbClr val="1A6068"/>
                </a:solidFill>
                <a:latin typeface="Cambria" pitchFamily="34" charset="0"/>
                <a:ea typeface="Cambria" pitchFamily="34" charset="-122"/>
                <a:cs typeface="Cambria" pitchFamily="34" charset="-120"/>
              </a:rPr>
              <a:t>Twenty minutes</a:t>
            </a:r>
            <a:endParaRPr lang="en-US" sz="1700" dirty="0"/>
          </a:p>
        </p:txBody>
      </p:sp>
      <p:sp>
        <p:nvSpPr>
          <p:cNvPr id="15" name="Text 13"/>
          <p:cNvSpPr txBox="1"/>
          <p:nvPr/>
        </p:nvSpPr>
        <p:spPr>
          <a:xfrm>
            <a:off x="9144000" y="3291840"/>
            <a:ext cx="2176272" cy="146304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That is what it takes to fix, once one studio sits down with us. It is the single highest-leverage action in the plan.</a:t>
            </a:r>
            <a:endParaRPr lang="en-US" sz="1200" dirty="0"/>
          </a:p>
        </p:txBody>
      </p:sp>
      <p:sp>
        <p:nvSpPr>
          <p:cNvPr id="16" name="Text 14"/>
          <p:cNvSpPr txBox="1"/>
          <p:nvPr/>
        </p:nvSpPr>
        <p:spPr>
          <a:xfrm>
            <a:off x="640080" y="5212080"/>
            <a:ext cx="10908792" cy="548640"/>
          </a:xfrm>
          <a:prstGeom prst="rect">
            <a:avLst/>
          </a:prstGeom>
          <a:noFill/>
          <a:ln/>
        </p:spPr>
        <p:txBody>
          <a:bodyPr wrap="square" lIns="0" tIns="0" rIns="0" bIns="0" rtlCol="0" anchor="t"/>
          <a:lstStyle/>
          <a:p>
            <a:pPr indent="0" marL="0">
              <a:buNone/>
            </a:pPr>
            <a:r>
              <a:rPr lang="en-US" sz="1350" i="1" dirty="0">
                <a:solidFill>
                  <a:srgbClr val="8B847C"/>
                </a:solidFill>
                <a:latin typeface="Calibri" pitchFamily="34" charset="0"/>
                <a:ea typeface="Calibri" pitchFamily="34" charset="-122"/>
                <a:cs typeface="Calibri" pitchFamily="34" charset="-120"/>
              </a:rPr>
              <a:t>Nothing on this slide is a surprise to anyone who has been close to it. It is here so nobody signs on a different picture than the one that exists.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How the money works.</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Three months of commission only, then a subscription that scales with project size.</a:t>
            </a:r>
            <a:endParaRPr lang="en-US" sz="1700" dirty="0"/>
          </a:p>
        </p:txBody>
      </p:sp>
      <p:sp>
        <p:nvSpPr>
          <p:cNvPr id="4" name="Shape 2"/>
          <p:cNvSpPr/>
          <p:nvPr/>
        </p:nvSpPr>
        <p:spPr>
          <a:xfrm>
            <a:off x="640080" y="2560320"/>
            <a:ext cx="10908792" cy="640080"/>
          </a:xfrm>
          <a:prstGeom prst="roundRect">
            <a:avLst>
              <a:gd name="adj" fmla="val 11429"/>
            </a:avLst>
          </a:prstGeom>
          <a:solidFill>
            <a:srgbClr val="FBF7F0"/>
          </a:solidFill>
          <a:ln w="12700">
            <a:solidFill>
              <a:srgbClr val="E3DCD2"/>
            </a:solidFill>
            <a:prstDash val="solid"/>
          </a:ln>
        </p:spPr>
      </p:sp>
      <p:sp>
        <p:nvSpPr>
          <p:cNvPr id="5" name="Text 3"/>
          <p:cNvSpPr txBox="1"/>
          <p:nvPr/>
        </p:nvSpPr>
        <p:spPr>
          <a:xfrm>
            <a:off x="914400" y="2560320"/>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Pilot · months 1–3</a:t>
            </a:r>
            <a:endParaRPr lang="en-US" sz="1400" dirty="0"/>
          </a:p>
        </p:txBody>
      </p:sp>
      <p:sp>
        <p:nvSpPr>
          <p:cNvPr id="6" name="Text 4"/>
          <p:cNvSpPr txBox="1"/>
          <p:nvPr/>
        </p:nvSpPr>
        <p:spPr>
          <a:xfrm>
            <a:off x="4023360" y="2560320"/>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 commission only</a:t>
            </a:r>
            <a:endParaRPr lang="en-US" sz="1400" dirty="0"/>
          </a:p>
        </p:txBody>
      </p:sp>
      <p:sp>
        <p:nvSpPr>
          <p:cNvPr id="7" name="Text 5"/>
          <p:cNvSpPr txBox="1"/>
          <p:nvPr/>
        </p:nvSpPr>
        <p:spPr>
          <a:xfrm>
            <a:off x="7132320" y="2560320"/>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Nothing at all unless a project closes</a:t>
            </a:r>
            <a:endParaRPr lang="en-US" sz="1250" dirty="0"/>
          </a:p>
        </p:txBody>
      </p:sp>
      <p:sp>
        <p:nvSpPr>
          <p:cNvPr id="8" name="Shape 6"/>
          <p:cNvSpPr/>
          <p:nvPr/>
        </p:nvSpPr>
        <p:spPr>
          <a:xfrm>
            <a:off x="640080" y="3273552"/>
            <a:ext cx="10908792" cy="640080"/>
          </a:xfrm>
          <a:prstGeom prst="roundRect">
            <a:avLst>
              <a:gd name="adj" fmla="val 11429"/>
            </a:avLst>
          </a:prstGeom>
          <a:solidFill>
            <a:srgbClr val="FFFFFF"/>
          </a:solidFill>
          <a:ln w="12700">
            <a:solidFill>
              <a:srgbClr val="E3DCD2"/>
            </a:solidFill>
            <a:prstDash val="solid"/>
          </a:ln>
        </p:spPr>
      </p:sp>
      <p:sp>
        <p:nvSpPr>
          <p:cNvPr id="9" name="Text 7"/>
          <p:cNvSpPr txBox="1"/>
          <p:nvPr/>
        </p:nvSpPr>
        <p:spPr>
          <a:xfrm>
            <a:off x="914400" y="3273552"/>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Essential</a:t>
            </a:r>
            <a:endParaRPr lang="en-US" sz="1400" dirty="0"/>
          </a:p>
        </p:txBody>
      </p:sp>
      <p:sp>
        <p:nvSpPr>
          <p:cNvPr id="10" name="Text 8"/>
          <p:cNvSpPr txBox="1"/>
          <p:nvPr/>
        </p:nvSpPr>
        <p:spPr>
          <a:xfrm>
            <a:off x="4023360" y="3273552"/>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₹25,000/mo + 5%</a:t>
            </a:r>
            <a:endParaRPr lang="en-US" sz="1400" dirty="0"/>
          </a:p>
        </p:txBody>
      </p:sp>
      <p:sp>
        <p:nvSpPr>
          <p:cNvPr id="11" name="Text 9"/>
          <p:cNvSpPr txBox="1"/>
          <p:nvPr/>
        </p:nvSpPr>
        <p:spPr>
          <a:xfrm>
            <a:off x="7132320" y="3273552"/>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₹7 lakh projects</a:t>
            </a:r>
            <a:endParaRPr lang="en-US" sz="1250" dirty="0"/>
          </a:p>
        </p:txBody>
      </p:sp>
      <p:sp>
        <p:nvSpPr>
          <p:cNvPr id="12" name="Shape 10"/>
          <p:cNvSpPr/>
          <p:nvPr/>
        </p:nvSpPr>
        <p:spPr>
          <a:xfrm>
            <a:off x="640080" y="3986784"/>
            <a:ext cx="10908792" cy="640080"/>
          </a:xfrm>
          <a:prstGeom prst="roundRect">
            <a:avLst>
              <a:gd name="adj" fmla="val 11429"/>
            </a:avLst>
          </a:prstGeom>
          <a:solidFill>
            <a:srgbClr val="FBF7F0"/>
          </a:solidFill>
          <a:ln w="12700">
            <a:solidFill>
              <a:srgbClr val="E3DCD2"/>
            </a:solidFill>
            <a:prstDash val="solid"/>
          </a:ln>
        </p:spPr>
      </p:sp>
      <p:sp>
        <p:nvSpPr>
          <p:cNvPr id="13" name="Text 11"/>
          <p:cNvSpPr txBox="1"/>
          <p:nvPr/>
        </p:nvSpPr>
        <p:spPr>
          <a:xfrm>
            <a:off x="914400" y="3986784"/>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Premium</a:t>
            </a:r>
            <a:endParaRPr lang="en-US" sz="1400" dirty="0"/>
          </a:p>
        </p:txBody>
      </p:sp>
      <p:sp>
        <p:nvSpPr>
          <p:cNvPr id="14" name="Text 12"/>
          <p:cNvSpPr txBox="1"/>
          <p:nvPr/>
        </p:nvSpPr>
        <p:spPr>
          <a:xfrm>
            <a:off x="4023360" y="3986784"/>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₹50,000/mo + 5%</a:t>
            </a:r>
            <a:endParaRPr lang="en-US" sz="1400" dirty="0"/>
          </a:p>
        </p:txBody>
      </p:sp>
      <p:sp>
        <p:nvSpPr>
          <p:cNvPr id="15" name="Text 13"/>
          <p:cNvSpPr txBox="1"/>
          <p:nvPr/>
        </p:nvSpPr>
        <p:spPr>
          <a:xfrm>
            <a:off x="7132320" y="3986784"/>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₹12 lakh projects</a:t>
            </a:r>
            <a:endParaRPr lang="en-US" sz="1250" dirty="0"/>
          </a:p>
        </p:txBody>
      </p:sp>
      <p:sp>
        <p:nvSpPr>
          <p:cNvPr id="16" name="Shape 14"/>
          <p:cNvSpPr/>
          <p:nvPr/>
        </p:nvSpPr>
        <p:spPr>
          <a:xfrm>
            <a:off x="640080" y="4700016"/>
            <a:ext cx="10908792" cy="640080"/>
          </a:xfrm>
          <a:prstGeom prst="roundRect">
            <a:avLst>
              <a:gd name="adj" fmla="val 11429"/>
            </a:avLst>
          </a:prstGeom>
          <a:solidFill>
            <a:srgbClr val="FFFFFF"/>
          </a:solidFill>
          <a:ln w="12700">
            <a:solidFill>
              <a:srgbClr val="E3DCD2"/>
            </a:solidFill>
            <a:prstDash val="solid"/>
          </a:ln>
        </p:spPr>
      </p:sp>
      <p:sp>
        <p:nvSpPr>
          <p:cNvPr id="17" name="Text 15"/>
          <p:cNvSpPr txBox="1"/>
          <p:nvPr/>
        </p:nvSpPr>
        <p:spPr>
          <a:xfrm>
            <a:off x="914400" y="4700016"/>
            <a:ext cx="3017520" cy="64008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Luxury</a:t>
            </a:r>
            <a:endParaRPr lang="en-US" sz="1400" dirty="0"/>
          </a:p>
        </p:txBody>
      </p:sp>
      <p:sp>
        <p:nvSpPr>
          <p:cNvPr id="18" name="Text 16"/>
          <p:cNvSpPr txBox="1"/>
          <p:nvPr/>
        </p:nvSpPr>
        <p:spPr>
          <a:xfrm>
            <a:off x="4023360" y="4700016"/>
            <a:ext cx="2926080" cy="640080"/>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₹1,00,000/mo + 5%</a:t>
            </a:r>
            <a:endParaRPr lang="en-US" sz="1400" dirty="0"/>
          </a:p>
        </p:txBody>
      </p:sp>
      <p:sp>
        <p:nvSpPr>
          <p:cNvPr id="19" name="Text 17"/>
          <p:cNvSpPr txBox="1"/>
          <p:nvPr/>
        </p:nvSpPr>
        <p:spPr>
          <a:xfrm>
            <a:off x="7132320" y="4700016"/>
            <a:ext cx="4297680" cy="640080"/>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₹20 lakh projects</a:t>
            </a:r>
            <a:endParaRPr lang="en-US" sz="1250" dirty="0"/>
          </a:p>
        </p:txBody>
      </p:sp>
      <p:sp>
        <p:nvSpPr>
          <p:cNvPr id="20" name="Text 18"/>
          <p:cNvSpPr txBox="1"/>
          <p:nvPr/>
        </p:nvSpPr>
        <p:spPr>
          <a:xfrm>
            <a:off x="640080" y="5486400"/>
            <a:ext cx="2743200" cy="685800"/>
          </a:xfrm>
          <a:prstGeom prst="rect">
            <a:avLst/>
          </a:prstGeom>
          <a:noFill/>
          <a:ln/>
        </p:spPr>
        <p:txBody>
          <a:bodyPr wrap="square" lIns="0" tIns="0" rIns="0" bIns="0" rtlCol="0" anchor="ctr"/>
          <a:lstStyle/>
          <a:p>
            <a:pPr indent="0" marL="0">
              <a:buNone/>
            </a:pPr>
            <a:r>
              <a:rPr lang="en-US" sz="3400" b="1" dirty="0">
                <a:solidFill>
                  <a:srgbClr val="1A6068"/>
                </a:solidFill>
                <a:latin typeface="Cambria" pitchFamily="34" charset="0"/>
                <a:ea typeface="Cambria" pitchFamily="34" charset="-122"/>
                <a:cs typeface="Cambria" pitchFamily="34" charset="-120"/>
              </a:rPr>
              <a:t>₹4.36 Cr</a:t>
            </a:r>
            <a:endParaRPr lang="en-US" sz="3400" dirty="0"/>
          </a:p>
        </p:txBody>
      </p:sp>
      <p:sp>
        <p:nvSpPr>
          <p:cNvPr id="21" name="Text 19"/>
          <p:cNvSpPr txBox="1"/>
          <p:nvPr/>
        </p:nvSpPr>
        <p:spPr>
          <a:xfrm>
            <a:off x="64008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year-one gross revenue, if the</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assumptions hold</a:t>
            </a:r>
            <a:endParaRPr lang="en-US" sz="1150" dirty="0"/>
          </a:p>
        </p:txBody>
      </p:sp>
      <p:sp>
        <p:nvSpPr>
          <p:cNvPr id="22" name="Text 20"/>
          <p:cNvSpPr txBox="1"/>
          <p:nvPr/>
        </p:nvSpPr>
        <p:spPr>
          <a:xfrm>
            <a:off x="3474720" y="5486400"/>
            <a:ext cx="2743200" cy="685800"/>
          </a:xfrm>
          <a:prstGeom prst="rect">
            <a:avLst/>
          </a:prstGeom>
          <a:noFill/>
          <a:ln/>
        </p:spPr>
        <p:txBody>
          <a:bodyPr wrap="square" lIns="0" tIns="0" rIns="0" bIns="0" rtlCol="0" anchor="ctr"/>
          <a:lstStyle/>
          <a:p>
            <a:pPr indent="0" marL="0">
              <a:buNone/>
            </a:pPr>
            <a:r>
              <a:rPr lang="en-US" sz="3400" b="1" dirty="0">
                <a:solidFill>
                  <a:srgbClr val="1A6068"/>
                </a:solidFill>
                <a:latin typeface="Cambria" pitchFamily="34" charset="0"/>
                <a:ea typeface="Cambria" pitchFamily="34" charset="-122"/>
                <a:cs typeface="Cambria" pitchFamily="34" charset="-120"/>
              </a:rPr>
              <a:t>553</a:t>
            </a:r>
            <a:endParaRPr lang="en-US" sz="3400" dirty="0"/>
          </a:p>
        </p:txBody>
      </p:sp>
      <p:sp>
        <p:nvSpPr>
          <p:cNvPr id="23" name="Text 21"/>
          <p:cNvSpPr txBox="1"/>
          <p:nvPr/>
        </p:nvSpPr>
        <p:spPr>
          <a:xfrm>
            <a:off x="347472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projects placed</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₹70.5 Cr of work</a:t>
            </a:r>
            <a:endParaRPr lang="en-US" sz="1150" dirty="0"/>
          </a:p>
        </p:txBody>
      </p:sp>
      <p:sp>
        <p:nvSpPr>
          <p:cNvPr id="24" name="Text 22"/>
          <p:cNvSpPr txBox="1"/>
          <p:nvPr/>
        </p:nvSpPr>
        <p:spPr>
          <a:xfrm>
            <a:off x="6309360" y="5486400"/>
            <a:ext cx="2743200" cy="685800"/>
          </a:xfrm>
          <a:prstGeom prst="rect">
            <a:avLst/>
          </a:prstGeom>
          <a:noFill/>
          <a:ln/>
        </p:spPr>
        <p:txBody>
          <a:bodyPr wrap="square" lIns="0" tIns="0" rIns="0" bIns="0" rtlCol="0" anchor="ctr"/>
          <a:lstStyle/>
          <a:p>
            <a:pPr indent="0" marL="0">
              <a:buNone/>
            </a:pPr>
            <a:r>
              <a:rPr lang="en-US" sz="3400" b="1" dirty="0">
                <a:solidFill>
                  <a:srgbClr val="BC6440"/>
                </a:solidFill>
                <a:latin typeface="Cambria" pitchFamily="34" charset="0"/>
                <a:ea typeface="Cambria" pitchFamily="34" charset="-122"/>
                <a:cs typeface="Cambria" pitchFamily="34" charset="-120"/>
              </a:rPr>
              <a:t>24</a:t>
            </a:r>
            <a:endParaRPr lang="en-US" sz="3400" dirty="0"/>
          </a:p>
        </p:txBody>
      </p:sp>
      <p:sp>
        <p:nvSpPr>
          <p:cNvPr id="25" name="Text 23"/>
          <p:cNvSpPr txBox="1"/>
          <p:nvPr/>
        </p:nvSpPr>
        <p:spPr>
          <a:xfrm>
            <a:off x="6309360" y="6163056"/>
            <a:ext cx="2743200" cy="603504"/>
          </a:xfrm>
          <a:prstGeom prst="rect">
            <a:avLst/>
          </a:prstGeom>
          <a:noFill/>
          <a:ln/>
        </p:spPr>
        <p:txBody>
          <a:bodyPr wrap="square" lIns="0" tIns="0" rIns="0" bIns="0" rtlCol="0" anchor="t"/>
          <a:lstStyle/>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studios at month twelve —</a:t>
            </a:r>
            <a:endParaRPr lang="en-US" sz="1150" dirty="0"/>
          </a:p>
          <a:p>
            <a:pPr indent="0" marL="0">
              <a:lnSpc>
                <a:spcPct val="115000"/>
              </a:lnSpc>
              <a:buNone/>
            </a:pPr>
            <a:r>
              <a:rPr lang="en-US" sz="1150" dirty="0">
                <a:solidFill>
                  <a:srgbClr val="8B847C"/>
                </a:solidFill>
                <a:latin typeface="Calibri" pitchFamily="34" charset="0"/>
                <a:ea typeface="Calibri" pitchFamily="34" charset="-122"/>
                <a:cs typeface="Calibri" pitchFamily="34" charset="-120"/>
              </a:rPr>
              <a:t>not the 50 the plan assumed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You decide.</a:t>
            </a:r>
            <a:endParaRPr lang="en-US" sz="3400" dirty="0"/>
          </a:p>
        </p:txBody>
      </p:sp>
      <p:sp>
        <p:nvSpPr>
          <p:cNvPr id="3" name="Text 1"/>
          <p:cNvSpPr txBox="1"/>
          <p:nvPr/>
        </p:nvSpPr>
        <p:spPr>
          <a:xfrm>
            <a:off x="640080" y="1463040"/>
            <a:ext cx="10424160" cy="91440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The idea, the direction, and — right now — the four open questions that nobody else can answer and that are holding up the launch.</a:t>
            </a:r>
            <a:endParaRPr lang="en-US" sz="1700" dirty="0"/>
          </a:p>
        </p:txBody>
      </p:sp>
      <p:sp>
        <p:nvSpPr>
          <p:cNvPr id="4" name="Shape 2"/>
          <p:cNvSpPr/>
          <p:nvPr/>
        </p:nvSpPr>
        <p:spPr>
          <a:xfrm>
            <a:off x="640080" y="2734056"/>
            <a:ext cx="420624" cy="420624"/>
          </a:xfrm>
          <a:prstGeom prst="ellipse">
            <a:avLst/>
          </a:prstGeom>
          <a:solidFill>
            <a:srgbClr val="1A6068"/>
          </a:solidFill>
          <a:ln/>
        </p:spPr>
      </p:sp>
      <p:sp>
        <p:nvSpPr>
          <p:cNvPr id="5" name="Text 3"/>
          <p:cNvSpPr txBox="1"/>
          <p:nvPr/>
        </p:nvSpPr>
        <p:spPr>
          <a:xfrm>
            <a:off x="64008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idea</a:t>
            </a:r>
            <a:endParaRPr lang="en-US" sz="1500" dirty="0"/>
          </a:p>
        </p:txBody>
      </p:sp>
      <p:sp>
        <p:nvSpPr>
          <p:cNvPr id="7" name="Text 5"/>
          <p:cNvSpPr txBox="1"/>
          <p:nvPr/>
        </p:nvSpPr>
        <p:spPr>
          <a:xfrm>
            <a:off x="1261872" y="302666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Certainty over taste. Volume never position. An expert call before any introduction. Those three sentences are the company, and they were yours.</a:t>
            </a:r>
            <a:endParaRPr lang="en-US" sz="1300" dirty="0"/>
          </a:p>
        </p:txBody>
      </p:sp>
      <p:sp>
        <p:nvSpPr>
          <p:cNvPr id="8" name="Shape 6"/>
          <p:cNvSpPr/>
          <p:nvPr/>
        </p:nvSpPr>
        <p:spPr>
          <a:xfrm>
            <a:off x="6217920" y="2734056"/>
            <a:ext cx="420624" cy="420624"/>
          </a:xfrm>
          <a:prstGeom prst="ellipse">
            <a:avLst/>
          </a:prstGeom>
          <a:solidFill>
            <a:srgbClr val="1A6068"/>
          </a:solidFill>
          <a:ln/>
        </p:spPr>
      </p:sp>
      <p:sp>
        <p:nvSpPr>
          <p:cNvPr id="9" name="Text 7"/>
          <p:cNvSpPr txBox="1"/>
          <p:nvPr/>
        </p:nvSpPr>
        <p:spPr>
          <a:xfrm>
            <a:off x="6217920" y="27340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6839712" y="269748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direction</a:t>
            </a:r>
            <a:endParaRPr lang="en-US" sz="1500" dirty="0"/>
          </a:p>
        </p:txBody>
      </p:sp>
      <p:sp>
        <p:nvSpPr>
          <p:cNvPr id="11" name="Text 9"/>
          <p:cNvSpPr txBox="1"/>
          <p:nvPr/>
        </p:nvSpPr>
        <p:spPr>
          <a:xfrm>
            <a:off x="6839712" y="302666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What gets built and what does not. The 3D planner was cut, escrow was deferred, pay-to-rank was refused. Those were the right calls.</a:t>
            </a:r>
            <a:endParaRPr lang="en-US" sz="1300" dirty="0"/>
          </a:p>
        </p:txBody>
      </p:sp>
      <p:sp>
        <p:nvSpPr>
          <p:cNvPr id="12" name="Shape 10"/>
          <p:cNvSpPr/>
          <p:nvPr/>
        </p:nvSpPr>
        <p:spPr>
          <a:xfrm>
            <a:off x="640080" y="4288536"/>
            <a:ext cx="420624" cy="420624"/>
          </a:xfrm>
          <a:prstGeom prst="ellipse">
            <a:avLst/>
          </a:prstGeom>
          <a:solidFill>
            <a:srgbClr val="1A6068"/>
          </a:solidFill>
          <a:ln/>
        </p:spPr>
      </p:sp>
      <p:sp>
        <p:nvSpPr>
          <p:cNvPr id="13" name="Text 11"/>
          <p:cNvSpPr txBox="1"/>
          <p:nvPr/>
        </p:nvSpPr>
        <p:spPr>
          <a:xfrm>
            <a:off x="640080" y="42885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61872" y="425196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planning</a:t>
            </a:r>
            <a:endParaRPr lang="en-US" sz="1500" dirty="0"/>
          </a:p>
        </p:txBody>
      </p:sp>
      <p:sp>
        <p:nvSpPr>
          <p:cNvPr id="15" name="Text 13"/>
          <p:cNvSpPr txBox="1"/>
          <p:nvPr/>
        </p:nvSpPr>
        <p:spPr>
          <a:xfrm>
            <a:off x="1261872" y="458114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The year-one and year-two models, the GTM plan, the tier structure. All of it exists and all of it is yours.</a:t>
            </a:r>
            <a:endParaRPr lang="en-US" sz="1300" dirty="0"/>
          </a:p>
        </p:txBody>
      </p:sp>
      <p:sp>
        <p:nvSpPr>
          <p:cNvPr id="16" name="Shape 14"/>
          <p:cNvSpPr/>
          <p:nvPr/>
        </p:nvSpPr>
        <p:spPr>
          <a:xfrm>
            <a:off x="6217920" y="4288536"/>
            <a:ext cx="420624" cy="420624"/>
          </a:xfrm>
          <a:prstGeom prst="ellipse">
            <a:avLst/>
          </a:prstGeom>
          <a:solidFill>
            <a:srgbClr val="1A6068"/>
          </a:solidFill>
          <a:ln/>
        </p:spPr>
      </p:sp>
      <p:sp>
        <p:nvSpPr>
          <p:cNvPr id="17" name="Text 15"/>
          <p:cNvSpPr txBox="1"/>
          <p:nvPr/>
        </p:nvSpPr>
        <p:spPr>
          <a:xfrm>
            <a:off x="6217920" y="42885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39712" y="4251960"/>
            <a:ext cx="459028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decisions</a:t>
            </a:r>
            <a:endParaRPr lang="en-US" sz="1500" dirty="0"/>
          </a:p>
        </p:txBody>
      </p:sp>
      <p:sp>
        <p:nvSpPr>
          <p:cNvPr id="19" name="Text 17"/>
          <p:cNvSpPr txBox="1"/>
          <p:nvPr/>
        </p:nvSpPr>
        <p:spPr>
          <a:xfrm>
            <a:off x="6839712" y="4581144"/>
            <a:ext cx="4590288" cy="96012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Four of them are open, all four are blocking, and none of them is engineering work. The next slide is that list.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685800"/>
            <a:ext cx="10908792"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you get.</a:t>
            </a:r>
            <a:endParaRPr lang="en-US" sz="3800" dirty="0"/>
          </a:p>
        </p:txBody>
      </p:sp>
      <p:sp>
        <p:nvSpPr>
          <p:cNvPr id="3" name="Text 1"/>
          <p:cNvSpPr txBox="1"/>
          <p:nvPr/>
        </p:nvSpPr>
        <p:spPr>
          <a:xfrm>
            <a:off x="640080" y="1508760"/>
            <a:ext cx="10332720" cy="640080"/>
          </a:xfrm>
          <a:prstGeom prst="rect">
            <a:avLst/>
          </a:prstGeom>
          <a:noFill/>
          <a:ln/>
        </p:spPr>
        <p:txBody>
          <a:bodyPr wrap="square" lIns="0" tIns="0" rIns="0" bIns="0" rtlCol="0" anchor="ctr"/>
          <a:lstStyle/>
          <a:p>
            <a:pPr indent="0" marL="0">
              <a:lnSpc>
                <a:spcPct val="125000"/>
              </a:lnSpc>
              <a:buNone/>
            </a:pPr>
            <a:r>
              <a:rPr lang="en-US" sz="1600" dirty="0">
                <a:solidFill>
                  <a:srgbClr val="CFE0E2"/>
                </a:solidFill>
                <a:latin typeface="Calibri" pitchFamily="34" charset="0"/>
                <a:ea typeface="Calibri" pitchFamily="34" charset="-122"/>
                <a:cs typeface="Calibri" pitchFamily="34" charset="-120"/>
              </a:rPr>
              <a:t>The largest stake in the company, and the direction of what it becomes.</a:t>
            </a:r>
            <a:endParaRPr lang="en-US" sz="1600" dirty="0"/>
          </a:p>
        </p:txBody>
      </p:sp>
      <p:sp>
        <p:nvSpPr>
          <p:cNvPr id="4" name="Shape 2"/>
          <p:cNvSpPr/>
          <p:nvPr/>
        </p:nvSpPr>
        <p:spPr>
          <a:xfrm>
            <a:off x="640080" y="2377440"/>
            <a:ext cx="3514344" cy="1691640"/>
          </a:xfrm>
          <a:prstGeom prst="roundRect">
            <a:avLst>
              <a:gd name="adj" fmla="val 4324"/>
            </a:avLst>
          </a:prstGeom>
          <a:solidFill>
            <a:srgbClr val="1A6068"/>
          </a:solidFill>
          <a:ln w="12700">
            <a:solidFill>
              <a:srgbClr val="2E7D85"/>
            </a:solidFill>
            <a:prstDash val="solid"/>
          </a:ln>
        </p:spPr>
      </p:sp>
      <p:sp>
        <p:nvSpPr>
          <p:cNvPr id="5" name="Text 3"/>
          <p:cNvSpPr txBox="1"/>
          <p:nvPr/>
        </p:nvSpPr>
        <p:spPr>
          <a:xfrm>
            <a:off x="877824" y="2560320"/>
            <a:ext cx="3038856"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40%</a:t>
            </a:r>
            <a:endParaRPr lang="en-US" sz="2400" dirty="0"/>
          </a:p>
        </p:txBody>
      </p:sp>
      <p:sp>
        <p:nvSpPr>
          <p:cNvPr id="6" name="Text 4"/>
          <p:cNvSpPr txBox="1"/>
          <p:nvPr/>
        </p:nvSpPr>
        <p:spPr>
          <a:xfrm>
            <a:off x="877824" y="3127248"/>
            <a:ext cx="3038856"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of the company — twice any other holder</a:t>
            </a:r>
            <a:endParaRPr lang="en-US" sz="1200" dirty="0"/>
          </a:p>
        </p:txBody>
      </p:sp>
      <p:sp>
        <p:nvSpPr>
          <p:cNvPr id="7" name="Shape 5"/>
          <p:cNvSpPr/>
          <p:nvPr/>
        </p:nvSpPr>
        <p:spPr>
          <a:xfrm>
            <a:off x="4337304" y="2377440"/>
            <a:ext cx="3514344" cy="1691640"/>
          </a:xfrm>
          <a:prstGeom prst="roundRect">
            <a:avLst>
              <a:gd name="adj" fmla="val 4324"/>
            </a:avLst>
          </a:prstGeom>
          <a:solidFill>
            <a:srgbClr val="1A6068"/>
          </a:solidFill>
          <a:ln w="12700">
            <a:solidFill>
              <a:srgbClr val="2E7D85"/>
            </a:solidFill>
            <a:prstDash val="solid"/>
          </a:ln>
        </p:spPr>
      </p:sp>
      <p:sp>
        <p:nvSpPr>
          <p:cNvPr id="8" name="Text 6"/>
          <p:cNvSpPr txBox="1"/>
          <p:nvPr/>
        </p:nvSpPr>
        <p:spPr>
          <a:xfrm>
            <a:off x="4575048" y="2560320"/>
            <a:ext cx="3038856"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Direction</a:t>
            </a:r>
            <a:endParaRPr lang="en-US" sz="2400" dirty="0"/>
          </a:p>
        </p:txBody>
      </p:sp>
      <p:sp>
        <p:nvSpPr>
          <p:cNvPr id="9" name="Text 7"/>
          <p:cNvSpPr txBox="1"/>
          <p:nvPr/>
        </p:nvSpPr>
        <p:spPr>
          <a:xfrm>
            <a:off x="4575048" y="3127248"/>
            <a:ext cx="3038856"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the founder’s stake, and the casting view on what gets built</a:t>
            </a:r>
            <a:endParaRPr lang="en-US" sz="1200" dirty="0"/>
          </a:p>
        </p:txBody>
      </p:sp>
      <p:sp>
        <p:nvSpPr>
          <p:cNvPr id="10" name="Shape 8"/>
          <p:cNvSpPr/>
          <p:nvPr/>
        </p:nvSpPr>
        <p:spPr>
          <a:xfrm>
            <a:off x="8034528" y="2377440"/>
            <a:ext cx="3514344" cy="1691640"/>
          </a:xfrm>
          <a:prstGeom prst="roundRect">
            <a:avLst>
              <a:gd name="adj" fmla="val 4324"/>
            </a:avLst>
          </a:prstGeom>
          <a:solidFill>
            <a:srgbClr val="1A6068"/>
          </a:solidFill>
          <a:ln w="12700">
            <a:solidFill>
              <a:srgbClr val="2E7D85"/>
            </a:solidFill>
            <a:prstDash val="solid"/>
          </a:ln>
        </p:spPr>
      </p:sp>
      <p:sp>
        <p:nvSpPr>
          <p:cNvPr id="11" name="Text 9"/>
          <p:cNvSpPr txBox="1"/>
          <p:nvPr/>
        </p:nvSpPr>
        <p:spPr>
          <a:xfrm>
            <a:off x="8272272" y="2560320"/>
            <a:ext cx="3038856" cy="54864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The asset</a:t>
            </a:r>
            <a:endParaRPr lang="en-US" sz="2400" dirty="0"/>
          </a:p>
        </p:txBody>
      </p:sp>
      <p:sp>
        <p:nvSpPr>
          <p:cNvPr id="12" name="Text 10"/>
          <p:cNvSpPr txBox="1"/>
          <p:nvPr/>
        </p:nvSpPr>
        <p:spPr>
          <a:xfrm>
            <a:off x="8272272" y="3127248"/>
            <a:ext cx="3038856" cy="822960"/>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delivery data nobody can buy or copy</a:t>
            </a:r>
            <a:endParaRPr lang="en-US" sz="1200" dirty="0"/>
          </a:p>
        </p:txBody>
      </p:sp>
      <p:sp>
        <p:nvSpPr>
          <p:cNvPr id="13" name="Text 11"/>
          <p:cNvSpPr txBox="1"/>
          <p:nvPr/>
        </p:nvSpPr>
        <p:spPr>
          <a:xfrm>
            <a:off x="640080" y="4343400"/>
            <a:ext cx="10908792" cy="457200"/>
          </a:xfrm>
          <a:prstGeom prst="rect">
            <a:avLst/>
          </a:prstGeom>
          <a:noFill/>
          <a:ln/>
        </p:spPr>
        <p:txBody>
          <a:bodyPr wrap="square" lIns="0" tIns="0" rIns="0" bIns="0" rtlCol="0" anchor="t"/>
          <a:lstStyle/>
          <a:p>
            <a:pPr indent="0" marL="0">
              <a:buNone/>
            </a:pPr>
            <a:r>
              <a:rPr lang="en-US" sz="2100" b="1" dirty="0">
                <a:solidFill>
                  <a:srgbClr val="C9922A"/>
                </a:solidFill>
                <a:latin typeface="Cambria" pitchFamily="34" charset="0"/>
                <a:ea typeface="Cambria" pitchFamily="34" charset="-122"/>
                <a:cs typeface="Cambria" pitchFamily="34" charset="-120"/>
              </a:rPr>
              <a:t>What the 40% is actually buying you</a:t>
            </a:r>
            <a:endParaRPr lang="en-US" sz="2100" dirty="0"/>
          </a:p>
        </p:txBody>
      </p:sp>
      <p:sp>
        <p:nvSpPr>
          <p:cNvPr id="14" name="Text 12"/>
          <p:cNvSpPr txBox="1"/>
          <p:nvPr/>
        </p:nvSpPr>
        <p:spPr>
          <a:xfrm>
            <a:off x="640080" y="4846320"/>
            <a:ext cx="10424160" cy="1371600"/>
          </a:xfrm>
          <a:prstGeom prst="rect">
            <a:avLst/>
          </a:prstGeom>
          <a:noFill/>
          <a:ln/>
        </p:spPr>
        <p:txBody>
          <a:bodyPr wrap="square" lIns="0" tIns="0" rIns="0" bIns="0" rtlCol="0" anchor="t"/>
          <a:lstStyle/>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By the end of year two the company holds delivery variance on 2,233 completed projects — who finished on time, who did not, and by how much. That cannot be bought from a KYC vendor or copied in a weekend. Everything else in this plan is replicable; that is not.</a:t>
            </a:r>
            <a:endParaRPr lang="en-US" sz="1400" dirty="0"/>
          </a:p>
          <a:p>
            <a:pPr indent="0" marL="0">
              <a:lnSpc>
                <a:spcPct val="130000"/>
              </a:lnSpc>
              <a:buNone/>
            </a:pPr>
            <a:endParaRPr lang="en-US" sz="1400" dirty="0"/>
          </a:p>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Two fifths of that is yours, and it compounds from the first completed project.</a:t>
            </a:r>
            <a:endParaRPr lang="en-US" sz="1400" dirty="0"/>
          </a:p>
          <a:p>
            <a:pPr indent="0" marL="0">
              <a:lnSpc>
                <a:spcPct val="130000"/>
              </a:lnSpc>
              <a:buNone/>
            </a:pPr>
            <a:endParaRPr lang="en-US" sz="1400" dirty="0"/>
          </a:p>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Worth being precise about one thing: 40% is the largest single holding and it is not a majority. You and Sanyam together are 60%. Nothing is decided over the founder’s objection, but nothing is decided by the founder alone either — and that is a structure worth agreeing out loud rather than discovering at the first disagreement.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is expected of you.</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Four decisions. None of them is engineering, all four are blocking, and they have been open since v0.3.</a:t>
            </a:r>
            <a:endParaRPr lang="en-US" sz="1700" dirty="0"/>
          </a:p>
        </p:txBody>
      </p:sp>
      <p:sp>
        <p:nvSpPr>
          <p:cNvPr id="4" name="Text 2"/>
          <p:cNvSpPr txBox="1"/>
          <p:nvPr/>
        </p:nvSpPr>
        <p:spPr>
          <a:xfrm>
            <a:off x="640080" y="2560320"/>
            <a:ext cx="10908792" cy="237744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The name. It blocks the launch date itself — the site stays unindexed until it exists, and every piece of outreach copy waits on it.</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DPDP on the 20,000 Hauspire records. A two-hour legal question that currently blocks the largest demand source we have.</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Escrow legality. A fortnight with a lawyer, and it decides 14% of year-two revenue.</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GST treatment — composite supply versus works contract. Needed before a single real quote goes out.</a:t>
            </a:r>
            <a:endParaRPr lang="en-US" sz="1500" dirty="0"/>
          </a:p>
          <a:p>
            <a:pPr marL="342900" indent="-342900">
              <a:lnSpc>
                <a:spcPct val="120000"/>
              </a:lnSpc>
              <a:spcAft>
                <a:spcPts val="1200"/>
              </a:spcAft>
              <a:buSzPct val="100000"/>
              <a:buChar char="•"/>
            </a:pPr>
            <a:r>
              <a:rPr lang="en-US" sz="1500" dirty="0">
                <a:solidFill>
                  <a:srgbClr val="5A544E"/>
                </a:solidFill>
                <a:latin typeface="Calibri" pitchFamily="34" charset="0"/>
                <a:ea typeface="Calibri" pitchFamily="34" charset="-122"/>
                <a:cs typeface="Calibri" pitchFamily="34" charset="-120"/>
              </a:rPr>
              <a:t>And the one that is free: ask Hauspire and Urbanline whether studios will accept milestone-gated payment. It is the load-bearing assumption of the whole model and the one most likely to be false.</a:t>
            </a:r>
            <a:endParaRPr lang="en-US" sz="1500" dirty="0"/>
          </a:p>
        </p:txBody>
      </p:sp>
      <p:sp>
        <p:nvSpPr>
          <p:cNvPr id="5" name="Shape 3"/>
          <p:cNvSpPr/>
          <p:nvPr/>
        </p:nvSpPr>
        <p:spPr>
          <a:xfrm>
            <a:off x="640080" y="5120640"/>
            <a:ext cx="10908792" cy="1188720"/>
          </a:xfrm>
          <a:prstGeom prst="roundRect">
            <a:avLst>
              <a:gd name="adj" fmla="val 6154"/>
            </a:avLst>
          </a:prstGeom>
          <a:solidFill>
            <a:srgbClr val="FAEDE6"/>
          </a:solidFill>
          <a:ln w="12700">
            <a:solidFill>
              <a:srgbClr val="E8C9B8"/>
            </a:solidFill>
            <a:prstDash val="solid"/>
          </a:ln>
        </p:spPr>
      </p:sp>
      <p:sp>
        <p:nvSpPr>
          <p:cNvPr id="6" name="Text 4"/>
          <p:cNvSpPr txBox="1"/>
          <p:nvPr/>
        </p:nvSpPr>
        <p:spPr>
          <a:xfrm>
            <a:off x="932688" y="5303520"/>
            <a:ext cx="10323576" cy="868680"/>
          </a:xfrm>
          <a:prstGeom prst="rect">
            <a:avLst/>
          </a:prstGeom>
          <a:noFill/>
          <a:ln/>
        </p:spPr>
        <p:txBody>
          <a:bodyPr wrap="square" lIns="0" tIns="0" rIns="0" bIns="0" rtlCol="0" anchor="t"/>
          <a:lstStyle/>
          <a:p>
            <a:pPr indent="0" marL="0">
              <a:lnSpc>
                <a:spcPct val="122000"/>
              </a:lnSpc>
              <a:buNone/>
            </a:pPr>
            <a:r>
              <a:rPr lang="en-US" sz="1350" dirty="0">
                <a:solidFill>
                  <a:srgbClr val="2A2622"/>
                </a:solidFill>
                <a:latin typeface="Calibri" pitchFamily="34" charset="0"/>
                <a:ea typeface="Calibri" pitchFamily="34" charset="-122"/>
                <a:cs typeface="Calibri" pitchFamily="34" charset="-120"/>
              </a:rPr>
              <a:t>These have been deferred for good reasons and have now become the thing standing between a finished product and a launch. The name alone has a compounding cost that is invisible because nothing looks broken: locality cost pages take months to rank, both Hauspire and Urbanline already run exactly those pages, and every week on noindex is a week not compounding.</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The cap table.</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₹30 lakh at ₹1 crore post-money. Everyone in one table, in every deck.</a:t>
            </a:r>
            <a:endParaRPr lang="en-US" sz="1700" dirty="0"/>
          </a:p>
        </p:txBody>
      </p:sp>
      <p:sp>
        <p:nvSpPr>
          <p:cNvPr id="4" name="Shape 2"/>
          <p:cNvSpPr/>
          <p:nvPr/>
        </p:nvSpPr>
        <p:spPr>
          <a:xfrm>
            <a:off x="640080" y="2331720"/>
            <a:ext cx="10908792" cy="731520"/>
          </a:xfrm>
          <a:prstGeom prst="roundRect">
            <a:avLst>
              <a:gd name="adj" fmla="val 10000"/>
            </a:avLst>
          </a:prstGeom>
          <a:solidFill>
            <a:srgbClr val="E8F0F0"/>
          </a:solidFill>
          <a:ln w="12700">
            <a:solidFill>
              <a:srgbClr val="1A6068"/>
            </a:solidFill>
            <a:prstDash val="solid"/>
          </a:ln>
        </p:spPr>
      </p:sp>
      <p:sp>
        <p:nvSpPr>
          <p:cNvPr id="5" name="Text 3"/>
          <p:cNvSpPr txBox="1"/>
          <p:nvPr/>
        </p:nvSpPr>
        <p:spPr>
          <a:xfrm>
            <a:off x="932688" y="2331720"/>
            <a:ext cx="2743200" cy="749808"/>
          </a:xfrm>
          <a:prstGeom prst="rect">
            <a:avLst/>
          </a:prstGeom>
          <a:noFill/>
          <a:ln/>
        </p:spPr>
        <p:txBody>
          <a:bodyPr wrap="square" lIns="0" tIns="0" rIns="0" bIns="0" rtlCol="0" anchor="ctr"/>
          <a:lstStyle/>
          <a:p>
            <a:pPr indent="0" marL="0">
              <a:buNone/>
            </a:pPr>
            <a:r>
              <a:rPr lang="en-US" sz="1500" b="1" dirty="0">
                <a:solidFill>
                  <a:srgbClr val="1A6068"/>
                </a:solidFill>
                <a:latin typeface="Calibri" pitchFamily="34" charset="0"/>
                <a:ea typeface="Calibri" pitchFamily="34" charset="-122"/>
                <a:cs typeface="Calibri" pitchFamily="34" charset="-120"/>
              </a:rPr>
              <a:t>Yogesh</a:t>
            </a:r>
            <a:endParaRPr lang="en-US" sz="1500" dirty="0"/>
          </a:p>
        </p:txBody>
      </p:sp>
      <p:sp>
        <p:nvSpPr>
          <p:cNvPr id="6" name="Text 4"/>
          <p:cNvSpPr txBox="1"/>
          <p:nvPr/>
        </p:nvSpPr>
        <p:spPr>
          <a:xfrm>
            <a:off x="3749040" y="2331720"/>
            <a:ext cx="1280160" cy="749808"/>
          </a:xfrm>
          <a:prstGeom prst="rect">
            <a:avLst/>
          </a:prstGeom>
          <a:noFill/>
          <a:ln/>
        </p:spPr>
        <p:txBody>
          <a:bodyPr wrap="square" lIns="0" tIns="0" rIns="0" bIns="0" rtlCol="0" anchor="ctr"/>
          <a:lstStyle/>
          <a:p>
            <a:pPr indent="0" marL="0">
              <a:buNone/>
            </a:pPr>
            <a:r>
              <a:rPr lang="en-US" sz="2000" b="1" dirty="0">
                <a:solidFill>
                  <a:srgbClr val="1A6068"/>
                </a:solidFill>
                <a:latin typeface="Cambria" pitchFamily="34" charset="0"/>
                <a:ea typeface="Cambria" pitchFamily="34" charset="-122"/>
                <a:cs typeface="Cambria" pitchFamily="34" charset="-120"/>
              </a:rPr>
              <a:t>40%</a:t>
            </a:r>
            <a:endParaRPr lang="en-US" sz="2000" dirty="0"/>
          </a:p>
        </p:txBody>
      </p:sp>
      <p:sp>
        <p:nvSpPr>
          <p:cNvPr id="7" name="Text 5"/>
          <p:cNvSpPr txBox="1"/>
          <p:nvPr/>
        </p:nvSpPr>
        <p:spPr>
          <a:xfrm>
            <a:off x="5212080" y="2331720"/>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Founder — the idea, the direction, the decisions</a:t>
            </a:r>
            <a:endParaRPr lang="en-US" sz="1300" dirty="0"/>
          </a:p>
        </p:txBody>
      </p:sp>
      <p:sp>
        <p:nvSpPr>
          <p:cNvPr id="8" name="Shape 6"/>
          <p:cNvSpPr/>
          <p:nvPr/>
        </p:nvSpPr>
        <p:spPr>
          <a:xfrm>
            <a:off x="640080" y="3136392"/>
            <a:ext cx="10908792" cy="731520"/>
          </a:xfrm>
          <a:prstGeom prst="roundRect">
            <a:avLst>
              <a:gd name="adj" fmla="val 10000"/>
            </a:avLst>
          </a:prstGeom>
          <a:solidFill>
            <a:srgbClr val="FBF7F0"/>
          </a:solidFill>
          <a:ln w="12700">
            <a:solidFill>
              <a:srgbClr val="E3DCD2"/>
            </a:solidFill>
            <a:prstDash val="solid"/>
          </a:ln>
        </p:spPr>
      </p:sp>
      <p:sp>
        <p:nvSpPr>
          <p:cNvPr id="9" name="Text 7"/>
          <p:cNvSpPr txBox="1"/>
          <p:nvPr/>
        </p:nvSpPr>
        <p:spPr>
          <a:xfrm>
            <a:off x="932688" y="3136392"/>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Sanyam</a:t>
            </a:r>
            <a:endParaRPr lang="en-US" sz="1500" dirty="0"/>
          </a:p>
        </p:txBody>
      </p:sp>
      <p:sp>
        <p:nvSpPr>
          <p:cNvPr id="10" name="Text 8"/>
          <p:cNvSpPr txBox="1"/>
          <p:nvPr/>
        </p:nvSpPr>
        <p:spPr>
          <a:xfrm>
            <a:off x="3749040" y="3136392"/>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20%</a:t>
            </a:r>
            <a:endParaRPr lang="en-US" sz="2000" dirty="0"/>
          </a:p>
        </p:txBody>
      </p:sp>
      <p:sp>
        <p:nvSpPr>
          <p:cNvPr id="11" name="Text 9"/>
          <p:cNvSpPr txBox="1"/>
          <p:nvPr/>
        </p:nvSpPr>
        <p:spPr>
          <a:xfrm>
            <a:off x="5212080" y="3136392"/>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Execution — product, studios, customers, operations</a:t>
            </a:r>
            <a:endParaRPr lang="en-US" sz="1300" dirty="0"/>
          </a:p>
        </p:txBody>
      </p:sp>
      <p:sp>
        <p:nvSpPr>
          <p:cNvPr id="12" name="Shape 10"/>
          <p:cNvSpPr/>
          <p:nvPr/>
        </p:nvSpPr>
        <p:spPr>
          <a:xfrm>
            <a:off x="640080" y="3941064"/>
            <a:ext cx="10908792" cy="731520"/>
          </a:xfrm>
          <a:prstGeom prst="roundRect">
            <a:avLst>
              <a:gd name="adj" fmla="val 10000"/>
            </a:avLst>
          </a:prstGeom>
          <a:solidFill>
            <a:srgbClr val="FBF7F0"/>
          </a:solidFill>
          <a:ln w="12700">
            <a:solidFill>
              <a:srgbClr val="E3DCD2"/>
            </a:solidFill>
            <a:prstDash val="solid"/>
          </a:ln>
        </p:spPr>
      </p:sp>
      <p:sp>
        <p:nvSpPr>
          <p:cNvPr id="13" name="Text 11"/>
          <p:cNvSpPr txBox="1"/>
          <p:nvPr/>
        </p:nvSpPr>
        <p:spPr>
          <a:xfrm>
            <a:off x="932688" y="3941064"/>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Hauspire</a:t>
            </a:r>
            <a:endParaRPr lang="en-US" sz="1500" dirty="0"/>
          </a:p>
        </p:txBody>
      </p:sp>
      <p:sp>
        <p:nvSpPr>
          <p:cNvPr id="14" name="Text 12"/>
          <p:cNvSpPr txBox="1"/>
          <p:nvPr/>
        </p:nvSpPr>
        <p:spPr>
          <a:xfrm>
            <a:off x="3749040" y="3941064"/>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20%</a:t>
            </a:r>
            <a:endParaRPr lang="en-US" sz="2000" dirty="0"/>
          </a:p>
        </p:txBody>
      </p:sp>
      <p:sp>
        <p:nvSpPr>
          <p:cNvPr id="15" name="Text 13"/>
          <p:cNvSpPr txBox="1"/>
          <p:nvPr/>
        </p:nvSpPr>
        <p:spPr>
          <a:xfrm>
            <a:off x="5212080" y="3941064"/>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Investor — ₹20 lakh, and the first pilot studio</a:t>
            </a:r>
            <a:endParaRPr lang="en-US" sz="1300" dirty="0"/>
          </a:p>
        </p:txBody>
      </p:sp>
      <p:sp>
        <p:nvSpPr>
          <p:cNvPr id="16" name="Shape 14"/>
          <p:cNvSpPr/>
          <p:nvPr/>
        </p:nvSpPr>
        <p:spPr>
          <a:xfrm>
            <a:off x="640080" y="4745736"/>
            <a:ext cx="10908792" cy="731520"/>
          </a:xfrm>
          <a:prstGeom prst="roundRect">
            <a:avLst>
              <a:gd name="adj" fmla="val 10000"/>
            </a:avLst>
          </a:prstGeom>
          <a:solidFill>
            <a:srgbClr val="FBF7F0"/>
          </a:solidFill>
          <a:ln w="12700">
            <a:solidFill>
              <a:srgbClr val="E3DCD2"/>
            </a:solidFill>
            <a:prstDash val="solid"/>
          </a:ln>
        </p:spPr>
      </p:sp>
      <p:sp>
        <p:nvSpPr>
          <p:cNvPr id="17" name="Text 15"/>
          <p:cNvSpPr txBox="1"/>
          <p:nvPr/>
        </p:nvSpPr>
        <p:spPr>
          <a:xfrm>
            <a:off x="932688" y="4745736"/>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Swarupa</a:t>
            </a:r>
            <a:endParaRPr lang="en-US" sz="1500" dirty="0"/>
          </a:p>
        </p:txBody>
      </p:sp>
      <p:sp>
        <p:nvSpPr>
          <p:cNvPr id="18" name="Text 16"/>
          <p:cNvSpPr txBox="1"/>
          <p:nvPr/>
        </p:nvSpPr>
        <p:spPr>
          <a:xfrm>
            <a:off x="3749040" y="4745736"/>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10%</a:t>
            </a:r>
            <a:endParaRPr lang="en-US" sz="2000" dirty="0"/>
          </a:p>
        </p:txBody>
      </p:sp>
      <p:sp>
        <p:nvSpPr>
          <p:cNvPr id="19" name="Text 17"/>
          <p:cNvSpPr txBox="1"/>
          <p:nvPr/>
        </p:nvSpPr>
        <p:spPr>
          <a:xfrm>
            <a:off x="5212080" y="4745736"/>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Investor — ₹10 lakh, and marketing</a:t>
            </a:r>
            <a:endParaRPr lang="en-US" sz="1300" dirty="0"/>
          </a:p>
        </p:txBody>
      </p:sp>
      <p:sp>
        <p:nvSpPr>
          <p:cNvPr id="20" name="Shape 18"/>
          <p:cNvSpPr/>
          <p:nvPr/>
        </p:nvSpPr>
        <p:spPr>
          <a:xfrm>
            <a:off x="640080" y="5550408"/>
            <a:ext cx="10908792" cy="731520"/>
          </a:xfrm>
          <a:prstGeom prst="roundRect">
            <a:avLst>
              <a:gd name="adj" fmla="val 10000"/>
            </a:avLst>
          </a:prstGeom>
          <a:solidFill>
            <a:srgbClr val="FBF7F0"/>
          </a:solidFill>
          <a:ln w="12700">
            <a:solidFill>
              <a:srgbClr val="E3DCD2"/>
            </a:solidFill>
            <a:prstDash val="solid"/>
          </a:ln>
        </p:spPr>
      </p:sp>
      <p:sp>
        <p:nvSpPr>
          <p:cNvPr id="21" name="Text 19"/>
          <p:cNvSpPr txBox="1"/>
          <p:nvPr/>
        </p:nvSpPr>
        <p:spPr>
          <a:xfrm>
            <a:off x="932688" y="5550408"/>
            <a:ext cx="2743200" cy="749808"/>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ESOP pool</a:t>
            </a:r>
            <a:endParaRPr lang="en-US" sz="1500" dirty="0"/>
          </a:p>
        </p:txBody>
      </p:sp>
      <p:sp>
        <p:nvSpPr>
          <p:cNvPr id="22" name="Text 20"/>
          <p:cNvSpPr txBox="1"/>
          <p:nvPr/>
        </p:nvSpPr>
        <p:spPr>
          <a:xfrm>
            <a:off x="3749040" y="5550408"/>
            <a:ext cx="1280160" cy="749808"/>
          </a:xfrm>
          <a:prstGeom prst="rect">
            <a:avLst/>
          </a:prstGeom>
          <a:noFill/>
          <a:ln/>
        </p:spPr>
        <p:txBody>
          <a:bodyPr wrap="square" lIns="0" tIns="0" rIns="0" bIns="0" rtlCol="0" anchor="ctr"/>
          <a:lstStyle/>
          <a:p>
            <a:pPr indent="0" marL="0">
              <a:buNone/>
            </a:pPr>
            <a:r>
              <a:rPr lang="en-US" sz="2000" b="1" dirty="0">
                <a:solidFill>
                  <a:srgbClr val="5A544E"/>
                </a:solidFill>
                <a:latin typeface="Cambria" pitchFamily="34" charset="0"/>
                <a:ea typeface="Cambria" pitchFamily="34" charset="-122"/>
                <a:cs typeface="Cambria" pitchFamily="34" charset="-120"/>
              </a:rPr>
              <a:t>10%</a:t>
            </a:r>
            <a:endParaRPr lang="en-US" sz="2000" dirty="0"/>
          </a:p>
        </p:txBody>
      </p:sp>
      <p:sp>
        <p:nvSpPr>
          <p:cNvPr id="23" name="Text 21"/>
          <p:cNvSpPr txBox="1"/>
          <p:nvPr/>
        </p:nvSpPr>
        <p:spPr>
          <a:xfrm>
            <a:off x="5212080" y="5550408"/>
            <a:ext cx="6217920" cy="749808"/>
          </a:xfrm>
          <a:prstGeom prst="rect">
            <a:avLst/>
          </a:prstGeom>
          <a:noFill/>
          <a:ln/>
        </p:spPr>
        <p:txBody>
          <a:bodyPr wrap="square" lIns="0" tIns="0" rIns="0" bIns="0" rtlCol="0" anchor="ctr"/>
          <a:lstStyle/>
          <a:p>
            <a:pPr indent="0" marL="0">
              <a:buNone/>
            </a:pPr>
            <a:r>
              <a:rPr lang="en-US" sz="1300" dirty="0">
                <a:solidFill>
                  <a:srgbClr val="5A544E"/>
                </a:solidFill>
                <a:latin typeface="Calibri" pitchFamily="34" charset="0"/>
                <a:ea typeface="Calibri" pitchFamily="34" charset="-122"/>
                <a:cs typeface="Calibri" pitchFamily="34" charset="-120"/>
              </a:rPr>
              <a:t>Reserved for hires the plan already needs</a:t>
            </a:r>
            <a:endParaRPr lang="en-US" sz="1300" dirty="0"/>
          </a:p>
        </p:txBody>
      </p:sp>
      <p:sp>
        <p:nvSpPr>
          <p:cNvPr id="24" name="Text 22"/>
          <p:cNvSpPr txBox="1"/>
          <p:nvPr/>
        </p:nvSpPr>
        <p:spPr>
          <a:xfrm>
            <a:off x="640080" y="6035040"/>
            <a:ext cx="10908792" cy="640080"/>
          </a:xfrm>
          <a:prstGeom prst="rect">
            <a:avLst/>
          </a:prstGeom>
          <a:noFill/>
          <a:ln/>
        </p:spPr>
        <p:txBody>
          <a:bodyPr wrap="square" lIns="0" tIns="0" rIns="0" bIns="0" rtlCol="0" anchor="t"/>
          <a:lstStyle/>
          <a:p>
            <a:pPr indent="0" marL="0">
              <a:lnSpc>
                <a:spcPct val="120000"/>
              </a:lnSpc>
              <a:buNone/>
            </a:pPr>
            <a:r>
              <a:rPr lang="en-US" sz="1300" dirty="0">
                <a:solidFill>
                  <a:srgbClr val="8B847C"/>
                </a:solidFill>
                <a:latin typeface="Calibri" pitchFamily="34" charset="0"/>
                <a:ea typeface="Calibri" pitchFamily="34" charset="-122"/>
                <a:cs typeface="Calibri" pitchFamily="34" charset="-120"/>
              </a:rPr>
              <a:t>The 10% pool is reserved, not held by anyone. The plan needs an expert, an ops person per city and engineers — reserving now is far cheaper than diluting everybody later. ₹30 lakh in, 30% sold, ₹70 lakh pre-money.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indent="0" marL="0">
              <a:buNone/>
            </a:pPr>
            <a:r>
              <a:rPr lang="en-US" sz="3400" b="1" dirty="0">
                <a:solidFill>
                  <a:srgbClr val="2A2622"/>
                </a:solidFill>
                <a:latin typeface="Cambria" pitchFamily="34" charset="0"/>
                <a:ea typeface="Cambria" pitchFamily="34" charset="-122"/>
                <a:cs typeface="Cambria" pitchFamily="34" charset="-120"/>
              </a:rPr>
              <a:t>What would make this fail — for you.</a:t>
            </a:r>
            <a:endParaRPr lang="en-US" sz="3400" dirty="0"/>
          </a:p>
        </p:txBody>
      </p:sp>
      <p:sp>
        <p:nvSpPr>
          <p:cNvPr id="3" name="Text 1"/>
          <p:cNvSpPr txBox="1"/>
          <p:nvPr/>
        </p:nvSpPr>
        <p:spPr>
          <a:xfrm>
            <a:off x="640080" y="1463040"/>
            <a:ext cx="10424160" cy="82296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Every one of these is measurable inside ninety days.</a:t>
            </a:r>
            <a:endParaRPr lang="en-US" sz="1700" dirty="0"/>
          </a:p>
        </p:txBody>
      </p:sp>
      <p:sp>
        <p:nvSpPr>
          <p:cNvPr id="4" name="Shape 2"/>
          <p:cNvSpPr/>
          <p:nvPr/>
        </p:nvSpPr>
        <p:spPr>
          <a:xfrm>
            <a:off x="640080" y="2560320"/>
            <a:ext cx="10908792" cy="1024128"/>
          </a:xfrm>
          <a:prstGeom prst="roundRect">
            <a:avLst>
              <a:gd name="adj" fmla="val 7143"/>
            </a:avLst>
          </a:prstGeom>
          <a:solidFill>
            <a:srgbClr val="FFFFFF"/>
          </a:solidFill>
          <a:ln w="12700">
            <a:solidFill>
              <a:srgbClr val="E3DCD2"/>
            </a:solidFill>
            <a:prstDash val="solid"/>
          </a:ln>
        </p:spPr>
      </p:sp>
      <p:sp>
        <p:nvSpPr>
          <p:cNvPr id="5" name="Text 3"/>
          <p:cNvSpPr txBox="1"/>
          <p:nvPr/>
        </p:nvSpPr>
        <p:spPr>
          <a:xfrm>
            <a:off x="914400" y="261518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The decisions keep slipping</a:t>
            </a:r>
            <a:endParaRPr lang="en-US" sz="1400" dirty="0"/>
          </a:p>
        </p:txBody>
      </p:sp>
      <p:sp>
        <p:nvSpPr>
          <p:cNvPr id="6" name="Text 4"/>
          <p:cNvSpPr txBox="1"/>
          <p:nvPr/>
        </p:nvSpPr>
        <p:spPr>
          <a:xfrm>
            <a:off x="5212080" y="261518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Four questions, none of them engineering, all four blocking. Every week they stay open is a week the built product earns nothing.</a:t>
            </a:r>
            <a:endParaRPr lang="en-US" sz="1250" dirty="0"/>
          </a:p>
        </p:txBody>
      </p:sp>
      <p:sp>
        <p:nvSpPr>
          <p:cNvPr id="7" name="Shape 5"/>
          <p:cNvSpPr/>
          <p:nvPr/>
        </p:nvSpPr>
        <p:spPr>
          <a:xfrm>
            <a:off x="640080" y="3657600"/>
            <a:ext cx="10908792" cy="1024128"/>
          </a:xfrm>
          <a:prstGeom prst="roundRect">
            <a:avLst>
              <a:gd name="adj" fmla="val 7143"/>
            </a:avLst>
          </a:prstGeom>
          <a:solidFill>
            <a:srgbClr val="FFFFFF"/>
          </a:solidFill>
          <a:ln w="12700">
            <a:solidFill>
              <a:srgbClr val="E3DCD2"/>
            </a:solidFill>
            <a:prstDash val="solid"/>
          </a:ln>
        </p:spPr>
      </p:sp>
      <p:sp>
        <p:nvSpPr>
          <p:cNvPr id="8" name="Text 6"/>
          <p:cNvSpPr txBox="1"/>
          <p:nvPr/>
        </p:nvSpPr>
        <p:spPr>
          <a:xfrm>
            <a:off x="914400" y="371246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Escrow turns out to be illegal for us</a:t>
            </a:r>
            <a:endParaRPr lang="en-US" sz="1400" dirty="0"/>
          </a:p>
        </p:txBody>
      </p:sp>
      <p:sp>
        <p:nvSpPr>
          <p:cNvPr id="9" name="Text 7"/>
          <p:cNvSpPr txBox="1"/>
          <p:nvPr/>
        </p:nvSpPr>
        <p:spPr>
          <a:xfrm>
            <a:off x="5212080" y="371246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Removes 14% of year-two revenue and the repositioning that goes with it. Year one is unaffected — plan against the version without it until a lawyer says otherwise.</a:t>
            </a:r>
            <a:endParaRPr lang="en-US" sz="1250" dirty="0"/>
          </a:p>
        </p:txBody>
      </p:sp>
      <p:sp>
        <p:nvSpPr>
          <p:cNvPr id="10" name="Shape 8"/>
          <p:cNvSpPr/>
          <p:nvPr/>
        </p:nvSpPr>
        <p:spPr>
          <a:xfrm>
            <a:off x="640080" y="4754880"/>
            <a:ext cx="10908792" cy="1024128"/>
          </a:xfrm>
          <a:prstGeom prst="roundRect">
            <a:avLst>
              <a:gd name="adj" fmla="val 7143"/>
            </a:avLst>
          </a:prstGeom>
          <a:solidFill>
            <a:srgbClr val="FFFFFF"/>
          </a:solidFill>
          <a:ln w="12700">
            <a:solidFill>
              <a:srgbClr val="E3DCD2"/>
            </a:solidFill>
            <a:prstDash val="solid"/>
          </a:ln>
        </p:spPr>
      </p:sp>
      <p:sp>
        <p:nvSpPr>
          <p:cNvPr id="11" name="Text 9"/>
          <p:cNvSpPr txBox="1"/>
          <p:nvPr/>
        </p:nvSpPr>
        <p:spPr>
          <a:xfrm>
            <a:off x="914400" y="480974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DPDP blocks the 20,000 records</a:t>
            </a:r>
            <a:endParaRPr lang="en-US" sz="1400" dirty="0"/>
          </a:p>
        </p:txBody>
      </p:sp>
      <p:sp>
        <p:nvSpPr>
          <p:cNvPr id="12" name="Text 10"/>
          <p:cNvSpPr txBox="1"/>
          <p:nvPr/>
        </p:nvSpPr>
        <p:spPr>
          <a:xfrm>
            <a:off x="5212080" y="480974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The largest demand source becomes unusable, the acquisition timeline moves out by a quarter, and the budget changes shape.</a:t>
            </a:r>
            <a:endParaRPr lang="en-US" sz="1250" dirty="0"/>
          </a:p>
        </p:txBody>
      </p:sp>
      <p:sp>
        <p:nvSpPr>
          <p:cNvPr id="13" name="Shape 11"/>
          <p:cNvSpPr/>
          <p:nvPr/>
        </p:nvSpPr>
        <p:spPr>
          <a:xfrm>
            <a:off x="640080" y="5852160"/>
            <a:ext cx="10908792" cy="1024128"/>
          </a:xfrm>
          <a:prstGeom prst="roundRect">
            <a:avLst>
              <a:gd name="adj" fmla="val 7143"/>
            </a:avLst>
          </a:prstGeom>
          <a:solidFill>
            <a:srgbClr val="FFFFFF"/>
          </a:solidFill>
          <a:ln w="12700">
            <a:solidFill>
              <a:srgbClr val="E3DCD2"/>
            </a:solidFill>
            <a:prstDash val="solid"/>
          </a:ln>
        </p:spPr>
      </p:sp>
      <p:sp>
        <p:nvSpPr>
          <p:cNvPr id="14" name="Text 12"/>
          <p:cNvSpPr txBox="1"/>
          <p:nvPr/>
        </p:nvSpPr>
        <p:spPr>
          <a:xfrm>
            <a:off x="914400" y="5907024"/>
            <a:ext cx="4023360" cy="914400"/>
          </a:xfrm>
          <a:prstGeom prst="rect">
            <a:avLst/>
          </a:prstGeom>
          <a:noFill/>
          <a:ln/>
        </p:spPr>
        <p:txBody>
          <a:bodyPr wrap="square" lIns="0" tIns="0" rIns="0" bIns="0" rtlCol="0" anchor="ctr"/>
          <a:lstStyle/>
          <a:p>
            <a:pPr indent="0" marL="0">
              <a:lnSpc>
                <a:spcPct val="110000"/>
              </a:lnSpc>
              <a:buNone/>
            </a:pPr>
            <a:r>
              <a:rPr lang="en-US" sz="1400" b="1" dirty="0">
                <a:solidFill>
                  <a:srgbClr val="2A2622"/>
                </a:solidFill>
                <a:latin typeface="Calibri" pitchFamily="34" charset="0"/>
                <a:ea typeface="Calibri" pitchFamily="34" charset="-122"/>
                <a:cs typeface="Calibri" pitchFamily="34" charset="-120"/>
              </a:rPr>
              <a:t>Churn stays at 10% a month</a:t>
            </a:r>
            <a:endParaRPr lang="en-US" sz="1400" dirty="0"/>
          </a:p>
        </p:txBody>
      </p:sp>
      <p:sp>
        <p:nvSpPr>
          <p:cNvPr id="15" name="Text 13"/>
          <p:cNvSpPr txBox="1"/>
          <p:nvPr/>
        </p:nvSpPr>
        <p:spPr>
          <a:xfrm>
            <a:off x="5212080" y="5907024"/>
            <a:ext cx="6126480" cy="914400"/>
          </a:xfrm>
          <a:prstGeom prst="rect">
            <a:avLst/>
          </a:prstGeom>
          <a:noFill/>
          <a:ln/>
        </p:spPr>
        <p:txBody>
          <a:bodyPr wrap="square" lIns="0" tIns="0" rIns="0" bIns="0" rtlCol="0" anchor="ctr"/>
          <a:lstStyle/>
          <a:p>
            <a:pPr indent="0" marL="0">
              <a:lnSpc>
                <a:spcPct val="118000"/>
              </a:lnSpc>
              <a:buNone/>
            </a:pPr>
            <a:r>
              <a:rPr lang="en-US" sz="1250" dirty="0">
                <a:solidFill>
                  <a:srgbClr val="5A544E"/>
                </a:solidFill>
                <a:latin typeface="Calibri" pitchFamily="34" charset="0"/>
                <a:ea typeface="Calibri" pitchFamily="34" charset="-122"/>
                <a:cs typeface="Calibri" pitchFamily="34" charset="-120"/>
              </a:rPr>
              <a:t>The roster never passes 24 studios. The likely cause is pricing the fee flat across the ramp, and the fix costs little — waive it until a studio is closing four a month.</a:t>
            </a:r>
            <a:endParaRPr lang="en-US" sz="1250" dirty="0"/>
          </a:p>
        </p:txBody>
      </p:sp>
      <p:sp>
        <p:nvSpPr>
          <p:cNvPr id="16" name="Text 14"/>
          <p:cNvSpPr txBox="1"/>
          <p:nvPr/>
        </p:nvSpPr>
        <p:spPr>
          <a:xfrm>
            <a:off x="640080" y="7178040"/>
            <a:ext cx="10908792" cy="548640"/>
          </a:xfrm>
          <a:prstGeom prst="rect">
            <a:avLst/>
          </a:prstGeom>
          <a:noFill/>
          <a:ln/>
        </p:spPr>
        <p:txBody>
          <a:bodyPr wrap="square" lIns="0" tIns="0" rIns="0" bIns="0" rtlCol="0" anchor="t"/>
          <a:lstStyle/>
          <a:p>
            <a:pPr indent="0" marL="0">
              <a:buNone/>
            </a:pPr>
            <a:r>
              <a:rPr lang="en-US" sz="1600" b="1" dirty="0">
                <a:solidFill>
                  <a:srgbClr val="1A6068"/>
                </a:solidFill>
                <a:latin typeface="Cambria" pitchFamily="34" charset="0"/>
                <a:ea typeface="Cambria" pitchFamily="34" charset="-122"/>
                <a:cs typeface="Cambria" pitchFamily="34" charset="-120"/>
              </a:rPr>
              <a:t>The first one is entirely within your control, and it is the one that matters most.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920240"/>
            <a:ext cx="10515600" cy="1463040"/>
          </a:xfrm>
          <a:prstGeom prst="rect">
            <a:avLst/>
          </a:prstGeom>
          <a:noFill/>
          <a:ln/>
        </p:spPr>
        <p:txBody>
          <a:bodyPr wrap="square" lIns="0" tIns="0" rIns="0" bIns="0" rtlCol="0" anchor="ctr"/>
          <a:lstStyle/>
          <a:p>
            <a:pPr indent="0" marL="0">
              <a:lnSpc>
                <a:spcPct val="112000"/>
              </a:lnSpc>
              <a:buNone/>
            </a:pPr>
            <a:r>
              <a:rPr lang="en-US" sz="3800" b="1" dirty="0">
                <a:solidFill>
                  <a:srgbClr val="FFFFFF"/>
                </a:solidFill>
                <a:latin typeface="Cambria" pitchFamily="34" charset="0"/>
                <a:ea typeface="Cambria" pitchFamily="34" charset="-122"/>
                <a:cs typeface="Cambria" pitchFamily="34" charset="-120"/>
              </a:rPr>
              <a:t>The idea is built.</a:t>
            </a:r>
            <a:endParaRPr lang="en-US" sz="3800" dirty="0"/>
          </a:p>
          <a:p>
            <a:pPr indent="0" marL="0">
              <a:lnSpc>
                <a:spcPct val="112000"/>
              </a:lnSpc>
              <a:buNone/>
            </a:pPr>
            <a:r>
              <a:rPr lang="en-US" sz="3800" b="1" dirty="0">
                <a:solidFill>
                  <a:srgbClr val="FFFFFF"/>
                </a:solidFill>
                <a:latin typeface="Cambria" pitchFamily="34" charset="0"/>
                <a:ea typeface="Cambria" pitchFamily="34" charset="-122"/>
                <a:cs typeface="Cambria" pitchFamily="34" charset="-120"/>
              </a:rPr>
              <a:t>What it needs now is four answers.</a:t>
            </a:r>
            <a:endParaRPr lang="en-US" sz="3800" dirty="0"/>
          </a:p>
        </p:txBody>
      </p:sp>
      <p:sp>
        <p:nvSpPr>
          <p:cNvPr id="3" name="Text 1"/>
          <p:cNvSpPr txBox="1"/>
          <p:nvPr/>
        </p:nvSpPr>
        <p:spPr>
          <a:xfrm>
            <a:off x="640080" y="3566160"/>
            <a:ext cx="9692640" cy="1645920"/>
          </a:xfrm>
          <a:prstGeom prst="rect">
            <a:avLst/>
          </a:prstGeom>
          <a:noFill/>
          <a:ln/>
        </p:spPr>
        <p:txBody>
          <a:bodyPr wrap="square" lIns="0" tIns="0" rIns="0" bIns="0" rtlCol="0" anchor="ctr"/>
          <a:lstStyle/>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Everything described in this deck exists — the funnel, the matching engine, the ops console, the studio dashboard. It runs, it is tested, and it is deployed.</a:t>
            </a:r>
            <a:endParaRPr lang="en-US" sz="1600" dirty="0"/>
          </a:p>
          <a:p>
            <a:pPr indent="0" marL="0">
              <a:lnSpc>
                <a:spcPct val="130000"/>
              </a:lnSpc>
              <a:buNone/>
            </a:pPr>
            <a:endParaRPr lang="en-US" sz="1600" dirty="0"/>
          </a:p>
          <a:p>
            <a:pPr indent="0" marL="0">
              <a:lnSpc>
                <a:spcPct val="130000"/>
              </a:lnSpc>
              <a:buNone/>
            </a:pPr>
            <a:r>
              <a:rPr lang="en-US" sz="1600" dirty="0">
                <a:solidFill>
                  <a:srgbClr val="CFE0E2"/>
                </a:solidFill>
                <a:latin typeface="Calibri" pitchFamily="34" charset="0"/>
                <a:ea typeface="Calibri" pitchFamily="34" charset="-122"/>
                <a:cs typeface="Calibri" pitchFamily="34" charset="-120"/>
              </a:rPr>
              <a:t>What it cannot do is name itself, clear its own legal questions, or decide its own GST treatment. That is the founder’s half of the work, and it is the half that is outstanding.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Interiors — Yogesh</dc:title>
  <dc:subject>PptxGenJS Presentation</dc:subject>
  <dc:creator>One Interiors</dc:creator>
  <cp:lastModifiedBy>One Interiors</cp:lastModifiedBy>
  <cp:revision>1</cp:revision>
  <dcterms:created xsi:type="dcterms:W3CDTF">2026-09-13T14:57:20Z</dcterms:created>
  <dcterms:modified xsi:type="dcterms:W3CDTF">2026-09-13T14:57:20Z</dcterms:modified>
</cp:coreProperties>
</file>